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24"/>
  </p:notesMasterIdLst>
  <p:handoutMasterIdLst>
    <p:handoutMasterId r:id="rId2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30"/>
    <p:sldId id="278" r:id="rId31"/>
    <p:sldId id="279" r:id="rId32"/>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DEA9C28-950D-418C-AAFC-CE048E2CC088}">
          <p14:sldIdLst>
            <p14:sldId id="256"/>
            <p14:sldId id="257"/>
            <p14:sldId id="259"/>
            <p14:sldId id="275"/>
            <p14:sldId id="286"/>
            <p14:sldId id="284"/>
            <p14:sldId id="285"/>
            <p14:sldId id="294"/>
            <p14:sldId id="280"/>
            <p14:sldId id="299"/>
            <p14:sldId id="298"/>
            <p14:sldId id="287"/>
            <p14:sldId id="281"/>
            <p14:sldId id="296"/>
            <p14:sldId id="297"/>
            <p14:sldId id="283"/>
            <p14:sldId id="295"/>
            <p14:sldId id="300"/>
            <p14:sldId id="277"/>
            <p14:sldId id="28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D7A1"/>
    <a:srgbClr val="FEDAF4"/>
    <a:srgbClr val="D7A9FD"/>
    <a:srgbClr val="CC99FF"/>
    <a:srgbClr val="49C9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518" autoAdjust="0"/>
  </p:normalViewPr>
  <p:slideViewPr>
    <p:cSldViewPr snapToGrid="0">
      <p:cViewPr varScale="1">
        <p:scale>
          <a:sx n="74" d="100"/>
          <a:sy n="74" d="100"/>
        </p:scale>
        <p:origin x="96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handoutMaster" Target="handoutMasters/handout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a:defRPr sz="1200"/>
            </a:lvl1pPr>
          </a:lstStyle>
          <a:p>
            <a:fld id="{8B04EC5B-30AD-43DF-BC73-61C15425684C}" type="datetimeFigureOut">
              <a:rPr lang="en-IN" smtClean="0"/>
              <a:t>25-08-2026</a:t>
            </a:fld>
            <a:endParaRPr lang="en-IN"/>
          </a:p>
        </p:txBody>
      </p:sp>
      <p:sp>
        <p:nvSpPr>
          <p:cNvPr id="4" name="Footer Placeholder 3"/>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4402138" y="9553575"/>
            <a:ext cx="3368675" cy="504825"/>
          </a:xfrm>
          <a:prstGeom prst="rect">
            <a:avLst/>
          </a:prstGeom>
        </p:spPr>
        <p:txBody>
          <a:bodyPr vert="horz" lIns="91440" tIns="45720" rIns="91440" bIns="45720" rtlCol="0" anchor="b"/>
          <a:lstStyle>
            <a:lvl1pPr algn="r">
              <a:defRPr sz="1200"/>
            </a:lvl1pPr>
          </a:lstStyle>
          <a:p>
            <a:fld id="{0B362CC3-BB2C-44B0-BFF9-D15B8E56FA5F}"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BC3D5AA8-CBF3-474F-A25E-113649AEF07E}" type="datetimeFigureOut">
              <a:rPr lang="en-IN" smtClean="0"/>
              <a:t>25-08-2026</a:t>
            </a:fld>
            <a:endParaRPr lang="en-IN"/>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8576EFA3-B2F5-4129-9F8A-8FA4CEC7A92D}" type="slidenum">
              <a:rPr lang="en-IN" smtClean="0"/>
              <a:t>‹#›</a:t>
            </a:fld>
            <a:endParaRPr lang="en-IN"/>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topic in one line: ArchTree-LLM is a cheaper way to automatically design neural networks. LCA-2 focuses on the problem, the pipeline and the final results (all runs completed Oct 4,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parts. Results (item 10) is the main section with nine short result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NAS with the loop on the right. 'Test' means: train the proposed network and measure its accuracy; that is the expensive red step. The box below is our research question: fewer evaluations and GPU-hours, no labels for the filter, proven under a fair GPU-hour budget.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our five objectives. Right: the research gap each objective addresses, row by row. Objective 2, the label-free gate, turned out to be the main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the four benchmarks. Bottom left: the image datasets behind them. Bottom right: how one design is stored. A NAS-Bench-201 cell has 6 edges; each edge picks one of 5 operations. In the trie, each level is one edge, so a full design is a path from the root to a leaf, and the leaf holds its accuracy (94.37% test for this example). Because paths are shared, the search can tell instantly if a design was already tried.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real record from each cached dataset, exactly as the code reads it. NB201: one key per architecture with validation accuracy (used to search), test accuracy (reported) and training seconds (our GPU cost). NB101 stores a graph (adjacency matrix + ops) with three training repeats. NATS-SSS changes only channel widths. HW-NAS-Bench gives latency of the same NB201 architecture on six devices; architecture 11667 is the best CIFAR-10 cell and is also the first point of the EdgeGPU Pareto front.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pipeline. Read the core column top to bottom: the LLM gives an early guess, UCB1 walks the trie to pick a new design, the free proxy gate throws away weak ones, only survivors get the real evaluation, the result is pushed back up the tree and weak branches are pruned, and TCR-H measures coverage. The infrastructure column keeps long runs safe and the statistics honest. Note: on tabular benchmarks nothing is trained, so the weight bank is simulated and is not claimed as a result.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numbered equations. (1) UCB1 picks the next branch. (2) The reward is the rank of the accuracy, not the raw value; this fixed a real problem. (3) The LLM prior only sets the starting value of unvisited branches. (4)-(5) the free proxy score and the gate: top 35% only. (6) the fair budget in GPU-hours. (7) our gate-cost criterion, which predicts in advance whether a cost penalty helps or hurts.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external baselines in four families. RE and Local Search are the strongest known baselines; RE + zero-cost warm-up is the closest prior work. NSGA-II is only used for the hardware study. Internal arms are switched-off versions of our own system.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metric now has a numerical threshold for this project and our measured value. Thresholds: accuracy within ~0.2 pt of the oracle (94.37%); Kendall tau 0.6 = strong rank agreement; at most half the budget evaluated; at least 50% saving; ranking within the Nemenyi critical difference; zero significant losses; HV at least 91.0k at budget 200; at least 90% HV kept on transfer. All are met.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Kendall tau, 1 = the proxy ranks designs exactly like true accuracy. Combining three proxies beats any single one, and the label-free version needs no labelled data. Right: proxies also correlate with training time, almost as much as model size does. A cost penalty sounds like a fix, but our closed-form criterion predicted it would hurt, and it did on every benchmark.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on all three datasets. Left: share of real evaluations saved; right: share of GPU-hours saved, against the same search without the gate. The picture is the same on CIFAR-10, CIFAR-100 and ImageNet16-120. The small table shows accuracy does not drop.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table in the same format as LCA-1, now with the corrected October numbers: three budgets for each dataset. Green marks the best value in each column; the red row is ours. The point is not that we top every column; it is that we sit with the best methods while paying for less than half the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 we are significantly better, grey = no significant difference, red = significantly worse. There is no red. Read the inference box: never worse, better than weak methods, equal to the strongest while using far fewer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method gets exactly the same GPU-hours. Ranks are averaged over datasets, budgets and seeds; lower is better. We are first on NB201, never significantly worse elsewhere, and the gate helps every searcher.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a ladder from the old version v1 (before the October fixes) to v2. The rank reward closes most of the gap, mutation closes the rest. Right: four checks. The trie never evaluates a design twice; that, not the tree shape, is where its gain comes from. The search is not sensitive to the UCB constant.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lower bars = faster. The LLM prior gets close to the final result much sooner on CIFAR-10 and CIFAR-100. Right: the memorisation check. If the LLM had memorised the benchmark, it would do best with the exact benchmark names. Instead, with meaningless labels it is at chance, and with plain descriptions (no benchmark names) it is best, so it uses real architecture knowledge.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device has four bars, one per budget, light to dark. Darker = more search. Hypervolume measures how good the accuracy/latency trade-off front is. It grows on every device; FPGA reaches the best fronts, Raspberry Pi 4 the weakest. No search advantage over simpler baselines; the value is the cross-device analysis.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by row, what is new compared with existing NAS methods.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row per objective: what we contributed, the measured evidence, and whether the objective was met. Objective 2, the label-free gate, is the main contribution. Objective 3 is only partly met: the LLM speeds up early search but does not change final accuracy.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headline numbers on top, each with what it measures. Conclusion and what did not hold on the left, next steps on the right, and the core claim at the bottom.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Title and Content">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lstStyle/>
          <a:p>
            <a:r>
              <a:t>Footer</a:t>
            </a:r>
          </a:p>
        </p:txBody>
      </p:sp>
      <p:sp>
        <p:nvSpPr>
          <p:cNvPr id="3" name="PlaceHolder 2"/>
          <p:cNvSpPr>
            <a:spLocks noGrp="1"/>
          </p:cNvSpPr>
          <p:nvPr>
            <p:ph type="sldNum" idx="11"/>
          </p:nvPr>
        </p:nvSpPr>
        <p:spPr/>
        <p:txBody>
          <a:bodyPr/>
          <a:lstStyle/>
          <a:p>
            <a:fld id="{382457AE-12D6-41FF-8A7D-A0AEA7979976}" type="slidenum">
              <a:rPr/>
              <a:t>‹#›</a:t>
            </a:fld>
            <a:endParaRPr/>
          </a:p>
        </p:txBody>
      </p:sp>
      <p:sp>
        <p:nvSpPr>
          <p:cNvPr id="4" name="PlaceHolder 3"/>
          <p:cNvSpPr>
            <a:spLocks noGrp="1"/>
          </p:cNvSpPr>
          <p:nvPr>
            <p:ph type="dt" idx="12"/>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3_Title and Conten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72268EDC-35DF-4F34-927F-5A91E5E7BE8F}" type="slidenum">
              <a:rPr/>
              <a:t>‹#›</a:t>
            </a:fld>
            <a:endParaRPr/>
          </a:p>
        </p:txBody>
      </p:sp>
      <p:sp>
        <p:nvSpPr>
          <p:cNvPr id="4" name="PlaceHolder 3"/>
          <p:cNvSpPr>
            <a:spLocks noGrp="1"/>
          </p:cNvSpPr>
          <p:nvPr>
            <p:ph type="dt" idx="15"/>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indent="0">
              <a:buNone/>
            </a:pPr>
            <a:endParaRPr lang="en-US" sz="1400" b="0" u="none" strike="noStrike">
              <a:solidFill>
                <a:srgbClr val="000000"/>
              </a:solidFill>
              <a:effectLst/>
              <a:uFillTx/>
              <a:latin typeface="Noto Serif"/>
            </a:endParaRP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Noto Serif"/>
              </a:rPr>
              <a:t>Footer</a:t>
            </a:r>
          </a:p>
        </p:txBody>
      </p:sp>
      <p:sp>
        <p:nvSpPr>
          <p:cNvPr id="6" name="Slide Number Placeholder 5"/>
          <p:cNvSpPr>
            <a:spLocks noGrp="1"/>
          </p:cNvSpPr>
          <p:nvPr>
            <p:ph type="sldNum" sz="quarter" idx="12"/>
          </p:nvPr>
        </p:nvSpPr>
        <p:spPr/>
        <p:txBody>
          <a:bodyPr/>
          <a:lstStyle/>
          <a:p>
            <a:pPr indent="0" algn="r" defTabSz="914400">
              <a:lnSpc>
                <a:spcPct val="100000"/>
              </a:lnSpc>
              <a:buNone/>
              <a:tabLst>
                <a:tab pos="0" algn="l"/>
              </a:tabLst>
            </a:pPr>
            <a:fld id="{44596960-BD12-40FC-8191-C7CA1868AD2A}"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Noto Serif"/>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2.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Picture 7"/>
          <p:cNvPicPr/>
          <p:nvPr/>
        </p:nvPicPr>
        <p:blipFill>
          <a:blip r:embed="rId3"/>
          <a:stretch>
            <a:fillRect/>
          </a:stretch>
        </p:blipFill>
        <p:spPr>
          <a:xfrm>
            <a:off x="3747600" y="131760"/>
            <a:ext cx="4819320" cy="1141200"/>
          </a:xfrm>
          <a:prstGeom prst="rect">
            <a:avLst/>
          </a:prstGeom>
          <a:noFill/>
          <a:ln w="0">
            <a:noFill/>
          </a:ln>
        </p:spPr>
      </p:pic>
      <p:sp>
        <p:nvSpPr>
          <p:cNvPr id="13" name="PlaceHolder 1"/>
          <p:cNvSpPr>
            <a:spLocks noGrp="1"/>
          </p:cNvSpPr>
          <p:nvPr>
            <p:ph type="ftr" idx="10"/>
          </p:nvPr>
        </p:nvSpPr>
        <p:spPr>
          <a:xfrm>
            <a:off x="4038480" y="6356520"/>
            <a:ext cx="411300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Footer</a:t>
            </a:r>
          </a:p>
        </p:txBody>
      </p:sp>
      <p:sp>
        <p:nvSpPr>
          <p:cNvPr id="14" name="PlaceHolder 2"/>
          <p:cNvSpPr>
            <a:spLocks noGrp="1"/>
          </p:cNvSpPr>
          <p:nvPr>
            <p:ph type="sldNum" idx="11"/>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7B8A287A-E5D5-4848-BE38-04EA649E0CF6}"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Noto Serif"/>
            </a:endParaRPr>
          </a:p>
        </p:txBody>
      </p:sp>
      <p:sp>
        <p:nvSpPr>
          <p:cNvPr id="15" name="PlaceHolder 3"/>
          <p:cNvSpPr>
            <a:spLocks noGrp="1"/>
          </p:cNvSpPr>
          <p:nvPr>
            <p:ph type="dt" idx="12"/>
          </p:nvPr>
        </p:nvSpPr>
        <p:spPr>
          <a:xfrm>
            <a:off x="838080" y="6356520"/>
            <a:ext cx="2741400" cy="36324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Noto Serif"/>
              </a:defRPr>
            </a:lvl1pPr>
          </a:lstStyle>
          <a:p>
            <a:pPr indent="0">
              <a:buNone/>
            </a:pPr>
            <a:endParaRPr lang="en-US" sz="1400" b="0" u="none" strike="noStrike">
              <a:solidFill>
                <a:srgbClr val="000000"/>
              </a:solidFill>
              <a:effectLst/>
              <a:uFillTx/>
              <a:latin typeface="Noto Serif"/>
            </a:endParaRPr>
          </a:p>
        </p:txBody>
      </p:sp>
      <p:sp>
        <p:nvSpPr>
          <p:cNvPr id="16"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Noto Serif"/>
              </a:rPr>
              <a:t>Click to edit the title text format</a:t>
            </a:r>
          </a:p>
        </p:txBody>
      </p:sp>
      <p:sp>
        <p:nvSpPr>
          <p:cNvPr id="1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Noto Serif"/>
              </a:rPr>
              <a:t>Click to edit the outline text format</a:t>
            </a: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Noto Serif"/>
              </a:rPr>
              <a:t>Second Outline Level</a:t>
            </a: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Noto Serif"/>
              </a:rPr>
              <a:t>Third Outline Level</a:t>
            </a: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Noto Serif"/>
              </a:rPr>
              <a:t>Fourth Outline Level</a:t>
            </a: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Noto Serif"/>
              </a:rPr>
              <a:t>Fifth Outline Level</a:t>
            </a: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Noto Serif"/>
              </a:rPr>
              <a:t>Sixth Outline Level</a:t>
            </a: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Noto Serif"/>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Picture 7"/>
          <p:cNvPicPr/>
          <p:nvPr/>
        </p:nvPicPr>
        <p:blipFill>
          <a:blip r:embed="rId4"/>
          <a:stretch>
            <a:fillRect/>
          </a:stretch>
        </p:blipFill>
        <p:spPr>
          <a:xfrm>
            <a:off x="218880" y="170280"/>
            <a:ext cx="4819320" cy="1141200"/>
          </a:xfrm>
          <a:prstGeom prst="rect">
            <a:avLst/>
          </a:prstGeom>
          <a:noFill/>
          <a:ln w="0">
            <a:noFill/>
          </a:ln>
        </p:spPr>
      </p:pic>
      <p:cxnSp>
        <p:nvCxnSpPr>
          <p:cNvPr id="19" name="Straight Connector 2"/>
          <p:cNvCxnSpPr/>
          <p:nvPr/>
        </p:nvCxnSpPr>
        <p:spPr>
          <a:xfrm>
            <a:off x="0" y="1313280"/>
            <a:ext cx="12069000" cy="1800"/>
          </a:xfrm>
          <a:prstGeom prst="straightConnector1">
            <a:avLst/>
          </a:prstGeom>
          <a:ln w="0">
            <a:solidFill>
              <a:srgbClr val="5B9BD5"/>
            </a:solidFill>
          </a:ln>
        </p:spPr>
      </p:cxnSp>
      <p:sp>
        <p:nvSpPr>
          <p:cNvPr id="20" name="PlaceHolder 1"/>
          <p:cNvSpPr>
            <a:spLocks noGrp="1"/>
          </p:cNvSpPr>
          <p:nvPr>
            <p:ph type="ftr" idx="13"/>
          </p:nvPr>
        </p:nvSpPr>
        <p:spPr>
          <a:xfrm>
            <a:off x="4038480" y="6356520"/>
            <a:ext cx="411300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Footer</a:t>
            </a:r>
          </a:p>
        </p:txBody>
      </p:sp>
      <p:sp>
        <p:nvSpPr>
          <p:cNvPr id="21" name="PlaceHolder 2"/>
          <p:cNvSpPr>
            <a:spLocks noGrp="1"/>
          </p:cNvSpPr>
          <p:nvPr>
            <p:ph type="sldNum" idx="14"/>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44596960-BD12-40FC-8191-C7CA1868AD2A}"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Noto Serif"/>
            </a:endParaRPr>
          </a:p>
        </p:txBody>
      </p:sp>
      <p:sp>
        <p:nvSpPr>
          <p:cNvPr id="22" name="PlaceHolder 3"/>
          <p:cNvSpPr>
            <a:spLocks noGrp="1"/>
          </p:cNvSpPr>
          <p:nvPr>
            <p:ph type="dt" idx="15"/>
          </p:nvPr>
        </p:nvSpPr>
        <p:spPr>
          <a:xfrm>
            <a:off x="838080" y="6356520"/>
            <a:ext cx="2741400" cy="36324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effectLst/>
                <a:uFillTx/>
                <a:latin typeface="Noto Serif"/>
              </a:defRPr>
            </a:lvl1pPr>
          </a:lstStyle>
          <a:p>
            <a:pPr indent="0">
              <a:buNone/>
            </a:pPr>
            <a:endParaRPr lang="en-US" sz="1400" b="0" u="none" strike="noStrike">
              <a:solidFill>
                <a:srgbClr val="000000"/>
              </a:solidFill>
              <a:effectLst/>
              <a:uFillTx/>
              <a:latin typeface="Noto Serif"/>
            </a:endParaRPr>
          </a:p>
        </p:txBody>
      </p:sp>
      <p:sp>
        <p:nvSpPr>
          <p:cNvPr id="23"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Noto Serif"/>
              </a:rPr>
              <a:t>Click to edit the title text format</a:t>
            </a:r>
          </a:p>
        </p:txBody>
      </p:sp>
      <p:sp>
        <p:nvSpPr>
          <p:cNvPr id="2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Noto Serif"/>
              </a:rPr>
              <a:t>Click to edit the outline text format</a:t>
            </a: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Noto Serif"/>
              </a:rPr>
              <a:t>Second Outline Level</a:t>
            </a: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Noto Serif"/>
              </a:rPr>
              <a:t>Third Outline Level</a:t>
            </a: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Noto Serif"/>
              </a:rPr>
              <a:t>Fourth Outline Level</a:t>
            </a: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Noto Serif"/>
              </a:rPr>
              <a:t>Fifth Outline Level</a:t>
            </a: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Noto Serif"/>
              </a:rPr>
              <a:t>Sixth Outline Level</a:t>
            </a: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Noto Serif"/>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4" Type="http://schemas.openxmlformats.org/officeDocument/2006/relationships/notesSlide" Target="../notesSlides/notesSlide11.xml"/><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4" Type="http://schemas.openxmlformats.org/officeDocument/2006/relationships/notesSlide" Target="../notesSlides/notesSlide12.xml"/><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14.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15.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16.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1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18.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463040"/>
            <a:ext cx="11064240" cy="1371600"/>
          </a:xfrm>
          <a:prstGeom prst="rect">
            <a:avLst/>
          </a:prstGeom>
          <a:noFill/>
        </p:spPr>
        <p:txBody>
          <a:bodyPr wrap="square" anchor="t" lIns="45720" rIns="45720" tIns="27432" bIns="27432"/>
          <a:lstStyle/>
          <a:p>
            <a:pPr algn="ctr">
              <a:spcAft>
                <a:spcPts val="200"/>
              </a:spcAft>
            </a:pPr>
            <a:r>
              <a:rPr sz="2000" b="1" i="0">
                <a:solidFill>
                  <a:srgbClr val="002060"/>
                </a:solidFill>
                <a:latin typeface="Times New Roman"/>
                <a:cs typeface="Times New Roman"/>
                <a:ea typeface="Times New Roman"/>
              </a:rPr>
              <a:t>FACULTY OF ENGINEERING AND TECHNOLOGY</a:t>
            </a:r>
          </a:p>
          <a:p>
            <a:pPr algn="ctr">
              <a:spcAft>
                <a:spcPts val="200"/>
              </a:spcAft>
            </a:pPr>
            <a:r>
              <a:rPr sz="2000" b="1" i="0">
                <a:solidFill>
                  <a:srgbClr val="002060"/>
                </a:solidFill>
                <a:latin typeface="Times New Roman"/>
                <a:cs typeface="Times New Roman"/>
                <a:ea typeface="Times New Roman"/>
              </a:rPr>
              <a:t>SCHOOL OF COMPUTER SCIENCE AND ENGINEERING</a:t>
            </a:r>
          </a:p>
          <a:p>
            <a:pPr algn="ctr">
              <a:spcAft>
                <a:spcPts val="200"/>
              </a:spcAft>
            </a:pPr>
            <a:r>
              <a:rPr sz="2000" b="1" i="0">
                <a:solidFill>
                  <a:srgbClr val="002060"/>
                </a:solidFill>
                <a:latin typeface="Times New Roman"/>
                <a:cs typeface="Times New Roman"/>
                <a:ea typeface="Times New Roman"/>
              </a:rPr>
              <a:t>DEPARTMENT OF COMPUTER ENGINEERING AND TECHNOLOGY</a:t>
            </a:r>
          </a:p>
        </p:txBody>
      </p:sp>
      <p:sp>
        <p:nvSpPr>
          <p:cNvPr id="3" name="TextBox 2"/>
          <p:cNvSpPr txBox="1"/>
          <p:nvPr/>
        </p:nvSpPr>
        <p:spPr>
          <a:xfrm>
            <a:off x="548640" y="2788920"/>
            <a:ext cx="11064240" cy="365760"/>
          </a:xfrm>
          <a:prstGeom prst="rect">
            <a:avLst/>
          </a:prstGeom>
          <a:noFill/>
        </p:spPr>
        <p:txBody>
          <a:bodyPr wrap="square" anchor="t" lIns="45720" rIns="45720" tIns="27432" bIns="27432"/>
          <a:lstStyle/>
          <a:p>
            <a:pPr algn="ctr">
              <a:spcAft>
                <a:spcPts val="400"/>
              </a:spcAft>
            </a:pPr>
            <a:r>
              <a:rPr sz="1800" b="1" i="0">
                <a:solidFill>
                  <a:srgbClr val="000000"/>
                </a:solidFill>
                <a:latin typeface="Times New Roman"/>
                <a:cs typeface="Times New Roman"/>
                <a:ea typeface="Times New Roman"/>
              </a:rPr>
              <a:t>Academic Year 2025-2026   ·   M.Tech Research Project   ·   LCA-2   ·   13 October 2026</a:t>
            </a:r>
          </a:p>
        </p:txBody>
      </p:sp>
      <p:sp>
        <p:nvSpPr>
          <p:cNvPr id="4" name="TextBox 3"/>
          <p:cNvSpPr txBox="1"/>
          <p:nvPr/>
        </p:nvSpPr>
        <p:spPr>
          <a:xfrm>
            <a:off x="822960" y="3337560"/>
            <a:ext cx="10515600" cy="1188720"/>
          </a:xfrm>
          <a:prstGeom prst="rect">
            <a:avLst/>
          </a:prstGeom>
          <a:noFill/>
        </p:spPr>
        <p:txBody>
          <a:bodyPr wrap="square" anchor="ctr" lIns="45720" rIns="45720" tIns="27432" bIns="27432"/>
          <a:lstStyle/>
          <a:p>
            <a:pPr algn="ctr">
              <a:spcAft>
                <a:spcPts val="400"/>
              </a:spcAft>
            </a:pPr>
            <a:r>
              <a:rPr sz="2400" b="1" i="1">
                <a:solidFill>
                  <a:srgbClr val="002060"/>
                </a:solidFill>
                <a:latin typeface="Times New Roman"/>
                <a:cs typeface="Times New Roman"/>
                <a:ea typeface="Times New Roman"/>
              </a:rPr>
              <a:t>Neural Architecture Search via Trie-Based Deduplication and Zero-Cost Proxies, with Hardware-Aware Coverage: An Empirical Study of LLM-Guided Warm-Start</a:t>
            </a:r>
          </a:p>
        </p:txBody>
      </p:sp>
      <p:sp>
        <p:nvSpPr>
          <p:cNvPr id="5" name="TextBox 4"/>
          <p:cNvSpPr txBox="1"/>
          <p:nvPr/>
        </p:nvSpPr>
        <p:spPr>
          <a:xfrm>
            <a:off x="1097280" y="4983480"/>
            <a:ext cx="5120640" cy="914400"/>
          </a:xfrm>
          <a:prstGeom prst="rect">
            <a:avLst/>
          </a:prstGeom>
          <a:noFill/>
        </p:spPr>
        <p:txBody>
          <a:bodyPr wrap="square" anchor="t" lIns="45720" rIns="45720" tIns="27432" bIns="27432"/>
          <a:lstStyle/>
          <a:p>
            <a:pPr algn="l">
              <a:spcAft>
                <a:spcPts val="400"/>
              </a:spcAft>
            </a:pPr>
            <a:r>
              <a:rPr sz="1800" b="1" i="1">
                <a:solidFill>
                  <a:srgbClr val="002060"/>
                </a:solidFill>
                <a:latin typeface="Times New Roman"/>
                <a:cs typeface="Times New Roman"/>
                <a:ea typeface="Times New Roman"/>
              </a:rPr>
              <a:t>Presented By-</a:t>
            </a:r>
          </a:p>
          <a:p>
            <a:pPr algn="l">
              <a:spcAft>
                <a:spcPts val="400"/>
              </a:spcAft>
            </a:pPr>
            <a:r>
              <a:rPr sz="1800" b="1" i="0">
                <a:solidFill>
                  <a:srgbClr val="002060"/>
                </a:solidFill>
                <a:latin typeface="Times New Roman"/>
                <a:cs typeface="Times New Roman"/>
                <a:ea typeface="Times New Roman"/>
              </a:rPr>
              <a:t>Imaad Hajwane (PRN: 1262250486)</a:t>
            </a:r>
          </a:p>
        </p:txBody>
      </p:sp>
      <p:sp>
        <p:nvSpPr>
          <p:cNvPr id="6" name="TextBox 5"/>
          <p:cNvSpPr txBox="1"/>
          <p:nvPr/>
        </p:nvSpPr>
        <p:spPr>
          <a:xfrm>
            <a:off x="6949440" y="4983480"/>
            <a:ext cx="4206240" cy="914400"/>
          </a:xfrm>
          <a:prstGeom prst="rect">
            <a:avLst/>
          </a:prstGeom>
          <a:noFill/>
        </p:spPr>
        <p:txBody>
          <a:bodyPr wrap="square" anchor="t" lIns="45720" rIns="45720" tIns="27432" bIns="27432"/>
          <a:lstStyle/>
          <a:p>
            <a:pPr algn="r">
              <a:spcAft>
                <a:spcPts val="400"/>
              </a:spcAft>
            </a:pPr>
            <a:r>
              <a:rPr sz="1800" b="1" i="1">
                <a:solidFill>
                  <a:srgbClr val="002060"/>
                </a:solidFill>
                <a:latin typeface="Times New Roman"/>
                <a:cs typeface="Times New Roman"/>
                <a:ea typeface="Times New Roman"/>
              </a:rPr>
              <a:t>Under the Guidance of-</a:t>
            </a:r>
          </a:p>
          <a:p>
            <a:pPr algn="r">
              <a:spcAft>
                <a:spcPts val="400"/>
              </a:spcAft>
            </a:pPr>
            <a:r>
              <a:rPr sz="1800" b="1" i="0">
                <a:solidFill>
                  <a:srgbClr val="002060"/>
                </a:solidFill>
                <a:latin typeface="Times New Roman"/>
                <a:cs typeface="Times New Roman"/>
                <a:ea typeface="Times New Roman"/>
              </a:rPr>
              <a:t>Dr. Jayshree Aher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CONTENTS</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Outline</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2</a:t>
            </a:r>
          </a:p>
        </p:txBody>
      </p:sp>
      <p:sp>
        <p:nvSpPr>
          <p:cNvPr id="6" name="Oval 5"/>
          <p:cNvSpPr/>
          <p:nvPr/>
        </p:nvSpPr>
        <p:spPr>
          <a:xfrm>
            <a:off x="914400" y="1691640"/>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400" b="1" i="0">
                <a:solidFill>
                  <a:srgbClr val="FFFFFF"/>
                </a:solidFill>
                <a:latin typeface="Times New Roman"/>
                <a:cs typeface="Times New Roman"/>
                <a:ea typeface="Times New Roman"/>
              </a:rPr>
              <a:t>1</a:t>
            </a:r>
          </a:p>
        </p:txBody>
      </p:sp>
      <p:sp>
        <p:nvSpPr>
          <p:cNvPr id="7" name="TextBox 6"/>
          <p:cNvSpPr txBox="1"/>
          <p:nvPr/>
        </p:nvSpPr>
        <p:spPr>
          <a:xfrm>
            <a:off x="1554480" y="1673352"/>
            <a:ext cx="4480560" cy="502920"/>
          </a:xfrm>
          <a:prstGeom prst="rect">
            <a:avLst/>
          </a:prstGeom>
          <a:noFill/>
        </p:spPr>
        <p:txBody>
          <a:bodyPr wrap="square" anchor="ctr" lIns="45720" rIns="45720" tIns="27432" bIns="27432"/>
          <a:lstStyle/>
          <a:p>
            <a:pPr algn="l">
              <a:spcAft>
                <a:spcPts val="400"/>
              </a:spcAft>
            </a:pPr>
            <a:r>
              <a:rPr sz="1800" b="0" i="0">
                <a:solidFill>
                  <a:srgbClr val="000000"/>
                </a:solidFill>
                <a:latin typeface="Times New Roman"/>
                <a:cs typeface="Times New Roman"/>
                <a:ea typeface="Times New Roman"/>
              </a:rPr>
              <a:t>Introduction &amp; Problem Statement</a:t>
            </a:r>
          </a:p>
        </p:txBody>
      </p:sp>
      <p:sp>
        <p:nvSpPr>
          <p:cNvPr id="8" name="Oval 7"/>
          <p:cNvSpPr/>
          <p:nvPr/>
        </p:nvSpPr>
        <p:spPr>
          <a:xfrm>
            <a:off x="914400" y="2441448"/>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400" b="1" i="0">
                <a:solidFill>
                  <a:srgbClr val="FFFFFF"/>
                </a:solidFill>
                <a:latin typeface="Times New Roman"/>
                <a:cs typeface="Times New Roman"/>
                <a:ea typeface="Times New Roman"/>
              </a:rPr>
              <a:t>2</a:t>
            </a:r>
          </a:p>
        </p:txBody>
      </p:sp>
      <p:sp>
        <p:nvSpPr>
          <p:cNvPr id="9" name="TextBox 8"/>
          <p:cNvSpPr txBox="1"/>
          <p:nvPr/>
        </p:nvSpPr>
        <p:spPr>
          <a:xfrm>
            <a:off x="1554480" y="2423160"/>
            <a:ext cx="4480560" cy="502920"/>
          </a:xfrm>
          <a:prstGeom prst="rect">
            <a:avLst/>
          </a:prstGeom>
          <a:noFill/>
        </p:spPr>
        <p:txBody>
          <a:bodyPr wrap="square" anchor="ctr" lIns="45720" rIns="45720" tIns="27432" bIns="27432"/>
          <a:lstStyle/>
          <a:p>
            <a:pPr algn="l">
              <a:spcAft>
                <a:spcPts val="400"/>
              </a:spcAft>
            </a:pPr>
            <a:r>
              <a:rPr sz="1800" b="0" i="0">
                <a:solidFill>
                  <a:srgbClr val="000000"/>
                </a:solidFill>
                <a:latin typeface="Times New Roman"/>
                <a:cs typeface="Times New Roman"/>
                <a:ea typeface="Times New Roman"/>
              </a:rPr>
              <a:t>Objectives &amp; Research Gaps</a:t>
            </a:r>
          </a:p>
        </p:txBody>
      </p:sp>
      <p:sp>
        <p:nvSpPr>
          <p:cNvPr id="10" name="Oval 9"/>
          <p:cNvSpPr/>
          <p:nvPr/>
        </p:nvSpPr>
        <p:spPr>
          <a:xfrm>
            <a:off x="914400" y="3191256"/>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400" b="1" i="0">
                <a:solidFill>
                  <a:srgbClr val="FFFFFF"/>
                </a:solidFill>
                <a:latin typeface="Times New Roman"/>
                <a:cs typeface="Times New Roman"/>
                <a:ea typeface="Times New Roman"/>
              </a:rPr>
              <a:t>3</a:t>
            </a:r>
          </a:p>
        </p:txBody>
      </p:sp>
      <p:sp>
        <p:nvSpPr>
          <p:cNvPr id="11" name="TextBox 10"/>
          <p:cNvSpPr txBox="1"/>
          <p:nvPr/>
        </p:nvSpPr>
        <p:spPr>
          <a:xfrm>
            <a:off x="1554480" y="3172968"/>
            <a:ext cx="4480560" cy="502920"/>
          </a:xfrm>
          <a:prstGeom prst="rect">
            <a:avLst/>
          </a:prstGeom>
          <a:noFill/>
        </p:spPr>
        <p:txBody>
          <a:bodyPr wrap="square" anchor="ctr" lIns="45720" rIns="45720" tIns="27432" bIns="27432"/>
          <a:lstStyle/>
          <a:p>
            <a:pPr algn="l">
              <a:spcAft>
                <a:spcPts val="400"/>
              </a:spcAft>
            </a:pPr>
            <a:r>
              <a:rPr sz="1800" b="0" i="0">
                <a:solidFill>
                  <a:srgbClr val="000000"/>
                </a:solidFill>
                <a:latin typeface="Times New Roman"/>
                <a:cs typeface="Times New Roman"/>
                <a:ea typeface="Times New Roman"/>
              </a:rPr>
              <a:t>Dataset Description &amp; Snippets</a:t>
            </a:r>
          </a:p>
        </p:txBody>
      </p:sp>
      <p:sp>
        <p:nvSpPr>
          <p:cNvPr id="12" name="Oval 11"/>
          <p:cNvSpPr/>
          <p:nvPr/>
        </p:nvSpPr>
        <p:spPr>
          <a:xfrm>
            <a:off x="914400" y="3941064"/>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400" b="1" i="0">
                <a:solidFill>
                  <a:srgbClr val="FFFFFF"/>
                </a:solidFill>
                <a:latin typeface="Times New Roman"/>
                <a:cs typeface="Times New Roman"/>
                <a:ea typeface="Times New Roman"/>
              </a:rPr>
              <a:t>4</a:t>
            </a:r>
          </a:p>
        </p:txBody>
      </p:sp>
      <p:sp>
        <p:nvSpPr>
          <p:cNvPr id="13" name="TextBox 12"/>
          <p:cNvSpPr txBox="1"/>
          <p:nvPr/>
        </p:nvSpPr>
        <p:spPr>
          <a:xfrm>
            <a:off x="1554480" y="3922776"/>
            <a:ext cx="4480560" cy="502920"/>
          </a:xfrm>
          <a:prstGeom prst="rect">
            <a:avLst/>
          </a:prstGeom>
          <a:noFill/>
        </p:spPr>
        <p:txBody>
          <a:bodyPr wrap="square" anchor="ctr" lIns="45720" rIns="45720" tIns="27432" bIns="27432"/>
          <a:lstStyle/>
          <a:p>
            <a:pPr algn="l">
              <a:spcAft>
                <a:spcPts val="400"/>
              </a:spcAft>
            </a:pPr>
            <a:r>
              <a:rPr sz="1800" b="0" i="0">
                <a:solidFill>
                  <a:srgbClr val="000000"/>
                </a:solidFill>
                <a:latin typeface="Times New Roman"/>
                <a:cs typeface="Times New Roman"/>
                <a:ea typeface="Times New Roman"/>
              </a:rPr>
              <a:t>Proposed Pipeline</a:t>
            </a:r>
          </a:p>
        </p:txBody>
      </p:sp>
      <p:sp>
        <p:nvSpPr>
          <p:cNvPr id="14" name="Oval 13"/>
          <p:cNvSpPr/>
          <p:nvPr/>
        </p:nvSpPr>
        <p:spPr>
          <a:xfrm>
            <a:off x="914400" y="4690872"/>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400" b="1" i="0">
                <a:solidFill>
                  <a:srgbClr val="FFFFFF"/>
                </a:solidFill>
                <a:latin typeface="Times New Roman"/>
                <a:cs typeface="Times New Roman"/>
                <a:ea typeface="Times New Roman"/>
              </a:rPr>
              <a:t>5</a:t>
            </a:r>
          </a:p>
        </p:txBody>
      </p:sp>
      <p:sp>
        <p:nvSpPr>
          <p:cNvPr id="15" name="TextBox 14"/>
          <p:cNvSpPr txBox="1"/>
          <p:nvPr/>
        </p:nvSpPr>
        <p:spPr>
          <a:xfrm>
            <a:off x="1554480" y="4672584"/>
            <a:ext cx="4480560" cy="502920"/>
          </a:xfrm>
          <a:prstGeom prst="rect">
            <a:avLst/>
          </a:prstGeom>
          <a:noFill/>
        </p:spPr>
        <p:txBody>
          <a:bodyPr wrap="square" anchor="ctr" lIns="45720" rIns="45720" tIns="27432" bIns="27432"/>
          <a:lstStyle/>
          <a:p>
            <a:pPr algn="l">
              <a:spcAft>
                <a:spcPts val="400"/>
              </a:spcAft>
            </a:pPr>
            <a:r>
              <a:rPr sz="1800" b="0" i="0">
                <a:solidFill>
                  <a:srgbClr val="000000"/>
                </a:solidFill>
                <a:latin typeface="Times New Roman"/>
                <a:cs typeface="Times New Roman"/>
                <a:ea typeface="Times New Roman"/>
              </a:rPr>
              <a:t>Mathematical Model</a:t>
            </a:r>
          </a:p>
        </p:txBody>
      </p:sp>
      <p:sp>
        <p:nvSpPr>
          <p:cNvPr id="16" name="Oval 15"/>
          <p:cNvSpPr/>
          <p:nvPr/>
        </p:nvSpPr>
        <p:spPr>
          <a:xfrm>
            <a:off x="914400" y="5440679"/>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400" b="1" i="0">
                <a:solidFill>
                  <a:srgbClr val="FFFFFF"/>
                </a:solidFill>
                <a:latin typeface="Times New Roman"/>
                <a:cs typeface="Times New Roman"/>
                <a:ea typeface="Times New Roman"/>
              </a:rPr>
              <a:t>6</a:t>
            </a:r>
          </a:p>
        </p:txBody>
      </p:sp>
      <p:sp>
        <p:nvSpPr>
          <p:cNvPr id="17" name="TextBox 16"/>
          <p:cNvSpPr txBox="1"/>
          <p:nvPr/>
        </p:nvSpPr>
        <p:spPr>
          <a:xfrm>
            <a:off x="1554480" y="5422392"/>
            <a:ext cx="4480560" cy="502920"/>
          </a:xfrm>
          <a:prstGeom prst="rect">
            <a:avLst/>
          </a:prstGeom>
          <a:noFill/>
        </p:spPr>
        <p:txBody>
          <a:bodyPr wrap="square" anchor="ctr" lIns="45720" rIns="45720" tIns="27432" bIns="27432"/>
          <a:lstStyle/>
          <a:p>
            <a:pPr algn="l">
              <a:spcAft>
                <a:spcPts val="400"/>
              </a:spcAft>
            </a:pPr>
            <a:r>
              <a:rPr sz="1800" b="0" i="0">
                <a:solidFill>
                  <a:srgbClr val="000000"/>
                </a:solidFill>
                <a:latin typeface="Times New Roman"/>
                <a:cs typeface="Times New Roman"/>
                <a:ea typeface="Times New Roman"/>
              </a:rPr>
              <a:t>Baselines &amp; Evaluation Metrics</a:t>
            </a:r>
          </a:p>
        </p:txBody>
      </p:sp>
      <p:sp>
        <p:nvSpPr>
          <p:cNvPr id="18" name="Oval 17"/>
          <p:cNvSpPr/>
          <p:nvPr/>
        </p:nvSpPr>
        <p:spPr>
          <a:xfrm>
            <a:off x="6400800" y="169164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400" b="1" i="0">
                <a:solidFill>
                  <a:srgbClr val="FFFFFF"/>
                </a:solidFill>
                <a:latin typeface="Times New Roman"/>
                <a:cs typeface="Times New Roman"/>
                <a:ea typeface="Times New Roman"/>
              </a:rPr>
              <a:t>7</a:t>
            </a:r>
          </a:p>
        </p:txBody>
      </p:sp>
      <p:sp>
        <p:nvSpPr>
          <p:cNvPr id="19" name="TextBox 18"/>
          <p:cNvSpPr txBox="1"/>
          <p:nvPr/>
        </p:nvSpPr>
        <p:spPr>
          <a:xfrm>
            <a:off x="7040880" y="1673352"/>
            <a:ext cx="4480560" cy="502920"/>
          </a:xfrm>
          <a:prstGeom prst="rect">
            <a:avLst/>
          </a:prstGeom>
          <a:noFill/>
        </p:spPr>
        <p:txBody>
          <a:bodyPr wrap="square" anchor="ctr" lIns="45720" rIns="45720" tIns="27432" bIns="27432"/>
          <a:lstStyle/>
          <a:p>
            <a:pPr algn="l">
              <a:spcAft>
                <a:spcPts val="400"/>
              </a:spcAft>
            </a:pPr>
            <a:r>
              <a:rPr sz="1800" b="0" i="0">
                <a:solidFill>
                  <a:srgbClr val="000000"/>
                </a:solidFill>
                <a:latin typeface="Times New Roman"/>
                <a:cs typeface="Times New Roman"/>
                <a:ea typeface="Times New Roman"/>
              </a:rPr>
              <a:t>Results &amp; Analysis</a:t>
            </a:r>
          </a:p>
        </p:txBody>
      </p:sp>
      <p:sp>
        <p:nvSpPr>
          <p:cNvPr id="20" name="Oval 19"/>
          <p:cNvSpPr/>
          <p:nvPr/>
        </p:nvSpPr>
        <p:spPr>
          <a:xfrm>
            <a:off x="6400800" y="2441448"/>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400" b="1" i="0">
                <a:solidFill>
                  <a:srgbClr val="FFFFFF"/>
                </a:solidFill>
                <a:latin typeface="Times New Roman"/>
                <a:cs typeface="Times New Roman"/>
                <a:ea typeface="Times New Roman"/>
              </a:rPr>
              <a:t>8</a:t>
            </a:r>
          </a:p>
        </p:txBody>
      </p:sp>
      <p:sp>
        <p:nvSpPr>
          <p:cNvPr id="21" name="TextBox 20"/>
          <p:cNvSpPr txBox="1"/>
          <p:nvPr/>
        </p:nvSpPr>
        <p:spPr>
          <a:xfrm>
            <a:off x="7040880" y="2423160"/>
            <a:ext cx="4480560" cy="502920"/>
          </a:xfrm>
          <a:prstGeom prst="rect">
            <a:avLst/>
          </a:prstGeom>
          <a:noFill/>
        </p:spPr>
        <p:txBody>
          <a:bodyPr wrap="square" anchor="ctr" lIns="45720" rIns="45720" tIns="27432" bIns="27432"/>
          <a:lstStyle/>
          <a:p>
            <a:pPr algn="l">
              <a:spcAft>
                <a:spcPts val="400"/>
              </a:spcAft>
            </a:pPr>
            <a:r>
              <a:rPr sz="1800" b="0" i="0">
                <a:solidFill>
                  <a:srgbClr val="000000"/>
                </a:solidFill>
                <a:latin typeface="Times New Roman"/>
                <a:cs typeface="Times New Roman"/>
                <a:ea typeface="Times New Roman"/>
              </a:rPr>
              <a:t>Existing vs Proposed</a:t>
            </a:r>
          </a:p>
        </p:txBody>
      </p:sp>
      <p:sp>
        <p:nvSpPr>
          <p:cNvPr id="22" name="Oval 21"/>
          <p:cNvSpPr/>
          <p:nvPr/>
        </p:nvSpPr>
        <p:spPr>
          <a:xfrm>
            <a:off x="6400800" y="3191256"/>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400" b="1" i="0">
                <a:solidFill>
                  <a:srgbClr val="FFFFFF"/>
                </a:solidFill>
                <a:latin typeface="Times New Roman"/>
                <a:cs typeface="Times New Roman"/>
                <a:ea typeface="Times New Roman"/>
              </a:rPr>
              <a:t>9</a:t>
            </a:r>
          </a:p>
        </p:txBody>
      </p:sp>
      <p:sp>
        <p:nvSpPr>
          <p:cNvPr id="23" name="TextBox 22"/>
          <p:cNvSpPr txBox="1"/>
          <p:nvPr/>
        </p:nvSpPr>
        <p:spPr>
          <a:xfrm>
            <a:off x="7040880" y="3172968"/>
            <a:ext cx="4480560" cy="502920"/>
          </a:xfrm>
          <a:prstGeom prst="rect">
            <a:avLst/>
          </a:prstGeom>
          <a:noFill/>
        </p:spPr>
        <p:txBody>
          <a:bodyPr wrap="square" anchor="ctr" lIns="45720" rIns="45720" tIns="27432" bIns="27432"/>
          <a:lstStyle/>
          <a:p>
            <a:pPr algn="l">
              <a:spcAft>
                <a:spcPts val="400"/>
              </a:spcAft>
            </a:pPr>
            <a:r>
              <a:rPr sz="1800" b="0" i="0">
                <a:solidFill>
                  <a:srgbClr val="000000"/>
                </a:solidFill>
                <a:latin typeface="Times New Roman"/>
                <a:cs typeface="Times New Roman"/>
                <a:ea typeface="Times New Roman"/>
              </a:rPr>
              <a:t>Research Significance &amp; Contribution</a:t>
            </a:r>
          </a:p>
        </p:txBody>
      </p:sp>
      <p:sp>
        <p:nvSpPr>
          <p:cNvPr id="24" name="Oval 23"/>
          <p:cNvSpPr/>
          <p:nvPr/>
        </p:nvSpPr>
        <p:spPr>
          <a:xfrm>
            <a:off x="6400800" y="3941064"/>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400" b="1" i="0">
                <a:solidFill>
                  <a:srgbClr val="FFFFFF"/>
                </a:solidFill>
                <a:latin typeface="Times New Roman"/>
                <a:cs typeface="Times New Roman"/>
                <a:ea typeface="Times New Roman"/>
              </a:rPr>
              <a:t>10</a:t>
            </a:r>
          </a:p>
        </p:txBody>
      </p:sp>
      <p:sp>
        <p:nvSpPr>
          <p:cNvPr id="25" name="TextBox 24"/>
          <p:cNvSpPr txBox="1"/>
          <p:nvPr/>
        </p:nvSpPr>
        <p:spPr>
          <a:xfrm>
            <a:off x="7040880" y="3922776"/>
            <a:ext cx="4480560" cy="502920"/>
          </a:xfrm>
          <a:prstGeom prst="rect">
            <a:avLst/>
          </a:prstGeom>
          <a:noFill/>
        </p:spPr>
        <p:txBody>
          <a:bodyPr wrap="square" anchor="ctr" lIns="45720" rIns="45720" tIns="27432" bIns="27432"/>
          <a:lstStyle/>
          <a:p>
            <a:pPr algn="l">
              <a:spcAft>
                <a:spcPts val="400"/>
              </a:spcAft>
            </a:pPr>
            <a:r>
              <a:rPr sz="1800" b="0" i="0">
                <a:solidFill>
                  <a:srgbClr val="000000"/>
                </a:solidFill>
                <a:latin typeface="Times New Roman"/>
                <a:cs typeface="Times New Roman"/>
                <a:ea typeface="Times New Roman"/>
              </a:rPr>
              <a:t>Conclusion &amp; Future Scope</a:t>
            </a:r>
          </a:p>
        </p:txBody>
      </p:sp>
      <p:sp>
        <p:nvSpPr>
          <p:cNvPr id="26" name="Oval 25"/>
          <p:cNvSpPr/>
          <p:nvPr/>
        </p:nvSpPr>
        <p:spPr>
          <a:xfrm>
            <a:off x="6400800" y="4690872"/>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400" b="1" i="0">
                <a:solidFill>
                  <a:srgbClr val="FFFFFF"/>
                </a:solidFill>
                <a:latin typeface="Times New Roman"/>
                <a:cs typeface="Times New Roman"/>
                <a:ea typeface="Times New Roman"/>
              </a:rPr>
              <a:t>11</a:t>
            </a:r>
          </a:p>
        </p:txBody>
      </p:sp>
      <p:sp>
        <p:nvSpPr>
          <p:cNvPr id="27" name="TextBox 26"/>
          <p:cNvSpPr txBox="1"/>
          <p:nvPr/>
        </p:nvSpPr>
        <p:spPr>
          <a:xfrm>
            <a:off x="7040880" y="4672584"/>
            <a:ext cx="4480560" cy="502920"/>
          </a:xfrm>
          <a:prstGeom prst="rect">
            <a:avLst/>
          </a:prstGeom>
          <a:noFill/>
        </p:spPr>
        <p:txBody>
          <a:bodyPr wrap="square" anchor="ctr" lIns="45720" rIns="45720" tIns="27432" bIns="27432"/>
          <a:lstStyle/>
          <a:p>
            <a:pPr algn="l">
              <a:spcAft>
                <a:spcPts val="400"/>
              </a:spcAft>
            </a:pPr>
            <a:r>
              <a:rPr sz="1800" b="0" i="0">
                <a:solidFill>
                  <a:srgbClr val="000000"/>
                </a:solidFill>
                <a:latin typeface="Times New Roman"/>
                <a:cs typeface="Times New Roman"/>
                <a:ea typeface="Times New Roman"/>
              </a:rPr>
              <a:t>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PROJECT OVERVIEW</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Introduction &amp; Problem Statement</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3</a:t>
            </a:r>
          </a:p>
        </p:txBody>
      </p:sp>
      <p:sp>
        <p:nvSpPr>
          <p:cNvPr id="6" name="TextBox 5"/>
          <p:cNvSpPr txBox="1"/>
          <p:nvPr/>
        </p:nvSpPr>
        <p:spPr>
          <a:xfrm>
            <a:off x="548640" y="1481328"/>
            <a:ext cx="6400800" cy="3108960"/>
          </a:xfrm>
          <a:prstGeom prst="rect">
            <a:avLst/>
          </a:prstGeom>
          <a:noFill/>
        </p:spPr>
        <p:txBody>
          <a:bodyPr wrap="square" anchor="t" lIns="45720" rIns="45720" tIns="27432" bIns="27432"/>
          <a:lstStyle/>
          <a:p>
            <a:pPr algn="l" marL="228600" indent="-201168">
              <a:lnSpc>
                <a:spcPct val="103000"/>
              </a:lnSpc>
              <a:spcAft>
                <a:spcPts val="900"/>
              </a:spcAft>
              <a:buFont typeface="Arial"/>
              <a:buChar char="•"/>
            </a:pPr>
            <a:r>
              <a:rPr sz="1600" b="1" i="0">
                <a:solidFill>
                  <a:srgbClr val="262626"/>
                </a:solidFill>
                <a:latin typeface="Times New Roman"/>
                <a:cs typeface="Times New Roman"/>
                <a:ea typeface="Times New Roman"/>
              </a:rPr>
              <a:t>Architecture</a:t>
            </a:r>
            <a:r>
              <a:rPr sz="1600" b="0" i="0">
                <a:solidFill>
                  <a:srgbClr val="262626"/>
                </a:solidFill>
                <a:latin typeface="Times New Roman"/>
                <a:cs typeface="Times New Roman"/>
                <a:ea typeface="Times New Roman"/>
              </a:rPr>
              <a:t> = a network's layers and how they are connected; designing it by hand is slow trial-and-error.</a:t>
            </a:r>
          </a:p>
          <a:p>
            <a:pPr algn="l" marL="228600" indent="-201168">
              <a:lnSpc>
                <a:spcPct val="103000"/>
              </a:lnSpc>
              <a:spcAft>
                <a:spcPts val="900"/>
              </a:spcAft>
              <a:buFont typeface="Arial"/>
              <a:buChar char="•"/>
            </a:pPr>
            <a:r>
              <a:rPr sz="1600" b="1" i="0">
                <a:solidFill>
                  <a:srgbClr val="262626"/>
                </a:solidFill>
                <a:latin typeface="Times New Roman"/>
                <a:cs typeface="Times New Roman"/>
                <a:ea typeface="Times New Roman"/>
              </a:rPr>
              <a:t>NAS</a:t>
            </a:r>
            <a:r>
              <a:rPr sz="1600" b="0" i="0">
                <a:solidFill>
                  <a:srgbClr val="262626"/>
                </a:solidFill>
                <a:latin typeface="Times New Roman"/>
                <a:cs typeface="Times New Roman"/>
                <a:ea typeface="Times New Roman"/>
              </a:rPr>
              <a:t> automates this loop: propose a design → test it (train the network, then measure its accuracy) → learn from the result → repeat [1], [2].</a:t>
            </a:r>
          </a:p>
          <a:p>
            <a:pPr algn="l" marL="228600" indent="-201168">
              <a:lnSpc>
                <a:spcPct val="103000"/>
              </a:lnSpc>
              <a:spcAft>
                <a:spcPts val="900"/>
              </a:spcAft>
              <a:buFont typeface="Arial"/>
              <a:buChar char="•"/>
            </a:pPr>
            <a:r>
              <a:rPr sz="1600" b="1" i="0">
                <a:solidFill>
                  <a:srgbClr val="262626"/>
                </a:solidFill>
                <a:latin typeface="Times New Roman"/>
                <a:cs typeface="Times New Roman"/>
                <a:ea typeface="Times New Roman"/>
              </a:rPr>
              <a:t>Problem: </a:t>
            </a:r>
            <a:r>
              <a:rPr sz="1600" b="0" i="0">
                <a:solidFill>
                  <a:srgbClr val="262626"/>
                </a:solidFill>
                <a:latin typeface="Times New Roman"/>
                <a:cs typeface="Times New Roman"/>
                <a:ea typeface="Times New Roman"/>
              </a:rPr>
              <a:t>one test = fully training one network (hours of GPU time), and many tests are wasted on repeated or weak designs [3], [4].</a:t>
            </a:r>
          </a:p>
          <a:p>
            <a:pPr algn="l" marL="228600" indent="-201168">
              <a:lnSpc>
                <a:spcPct val="103000"/>
              </a:lnSpc>
              <a:spcAft>
                <a:spcPts val="900"/>
              </a:spcAft>
              <a:buFont typeface="Arial"/>
              <a:buChar char="•"/>
            </a:pPr>
            <a:r>
              <a:rPr sz="1600" b="1" i="0">
                <a:solidFill>
                  <a:srgbClr val="002060"/>
                </a:solidFill>
                <a:latin typeface="Times New Roman"/>
                <a:cs typeface="Times New Roman"/>
                <a:ea typeface="Times New Roman"/>
              </a:rPr>
              <a:t>ArchTree-LLM</a:t>
            </a:r>
            <a:r>
              <a:rPr sz="1600" b="0" i="0">
                <a:solidFill>
                  <a:srgbClr val="262626"/>
                </a:solidFill>
                <a:latin typeface="Times New Roman"/>
                <a:cs typeface="Times New Roman"/>
                <a:ea typeface="Times New Roman"/>
              </a:rPr>
              <a:t>: a trie skips repeated designs [5], a free zero-cost proxy gate filters weak ones before training [6], and an LLM suggests a good starting point [7].</a:t>
            </a:r>
          </a:p>
        </p:txBody>
      </p:sp>
      <p:sp>
        <p:nvSpPr>
          <p:cNvPr id="7" name="Rounded Rectangle 6"/>
          <p:cNvSpPr/>
          <p:nvPr/>
        </p:nvSpPr>
        <p:spPr>
          <a:xfrm>
            <a:off x="8275320" y="1572768"/>
            <a:ext cx="1920240" cy="566928"/>
          </a:xfrm>
          <a:prstGeom prst="roundRect">
            <a:avLst>
              <a:gd name="adj" fmla="val 8000"/>
            </a:avLst>
          </a:prstGeom>
          <a:solidFill>
            <a:srgbClr val="EAF0F8"/>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0"/>
              </a:spcAft>
            </a:pPr>
            <a:r>
              <a:rPr sz="1250" b="1" i="0">
                <a:solidFill>
                  <a:srgbClr val="002060"/>
                </a:solidFill>
                <a:latin typeface="Times New Roman"/>
                <a:cs typeface="Times New Roman"/>
                <a:ea typeface="Times New Roman"/>
              </a:rPr>
              <a:t>Search space</a:t>
            </a:r>
          </a:p>
          <a:p>
            <a:pPr algn="ctr">
              <a:spcAft>
                <a:spcPts val="0"/>
              </a:spcAft>
            </a:pPr>
            <a:r>
              <a:rPr sz="1050" b="0" i="0">
                <a:solidFill>
                  <a:srgbClr val="002060"/>
                </a:solidFill>
                <a:latin typeface="Times New Roman"/>
                <a:cs typeface="Times New Roman"/>
                <a:ea typeface="Times New Roman"/>
              </a:rPr>
              <a:t>15,625 designs</a:t>
            </a:r>
          </a:p>
        </p:txBody>
      </p:sp>
      <p:sp>
        <p:nvSpPr>
          <p:cNvPr id="8" name="Rounded Rectangle 7"/>
          <p:cNvSpPr/>
          <p:nvPr/>
        </p:nvSpPr>
        <p:spPr>
          <a:xfrm>
            <a:off x="9235440" y="2578608"/>
            <a:ext cx="1920240" cy="566928"/>
          </a:xfrm>
          <a:prstGeom prst="roundRect">
            <a:avLst>
              <a:gd name="adj" fmla="val 8000"/>
            </a:avLst>
          </a:prstGeom>
          <a:solidFill>
            <a:srgbClr val="EAF0F8"/>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0"/>
              </a:spcAft>
            </a:pPr>
            <a:r>
              <a:rPr sz="1250" b="1" i="0">
                <a:solidFill>
                  <a:srgbClr val="002060"/>
                </a:solidFill>
                <a:latin typeface="Times New Roman"/>
                <a:cs typeface="Times New Roman"/>
                <a:ea typeface="Times New Roman"/>
              </a:rPr>
              <a:t>Search strategy</a:t>
            </a:r>
          </a:p>
          <a:p>
            <a:pPr algn="ctr">
              <a:spcAft>
                <a:spcPts val="0"/>
              </a:spcAft>
            </a:pPr>
            <a:r>
              <a:rPr sz="1050" b="0" i="0">
                <a:solidFill>
                  <a:srgbClr val="002060"/>
                </a:solidFill>
                <a:latin typeface="Times New Roman"/>
                <a:cs typeface="Times New Roman"/>
                <a:ea typeface="Times New Roman"/>
              </a:rPr>
              <a:t>picks the next design</a:t>
            </a:r>
          </a:p>
        </p:txBody>
      </p:sp>
      <p:sp>
        <p:nvSpPr>
          <p:cNvPr id="9" name="Rounded Rectangle 8"/>
          <p:cNvSpPr/>
          <p:nvPr/>
        </p:nvSpPr>
        <p:spPr>
          <a:xfrm>
            <a:off x="8275320" y="3584448"/>
            <a:ext cx="1920240" cy="566928"/>
          </a:xfrm>
          <a:prstGeom prst="roundRect">
            <a:avLst>
              <a:gd name="adj" fmla="val 8000"/>
            </a:avLst>
          </a:prstGeom>
          <a:solidFill>
            <a:srgbClr val="FBE9E9"/>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0"/>
              </a:spcAft>
            </a:pPr>
            <a:r>
              <a:rPr sz="1250" b="1" i="0">
                <a:solidFill>
                  <a:srgbClr val="C00000"/>
                </a:solidFill>
                <a:latin typeface="Times New Roman"/>
                <a:cs typeface="Times New Roman"/>
                <a:ea typeface="Times New Roman"/>
              </a:rPr>
              <a:t>Evaluate (test)</a:t>
            </a:r>
          </a:p>
          <a:p>
            <a:pPr algn="ctr">
              <a:spcAft>
                <a:spcPts val="0"/>
              </a:spcAft>
            </a:pPr>
            <a:r>
              <a:rPr sz="1050" b="0" i="0">
                <a:solidFill>
                  <a:srgbClr val="C00000"/>
                </a:solidFill>
                <a:latin typeface="Times New Roman"/>
                <a:cs typeface="Times New Roman"/>
                <a:ea typeface="Times New Roman"/>
              </a:rPr>
              <a:t>train + measure accuracy</a:t>
            </a:r>
          </a:p>
        </p:txBody>
      </p:sp>
      <p:sp>
        <p:nvSpPr>
          <p:cNvPr id="10" name="Rounded Rectangle 9"/>
          <p:cNvSpPr/>
          <p:nvPr/>
        </p:nvSpPr>
        <p:spPr>
          <a:xfrm>
            <a:off x="7315200" y="2578608"/>
            <a:ext cx="1920240" cy="566928"/>
          </a:xfrm>
          <a:prstGeom prst="roundRect">
            <a:avLst>
              <a:gd name="adj" fmla="val 8000"/>
            </a:avLst>
          </a:prstGeom>
          <a:solidFill>
            <a:srgbClr val="EAF0F8"/>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0"/>
              </a:spcAft>
            </a:pPr>
            <a:r>
              <a:rPr sz="1250" b="1" i="0">
                <a:solidFill>
                  <a:srgbClr val="002060"/>
                </a:solidFill>
                <a:latin typeface="Times New Roman"/>
                <a:cs typeface="Times New Roman"/>
                <a:ea typeface="Times New Roman"/>
              </a:rPr>
              <a:t>Feedback</a:t>
            </a:r>
          </a:p>
          <a:p>
            <a:pPr algn="ctr">
              <a:spcAft>
                <a:spcPts val="0"/>
              </a:spcAft>
            </a:pPr>
            <a:r>
              <a:rPr sz="1050" b="0" i="0">
                <a:solidFill>
                  <a:srgbClr val="002060"/>
                </a:solidFill>
                <a:latin typeface="Times New Roman"/>
                <a:cs typeface="Times New Roman"/>
                <a:ea typeface="Times New Roman"/>
              </a:rPr>
              <a:t>accuracy updates search</a:t>
            </a:r>
          </a:p>
        </p:txBody>
      </p:sp>
      <p:cxnSp>
        <p:nvCxnSpPr>
          <p:cNvPr id="11" name="Connector 10"/>
          <p:cNvCxnSpPr/>
          <p:nvPr/>
        </p:nvCxnSpPr>
        <p:spPr>
          <a:xfrm>
            <a:off x="10195560" y="1856231"/>
            <a:ext cx="137160" cy="722377"/>
          </a:xfrm>
          <a:prstGeom prst="line">
            <a:avLst/>
          </a:prstGeom>
          <a:ln w="1905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0195560" y="3145536"/>
            <a:ext cx="137160" cy="713232"/>
          </a:xfrm>
          <a:prstGeom prst="line">
            <a:avLst/>
          </a:prstGeom>
          <a:ln w="1905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8138160" y="3145536"/>
            <a:ext cx="137160" cy="722375"/>
          </a:xfrm>
          <a:prstGeom prst="line">
            <a:avLst/>
          </a:prstGeom>
          <a:ln w="1905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138160" y="1856231"/>
            <a:ext cx="137160" cy="722377"/>
          </a:xfrm>
          <a:prstGeom prst="line">
            <a:avLst/>
          </a:prstGeom>
          <a:ln w="1905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Figure 1 caption"/>
          <p:cNvSpPr txBox="1"/>
          <p:nvPr/>
        </p:nvSpPr>
        <p:spPr>
          <a:xfrm>
            <a:off x="7223760" y="4242816"/>
            <a:ext cx="3977639"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1. </a:t>
            </a:r>
            <a:r>
              <a:rPr sz="1100" b="0" i="1">
                <a:solidFill>
                  <a:srgbClr val="262626"/>
                </a:solidFill>
                <a:latin typeface="Times New Roman"/>
                <a:cs typeface="Times New Roman"/>
                <a:ea typeface="Times New Roman"/>
              </a:rPr>
              <a:t>The NAS loop; evaluation (test) is the costly step.</a:t>
            </a:r>
          </a:p>
        </p:txBody>
      </p:sp>
      <p:sp>
        <p:nvSpPr>
          <p:cNvPr id="16" name="Rounded Rectangle 15"/>
          <p:cNvSpPr/>
          <p:nvPr/>
        </p:nvSpPr>
        <p:spPr>
          <a:xfrm>
            <a:off x="548640" y="4645152"/>
            <a:ext cx="11064240" cy="1737360"/>
          </a:xfrm>
          <a:prstGeom prst="roundRect">
            <a:avLst>
              <a:gd name="adj" fmla="val 4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1520" y="4700016"/>
            <a:ext cx="10698480" cy="365760"/>
          </a:xfrm>
          <a:prstGeom prst="rect">
            <a:avLst/>
          </a:prstGeom>
          <a:noFill/>
        </p:spPr>
        <p:txBody>
          <a:bodyPr wrap="square" anchor="t" lIns="45720" rIns="45720" tIns="27432" bIns="27432"/>
          <a:lstStyle/>
          <a:p>
            <a:pPr algn="l">
              <a:spcAft>
                <a:spcPts val="400"/>
              </a:spcAft>
            </a:pPr>
            <a:r>
              <a:rPr sz="1800" b="1" i="0">
                <a:solidFill>
                  <a:srgbClr val="002060"/>
                </a:solidFill>
                <a:latin typeface="Times New Roman"/>
                <a:cs typeface="Times New Roman"/>
                <a:ea typeface="Times New Roman"/>
              </a:rPr>
              <a:t>Problem Statement</a:t>
            </a:r>
          </a:p>
        </p:txBody>
      </p:sp>
      <p:sp>
        <p:nvSpPr>
          <p:cNvPr id="18" name="TextBox 17"/>
          <p:cNvSpPr txBox="1"/>
          <p:nvPr/>
        </p:nvSpPr>
        <p:spPr>
          <a:xfrm>
            <a:off x="731520" y="5074920"/>
            <a:ext cx="10698480" cy="1261872"/>
          </a:xfrm>
          <a:prstGeom prst="rect">
            <a:avLst/>
          </a:prstGeom>
          <a:noFill/>
        </p:spPr>
        <p:txBody>
          <a:bodyPr wrap="square" anchor="t" lIns="45720" rIns="45720" tIns="27432" bIns="27432"/>
          <a:lstStyle/>
          <a:p>
            <a:pPr algn="l">
              <a:lnSpc>
                <a:spcPct val="105000"/>
              </a:lnSpc>
              <a:spcAft>
                <a:spcPts val="400"/>
              </a:spcAft>
            </a:pPr>
            <a:r>
              <a:rPr sz="1700" b="0" i="0">
                <a:solidFill>
                  <a:srgbClr val="262626"/>
                </a:solidFill>
                <a:latin typeface="Times New Roman"/>
                <a:cs typeface="Times New Roman"/>
                <a:ea typeface="Times New Roman"/>
              </a:rPr>
              <a:t>Neural architecture search is computationally expensive because every candidate must be trained, and existing methods waste evaluations on duplicate and weak designs [8], [9]. This work aims to find near-optimal architectures with far fewer evaluations and GPU-hours using a label-free zero-cost filter, validated under an equal-compute comparison.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AIMS &amp; MOTIVATION</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Objectives &amp; Research Gaps</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4</a:t>
            </a:r>
          </a:p>
        </p:txBody>
      </p:sp>
      <p:sp>
        <p:nvSpPr>
          <p:cNvPr id="6" name="TextBox 5"/>
          <p:cNvSpPr txBox="1"/>
          <p:nvPr/>
        </p:nvSpPr>
        <p:spPr>
          <a:xfrm>
            <a:off x="548640" y="1481328"/>
            <a:ext cx="5440680" cy="365760"/>
          </a:xfrm>
          <a:prstGeom prst="rect">
            <a:avLst/>
          </a:prstGeom>
          <a:noFill/>
        </p:spPr>
        <p:txBody>
          <a:bodyPr wrap="square" anchor="t" lIns="45720" rIns="45720" tIns="27432" bIns="27432"/>
          <a:lstStyle/>
          <a:p>
            <a:pPr algn="l">
              <a:spcAft>
                <a:spcPts val="400"/>
              </a:spcAft>
            </a:pPr>
            <a:r>
              <a:rPr sz="1800" b="1" i="0">
                <a:solidFill>
                  <a:srgbClr val="002060"/>
                </a:solidFill>
                <a:latin typeface="Times New Roman"/>
                <a:cs typeface="Times New Roman"/>
                <a:ea typeface="Times New Roman"/>
              </a:rPr>
              <a:t>Objectives</a:t>
            </a:r>
          </a:p>
        </p:txBody>
      </p:sp>
      <p:sp>
        <p:nvSpPr>
          <p:cNvPr id="7" name="Rounded Rectangle 6"/>
          <p:cNvSpPr/>
          <p:nvPr/>
        </p:nvSpPr>
        <p:spPr>
          <a:xfrm>
            <a:off x="548640" y="1938528"/>
            <a:ext cx="5440680" cy="786384"/>
          </a:xfrm>
          <a:prstGeom prst="roundRect">
            <a:avLst>
              <a:gd name="adj" fmla="val 8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76656" y="2103120"/>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300" b="1" i="0">
                <a:solidFill>
                  <a:srgbClr val="FFFFFF"/>
                </a:solidFill>
                <a:latin typeface="Times New Roman"/>
                <a:cs typeface="Times New Roman"/>
                <a:ea typeface="Times New Roman"/>
              </a:rPr>
              <a:t>1</a:t>
            </a:r>
          </a:p>
        </p:txBody>
      </p:sp>
      <p:sp>
        <p:nvSpPr>
          <p:cNvPr id="9" name="TextBox 8"/>
          <p:cNvSpPr txBox="1"/>
          <p:nvPr/>
        </p:nvSpPr>
        <p:spPr>
          <a:xfrm>
            <a:off x="1280160" y="1975104"/>
            <a:ext cx="4599432" cy="713232"/>
          </a:xfrm>
          <a:prstGeom prst="rect">
            <a:avLst/>
          </a:prstGeom>
          <a:noFill/>
        </p:spPr>
        <p:txBody>
          <a:bodyPr wrap="square" anchor="ctr" lIns="45720" rIns="45720" tIns="27432" bIns="27432"/>
          <a:lstStyle/>
          <a:p>
            <a:pPr algn="l">
              <a:spcAft>
                <a:spcPts val="400"/>
              </a:spcAft>
            </a:pPr>
            <a:r>
              <a:rPr sz="1450" b="1" i="0">
                <a:solidFill>
                  <a:srgbClr val="002060"/>
                </a:solidFill>
                <a:latin typeface="Times New Roman"/>
                <a:cs typeface="Times New Roman"/>
                <a:ea typeface="Times New Roman"/>
              </a:rPr>
              <a:t>To design</a:t>
            </a:r>
            <a:r>
              <a:rPr sz="1450" b="0" i="0">
                <a:solidFill>
                  <a:srgbClr val="262626"/>
                </a:solidFill>
                <a:latin typeface="Times New Roman"/>
                <a:cs typeface="Times New Roman"/>
                <a:ea typeface="Times New Roman"/>
              </a:rPr>
              <a:t> a trie-based search space [5] with UCB1 traversal [10] that guarantees zero duplicate evaluations.</a:t>
            </a:r>
          </a:p>
        </p:txBody>
      </p:sp>
      <p:sp>
        <p:nvSpPr>
          <p:cNvPr id="10" name="Rounded Rectangle 9"/>
          <p:cNvSpPr/>
          <p:nvPr/>
        </p:nvSpPr>
        <p:spPr>
          <a:xfrm>
            <a:off x="548640" y="2825496"/>
            <a:ext cx="5440680" cy="786384"/>
          </a:xfrm>
          <a:prstGeom prst="roundRect">
            <a:avLst>
              <a:gd name="adj" fmla="val 8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76656" y="2990088"/>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300" b="1" i="0">
                <a:solidFill>
                  <a:srgbClr val="FFFFFF"/>
                </a:solidFill>
                <a:latin typeface="Times New Roman"/>
                <a:cs typeface="Times New Roman"/>
                <a:ea typeface="Times New Roman"/>
              </a:rPr>
              <a:t>2</a:t>
            </a:r>
          </a:p>
        </p:txBody>
      </p:sp>
      <p:sp>
        <p:nvSpPr>
          <p:cNvPr id="12" name="TextBox 11"/>
          <p:cNvSpPr txBox="1"/>
          <p:nvPr/>
        </p:nvSpPr>
        <p:spPr>
          <a:xfrm>
            <a:off x="1280160" y="2862072"/>
            <a:ext cx="4599432" cy="713232"/>
          </a:xfrm>
          <a:prstGeom prst="rect">
            <a:avLst/>
          </a:prstGeom>
          <a:noFill/>
        </p:spPr>
        <p:txBody>
          <a:bodyPr wrap="square" anchor="ctr" lIns="45720" rIns="45720" tIns="27432" bIns="27432"/>
          <a:lstStyle/>
          <a:p>
            <a:pPr algn="l">
              <a:spcAft>
                <a:spcPts val="400"/>
              </a:spcAft>
            </a:pPr>
            <a:r>
              <a:rPr sz="1450" b="1" i="0">
                <a:solidFill>
                  <a:srgbClr val="002060"/>
                </a:solidFill>
                <a:latin typeface="Times New Roman"/>
                <a:cs typeface="Times New Roman"/>
                <a:ea typeface="Times New Roman"/>
              </a:rPr>
              <a:t>To develop</a:t>
            </a:r>
            <a:r>
              <a:rPr sz="1450" b="0" i="0">
                <a:solidFill>
                  <a:srgbClr val="262626"/>
                </a:solidFill>
                <a:latin typeface="Times New Roman"/>
                <a:cs typeface="Times New Roman"/>
                <a:ea typeface="Times New Roman"/>
              </a:rPr>
              <a:t> a label-free zero-cost proxy gate [6], [11] that evaluates only the top 35% of candidates.</a:t>
            </a:r>
          </a:p>
        </p:txBody>
      </p:sp>
      <p:sp>
        <p:nvSpPr>
          <p:cNvPr id="13" name="Rounded Rectangle 12"/>
          <p:cNvSpPr/>
          <p:nvPr/>
        </p:nvSpPr>
        <p:spPr>
          <a:xfrm>
            <a:off x="548640" y="3712464"/>
            <a:ext cx="5440680" cy="786384"/>
          </a:xfrm>
          <a:prstGeom prst="roundRect">
            <a:avLst>
              <a:gd name="adj" fmla="val 8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76656" y="3877056"/>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300" b="1" i="0">
                <a:solidFill>
                  <a:srgbClr val="FFFFFF"/>
                </a:solidFill>
                <a:latin typeface="Times New Roman"/>
                <a:cs typeface="Times New Roman"/>
                <a:ea typeface="Times New Roman"/>
              </a:rPr>
              <a:t>3</a:t>
            </a:r>
          </a:p>
        </p:txBody>
      </p:sp>
      <p:sp>
        <p:nvSpPr>
          <p:cNvPr id="15" name="TextBox 14"/>
          <p:cNvSpPr txBox="1"/>
          <p:nvPr/>
        </p:nvSpPr>
        <p:spPr>
          <a:xfrm>
            <a:off x="1280160" y="3749040"/>
            <a:ext cx="4599432" cy="713232"/>
          </a:xfrm>
          <a:prstGeom prst="rect">
            <a:avLst/>
          </a:prstGeom>
          <a:noFill/>
        </p:spPr>
        <p:txBody>
          <a:bodyPr wrap="square" anchor="ctr" lIns="45720" rIns="45720" tIns="27432" bIns="27432"/>
          <a:lstStyle/>
          <a:p>
            <a:pPr algn="l">
              <a:spcAft>
                <a:spcPts val="400"/>
              </a:spcAft>
            </a:pPr>
            <a:r>
              <a:rPr sz="1450" b="1" i="0">
                <a:solidFill>
                  <a:srgbClr val="002060"/>
                </a:solidFill>
                <a:latin typeface="Times New Roman"/>
                <a:cs typeface="Times New Roman"/>
                <a:ea typeface="Times New Roman"/>
              </a:rPr>
              <a:t>To integrate</a:t>
            </a:r>
            <a:r>
              <a:rPr sz="1450" b="0" i="0">
                <a:solidFill>
                  <a:srgbClr val="262626"/>
                </a:solidFill>
                <a:latin typeface="Times New Roman"/>
                <a:cs typeface="Times New Roman"/>
                <a:ea typeface="Times New Roman"/>
              </a:rPr>
              <a:t> an LLM warm-start prior [7], [12] and test it against memorisation and size-bias controls.</a:t>
            </a:r>
          </a:p>
        </p:txBody>
      </p:sp>
      <p:sp>
        <p:nvSpPr>
          <p:cNvPr id="16" name="Rounded Rectangle 15"/>
          <p:cNvSpPr/>
          <p:nvPr/>
        </p:nvSpPr>
        <p:spPr>
          <a:xfrm>
            <a:off x="548640" y="4599432"/>
            <a:ext cx="5440680" cy="786384"/>
          </a:xfrm>
          <a:prstGeom prst="roundRect">
            <a:avLst>
              <a:gd name="adj" fmla="val 8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76656" y="4764024"/>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300" b="1" i="0">
                <a:solidFill>
                  <a:srgbClr val="FFFFFF"/>
                </a:solidFill>
                <a:latin typeface="Times New Roman"/>
                <a:cs typeface="Times New Roman"/>
                <a:ea typeface="Times New Roman"/>
              </a:rPr>
              <a:t>4</a:t>
            </a:r>
          </a:p>
        </p:txBody>
      </p:sp>
      <p:sp>
        <p:nvSpPr>
          <p:cNvPr id="18" name="TextBox 17"/>
          <p:cNvSpPr txBox="1"/>
          <p:nvPr/>
        </p:nvSpPr>
        <p:spPr>
          <a:xfrm>
            <a:off x="1280160" y="4636008"/>
            <a:ext cx="4599432" cy="713232"/>
          </a:xfrm>
          <a:prstGeom prst="rect">
            <a:avLst/>
          </a:prstGeom>
          <a:noFill/>
        </p:spPr>
        <p:txBody>
          <a:bodyPr wrap="square" anchor="ctr" lIns="45720" rIns="45720" tIns="27432" bIns="27432"/>
          <a:lstStyle/>
          <a:p>
            <a:pPr algn="l">
              <a:spcAft>
                <a:spcPts val="400"/>
              </a:spcAft>
            </a:pPr>
            <a:r>
              <a:rPr sz="1450" b="1" i="0">
                <a:solidFill>
                  <a:srgbClr val="002060"/>
                </a:solidFill>
                <a:latin typeface="Times New Roman"/>
                <a:cs typeface="Times New Roman"/>
                <a:ea typeface="Times New Roman"/>
              </a:rPr>
              <a:t>To extend</a:t>
            </a:r>
            <a:r>
              <a:rPr sz="1450" b="0" i="0">
                <a:solidFill>
                  <a:srgbClr val="262626"/>
                </a:solidFill>
                <a:latin typeface="Times New Roman"/>
                <a:cs typeface="Times New Roman"/>
                <a:ea typeface="Times New Roman"/>
              </a:rPr>
              <a:t> the search to hardware-aware, accuracy–latency optimisation on 6 edge devices [13].</a:t>
            </a:r>
          </a:p>
        </p:txBody>
      </p:sp>
      <p:sp>
        <p:nvSpPr>
          <p:cNvPr id="19" name="Rounded Rectangle 18"/>
          <p:cNvSpPr/>
          <p:nvPr/>
        </p:nvSpPr>
        <p:spPr>
          <a:xfrm>
            <a:off x="548640" y="5486400"/>
            <a:ext cx="5440680" cy="786384"/>
          </a:xfrm>
          <a:prstGeom prst="roundRect">
            <a:avLst>
              <a:gd name="adj" fmla="val 8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76656" y="5650992"/>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300" b="1" i="0">
                <a:solidFill>
                  <a:srgbClr val="FFFFFF"/>
                </a:solidFill>
                <a:latin typeface="Times New Roman"/>
                <a:cs typeface="Times New Roman"/>
                <a:ea typeface="Times New Roman"/>
              </a:rPr>
              <a:t>5</a:t>
            </a:r>
          </a:p>
        </p:txBody>
      </p:sp>
      <p:sp>
        <p:nvSpPr>
          <p:cNvPr id="21" name="TextBox 20"/>
          <p:cNvSpPr txBox="1"/>
          <p:nvPr/>
        </p:nvSpPr>
        <p:spPr>
          <a:xfrm>
            <a:off x="1280160" y="5522976"/>
            <a:ext cx="4599432" cy="713232"/>
          </a:xfrm>
          <a:prstGeom prst="rect">
            <a:avLst/>
          </a:prstGeom>
          <a:noFill/>
        </p:spPr>
        <p:txBody>
          <a:bodyPr wrap="square" anchor="ctr" lIns="45720" rIns="45720" tIns="27432" bIns="27432"/>
          <a:lstStyle/>
          <a:p>
            <a:pPr algn="l">
              <a:spcAft>
                <a:spcPts val="400"/>
              </a:spcAft>
            </a:pPr>
            <a:r>
              <a:rPr sz="1450" b="1" i="0">
                <a:solidFill>
                  <a:srgbClr val="002060"/>
                </a:solidFill>
                <a:latin typeface="Times New Roman"/>
                <a:cs typeface="Times New Roman"/>
                <a:ea typeface="Times New Roman"/>
              </a:rPr>
              <a:t>To validate</a:t>
            </a:r>
            <a:r>
              <a:rPr sz="1450" b="0" i="0">
                <a:solidFill>
                  <a:srgbClr val="262626"/>
                </a:solidFill>
                <a:latin typeface="Times New Roman"/>
                <a:cs typeface="Times New Roman"/>
                <a:ea typeface="Times New Roman"/>
              </a:rPr>
              <a:t> all results at equal GPU-hours on 3 benchmarks against 10 baselines [14], [15], [16].</a:t>
            </a:r>
          </a:p>
        </p:txBody>
      </p:sp>
      <p:sp>
        <p:nvSpPr>
          <p:cNvPr id="22" name="TextBox 21"/>
          <p:cNvSpPr txBox="1"/>
          <p:nvPr/>
        </p:nvSpPr>
        <p:spPr>
          <a:xfrm>
            <a:off x="6172200" y="1481328"/>
            <a:ext cx="5440680" cy="365760"/>
          </a:xfrm>
          <a:prstGeom prst="rect">
            <a:avLst/>
          </a:prstGeom>
          <a:noFill/>
        </p:spPr>
        <p:txBody>
          <a:bodyPr wrap="square" anchor="t" lIns="45720" rIns="45720" tIns="27432" bIns="27432"/>
          <a:lstStyle/>
          <a:p>
            <a:pPr algn="l">
              <a:spcAft>
                <a:spcPts val="400"/>
              </a:spcAft>
            </a:pPr>
            <a:r>
              <a:rPr sz="1800" b="1" i="0">
                <a:solidFill>
                  <a:srgbClr val="002060"/>
                </a:solidFill>
                <a:latin typeface="Times New Roman"/>
                <a:cs typeface="Times New Roman"/>
                <a:ea typeface="Times New Roman"/>
              </a:rPr>
              <a:t>Research Gaps Addressed</a:t>
            </a:r>
          </a:p>
        </p:txBody>
      </p:sp>
      <p:sp>
        <p:nvSpPr>
          <p:cNvPr id="23" name="Rounded Rectangle 22"/>
          <p:cNvSpPr/>
          <p:nvPr/>
        </p:nvSpPr>
        <p:spPr>
          <a:xfrm>
            <a:off x="6172200" y="1938528"/>
            <a:ext cx="5440680" cy="786384"/>
          </a:xfrm>
          <a:prstGeom prst="roundRect">
            <a:avLst>
              <a:gd name="adj" fmla="val 8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300216" y="2103120"/>
            <a:ext cx="457200" cy="457200"/>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300" b="1" i="0">
                <a:solidFill>
                  <a:srgbClr val="002060"/>
                </a:solidFill>
                <a:latin typeface="Times New Roman"/>
                <a:cs typeface="Times New Roman"/>
                <a:ea typeface="Times New Roman"/>
              </a:rPr>
              <a:t>G1</a:t>
            </a:r>
          </a:p>
        </p:txBody>
      </p:sp>
      <p:sp>
        <p:nvSpPr>
          <p:cNvPr id="25" name="TextBox 24"/>
          <p:cNvSpPr txBox="1"/>
          <p:nvPr/>
        </p:nvSpPr>
        <p:spPr>
          <a:xfrm>
            <a:off x="6903720" y="2002536"/>
            <a:ext cx="4599432" cy="329184"/>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No duplicate guarantee</a:t>
            </a:r>
          </a:p>
        </p:txBody>
      </p:sp>
      <p:sp>
        <p:nvSpPr>
          <p:cNvPr id="26" name="TextBox 25"/>
          <p:cNvSpPr txBox="1"/>
          <p:nvPr/>
        </p:nvSpPr>
        <p:spPr>
          <a:xfrm>
            <a:off x="6903720" y="2340864"/>
            <a:ext cx="4599432" cy="347472"/>
          </a:xfrm>
          <a:prstGeom prst="rect">
            <a:avLst/>
          </a:prstGeom>
          <a:noFill/>
        </p:spPr>
        <p:txBody>
          <a:bodyPr wrap="square" anchor="t" lIns="45720" rIns="45720" tIns="27432" bIns="27432"/>
          <a:lstStyle/>
          <a:p>
            <a:pPr algn="l">
              <a:spcAft>
                <a:spcPts val="400"/>
              </a:spcAft>
            </a:pPr>
            <a:r>
              <a:rPr sz="1350" b="0" i="0">
                <a:solidFill>
                  <a:srgbClr val="262626"/>
                </a:solidFill>
                <a:latin typeface="Times New Roman"/>
                <a:cs typeface="Times New Roman"/>
                <a:ea typeface="Times New Roman"/>
              </a:rPr>
              <a:t>Same design paid for twice (30–67% repeats) [17], [12].</a:t>
            </a:r>
          </a:p>
        </p:txBody>
      </p:sp>
      <p:sp>
        <p:nvSpPr>
          <p:cNvPr id="27" name="Rounded Rectangle 26"/>
          <p:cNvSpPr/>
          <p:nvPr/>
        </p:nvSpPr>
        <p:spPr>
          <a:xfrm>
            <a:off x="6172200" y="2825496"/>
            <a:ext cx="5440680" cy="786384"/>
          </a:xfrm>
          <a:prstGeom prst="roundRect">
            <a:avLst>
              <a:gd name="adj" fmla="val 8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300216" y="2990088"/>
            <a:ext cx="457200" cy="457200"/>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300" b="1" i="0">
                <a:solidFill>
                  <a:srgbClr val="002060"/>
                </a:solidFill>
                <a:latin typeface="Times New Roman"/>
                <a:cs typeface="Times New Roman"/>
                <a:ea typeface="Times New Roman"/>
              </a:rPr>
              <a:t>G2</a:t>
            </a:r>
          </a:p>
        </p:txBody>
      </p:sp>
      <p:sp>
        <p:nvSpPr>
          <p:cNvPr id="29" name="TextBox 28"/>
          <p:cNvSpPr txBox="1"/>
          <p:nvPr/>
        </p:nvSpPr>
        <p:spPr>
          <a:xfrm>
            <a:off x="6903720" y="2889503"/>
            <a:ext cx="4599432" cy="329184"/>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Label-dependent proxies</a:t>
            </a:r>
          </a:p>
        </p:txBody>
      </p:sp>
      <p:sp>
        <p:nvSpPr>
          <p:cNvPr id="30" name="TextBox 29"/>
          <p:cNvSpPr txBox="1"/>
          <p:nvPr/>
        </p:nvSpPr>
        <p:spPr>
          <a:xfrm>
            <a:off x="6903720" y="3227832"/>
            <a:ext cx="4599432" cy="347472"/>
          </a:xfrm>
          <a:prstGeom prst="rect">
            <a:avLst/>
          </a:prstGeom>
          <a:noFill/>
        </p:spPr>
        <p:txBody>
          <a:bodyPr wrap="square" anchor="t" lIns="45720" rIns="45720" tIns="27432" bIns="27432"/>
          <a:lstStyle/>
          <a:p>
            <a:pPr algn="l">
              <a:spcAft>
                <a:spcPts val="400"/>
              </a:spcAft>
            </a:pPr>
            <a:r>
              <a:rPr sz="1350" b="0" i="0">
                <a:solidFill>
                  <a:srgbClr val="262626"/>
                </a:solidFill>
                <a:latin typeface="Times New Roman"/>
                <a:cs typeface="Times New Roman"/>
                <a:ea typeface="Times New Roman"/>
              </a:rPr>
              <a:t>Need 1,500 labelled designs: a hidden cost [6].</a:t>
            </a:r>
          </a:p>
        </p:txBody>
      </p:sp>
      <p:sp>
        <p:nvSpPr>
          <p:cNvPr id="31" name="Rounded Rectangle 30"/>
          <p:cNvSpPr/>
          <p:nvPr/>
        </p:nvSpPr>
        <p:spPr>
          <a:xfrm>
            <a:off x="6172200" y="3712464"/>
            <a:ext cx="5440680" cy="786384"/>
          </a:xfrm>
          <a:prstGeom prst="roundRect">
            <a:avLst>
              <a:gd name="adj" fmla="val 8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300216" y="3877056"/>
            <a:ext cx="457200" cy="457200"/>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300" b="1" i="0">
                <a:solidFill>
                  <a:srgbClr val="002060"/>
                </a:solidFill>
                <a:latin typeface="Times New Roman"/>
                <a:cs typeface="Times New Roman"/>
                <a:ea typeface="Times New Roman"/>
              </a:rPr>
              <a:t>G3</a:t>
            </a:r>
          </a:p>
        </p:txBody>
      </p:sp>
      <p:sp>
        <p:nvSpPr>
          <p:cNvPr id="33" name="TextBox 32"/>
          <p:cNvSpPr txBox="1"/>
          <p:nvPr/>
        </p:nvSpPr>
        <p:spPr>
          <a:xfrm>
            <a:off x="6903720" y="3776472"/>
            <a:ext cx="4599432" cy="329184"/>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Untested LLM value</a:t>
            </a:r>
          </a:p>
        </p:txBody>
      </p:sp>
      <p:sp>
        <p:nvSpPr>
          <p:cNvPr id="34" name="TextBox 33"/>
          <p:cNvSpPr txBox="1"/>
          <p:nvPr/>
        </p:nvSpPr>
        <p:spPr>
          <a:xfrm>
            <a:off x="6903720" y="4114800"/>
            <a:ext cx="4599432" cy="347472"/>
          </a:xfrm>
          <a:prstGeom prst="rect">
            <a:avLst/>
          </a:prstGeom>
          <a:noFill/>
        </p:spPr>
        <p:txBody>
          <a:bodyPr wrap="square" anchor="t" lIns="45720" rIns="45720" tIns="27432" bIns="27432"/>
          <a:lstStyle/>
          <a:p>
            <a:pPr algn="l">
              <a:spcAft>
                <a:spcPts val="400"/>
              </a:spcAft>
            </a:pPr>
            <a:r>
              <a:rPr sz="1350" b="0" i="0">
                <a:solidFill>
                  <a:srgbClr val="262626"/>
                </a:solidFill>
                <a:latin typeface="Times New Roman"/>
                <a:cs typeface="Times New Roman"/>
                <a:ea typeface="Times New Roman"/>
              </a:rPr>
              <a:t>No check for memorisation or size bias [12].</a:t>
            </a:r>
          </a:p>
        </p:txBody>
      </p:sp>
      <p:sp>
        <p:nvSpPr>
          <p:cNvPr id="35" name="Rounded Rectangle 34"/>
          <p:cNvSpPr/>
          <p:nvPr/>
        </p:nvSpPr>
        <p:spPr>
          <a:xfrm>
            <a:off x="6172200" y="4599432"/>
            <a:ext cx="5440680" cy="786384"/>
          </a:xfrm>
          <a:prstGeom prst="roundRect">
            <a:avLst>
              <a:gd name="adj" fmla="val 8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6300216" y="4764024"/>
            <a:ext cx="457200" cy="457200"/>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300" b="1" i="0">
                <a:solidFill>
                  <a:srgbClr val="002060"/>
                </a:solidFill>
                <a:latin typeface="Times New Roman"/>
                <a:cs typeface="Times New Roman"/>
                <a:ea typeface="Times New Roman"/>
              </a:rPr>
              <a:t>G4</a:t>
            </a:r>
          </a:p>
        </p:txBody>
      </p:sp>
      <p:sp>
        <p:nvSpPr>
          <p:cNvPr id="37" name="TextBox 36"/>
          <p:cNvSpPr txBox="1"/>
          <p:nvPr/>
        </p:nvSpPr>
        <p:spPr>
          <a:xfrm>
            <a:off x="6903720" y="4663440"/>
            <a:ext cx="4599432" cy="329184"/>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Hardware ignored</a:t>
            </a:r>
          </a:p>
        </p:txBody>
      </p:sp>
      <p:sp>
        <p:nvSpPr>
          <p:cNvPr id="38" name="TextBox 37"/>
          <p:cNvSpPr txBox="1"/>
          <p:nvPr/>
        </p:nvSpPr>
        <p:spPr>
          <a:xfrm>
            <a:off x="6903720" y="5001768"/>
            <a:ext cx="4599432" cy="347472"/>
          </a:xfrm>
          <a:prstGeom prst="rect">
            <a:avLst/>
          </a:prstGeom>
          <a:noFill/>
        </p:spPr>
        <p:txBody>
          <a:bodyPr wrap="square" anchor="t" lIns="45720" rIns="45720" tIns="27432" bIns="27432"/>
          <a:lstStyle/>
          <a:p>
            <a:pPr algn="l">
              <a:spcAft>
                <a:spcPts val="400"/>
              </a:spcAft>
            </a:pPr>
            <a:r>
              <a:rPr sz="1350" b="0" i="0">
                <a:solidFill>
                  <a:srgbClr val="262626"/>
                </a:solidFill>
                <a:latin typeface="Times New Roman"/>
                <a:cs typeface="Times New Roman"/>
                <a:ea typeface="Times New Roman"/>
              </a:rPr>
              <a:t>Latency on edge devices often not considered [18], [19].</a:t>
            </a:r>
          </a:p>
        </p:txBody>
      </p:sp>
      <p:sp>
        <p:nvSpPr>
          <p:cNvPr id="39" name="Rounded Rectangle 38"/>
          <p:cNvSpPr/>
          <p:nvPr/>
        </p:nvSpPr>
        <p:spPr>
          <a:xfrm>
            <a:off x="6172200" y="5486400"/>
            <a:ext cx="5440680" cy="786384"/>
          </a:xfrm>
          <a:prstGeom prst="roundRect">
            <a:avLst>
              <a:gd name="adj" fmla="val 8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300216" y="5650992"/>
            <a:ext cx="457200" cy="457200"/>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300" b="1" i="0">
                <a:solidFill>
                  <a:srgbClr val="002060"/>
                </a:solidFill>
                <a:latin typeface="Times New Roman"/>
                <a:cs typeface="Times New Roman"/>
                <a:ea typeface="Times New Roman"/>
              </a:rPr>
              <a:t>G5</a:t>
            </a:r>
          </a:p>
        </p:txBody>
      </p:sp>
      <p:sp>
        <p:nvSpPr>
          <p:cNvPr id="41" name="TextBox 40"/>
          <p:cNvSpPr txBox="1"/>
          <p:nvPr/>
        </p:nvSpPr>
        <p:spPr>
          <a:xfrm>
            <a:off x="6903720" y="5550408"/>
            <a:ext cx="4599432" cy="329184"/>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Unfair evaluation</a:t>
            </a:r>
          </a:p>
        </p:txBody>
      </p:sp>
      <p:sp>
        <p:nvSpPr>
          <p:cNvPr id="42" name="TextBox 41"/>
          <p:cNvSpPr txBox="1"/>
          <p:nvPr/>
        </p:nvSpPr>
        <p:spPr>
          <a:xfrm>
            <a:off x="6903720" y="5888736"/>
            <a:ext cx="4599432" cy="347472"/>
          </a:xfrm>
          <a:prstGeom prst="rect">
            <a:avLst/>
          </a:prstGeom>
          <a:noFill/>
        </p:spPr>
        <p:txBody>
          <a:bodyPr wrap="square" anchor="t" lIns="45720" rIns="45720" tIns="27432" bIns="27432"/>
          <a:lstStyle/>
          <a:p>
            <a:pPr algn="l">
              <a:spcAft>
                <a:spcPts val="400"/>
              </a:spcAft>
            </a:pPr>
            <a:r>
              <a:rPr sz="1350" b="0" i="0">
                <a:solidFill>
                  <a:srgbClr val="262626"/>
                </a:solidFill>
                <a:latin typeface="Times New Roman"/>
                <a:cs typeface="Times New Roman"/>
                <a:ea typeface="Times New Roman"/>
              </a:rPr>
              <a:t>Equal evaluations, not GPU-hours; few seeds [9],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DATA</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Dataset Description</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5</a:t>
            </a:r>
          </a:p>
        </p:txBody>
      </p:sp>
      <p:sp>
        <p:nvSpPr>
          <p:cNvPr id="6" name="Table 1 caption"/>
          <p:cNvSpPr txBox="1"/>
          <p:nvPr/>
        </p:nvSpPr>
        <p:spPr>
          <a:xfrm>
            <a:off x="548640" y="1444752"/>
            <a:ext cx="11064240" cy="256032"/>
          </a:xfrm>
          <a:prstGeom prst="rect">
            <a:avLst/>
          </a:prstGeom>
          <a:noFill/>
        </p:spPr>
        <p:txBody>
          <a:bodyPr wrap="square" anchor="t" lIns="0" rIns="0" tIns="27432" bIns="27432"/>
          <a:lstStyle/>
          <a:p>
            <a:pPr algn="ctr">
              <a:spcAft>
                <a:spcPts val="400"/>
              </a:spcAft>
            </a:pPr>
            <a:r>
              <a:rPr sz="1150" b="1" i="0">
                <a:solidFill>
                  <a:srgbClr val="002060"/>
                </a:solidFill>
                <a:latin typeface="Times New Roman"/>
                <a:cs typeface="Times New Roman"/>
                <a:ea typeface="Times New Roman"/>
              </a:rPr>
              <a:t>Table 1. </a:t>
            </a:r>
            <a:r>
              <a:rPr sz="1150" b="0" i="0">
                <a:solidFill>
                  <a:srgbClr val="002060"/>
                </a:solidFill>
                <a:latin typeface="Times New Roman"/>
                <a:cs typeface="Times New Roman"/>
                <a:ea typeface="Times New Roman"/>
              </a:rPr>
              <a:t>Benchmarks used in this study</a:t>
            </a:r>
          </a:p>
        </p:txBody>
      </p:sp>
      <p:graphicFrame>
        <p:nvGraphicFramePr>
          <p:cNvPr id="7" name="Table 6"/>
          <p:cNvGraphicFramePr>
            <a:graphicFrameLocks noGrp="1"/>
          </p:cNvGraphicFramePr>
          <p:nvPr/>
        </p:nvGraphicFramePr>
        <p:xfrm>
          <a:off x="548640" y="1719072"/>
          <a:ext cx="11064240" cy="2286000"/>
        </p:xfrm>
        <a:graphic>
          <a:graphicData uri="http://schemas.openxmlformats.org/drawingml/2006/table">
            <a:tbl>
              <a:tblPr firstRow="1" bandRow="0">
                <a:tableStyleId>{5C22544A-7EE6-4342-B048-85BDC9FD1C3A}</a:tableStyleId>
              </a:tblPr>
              <a:tblGrid>
                <a:gridCol w="2331720"/>
                <a:gridCol w="1828800"/>
                <a:gridCol w="1417320"/>
                <a:gridCol w="2103120"/>
                <a:gridCol w="2011680"/>
                <a:gridCol w="1371600"/>
              </a:tblGrid>
              <a:tr h="457200">
                <a:tc>
                  <a:txBody>
                    <a:bodyPr wrap="square"/>
                    <a:lstStyle/>
                    <a:p>
                      <a:r>
                        <a:rPr sz="1300" b="1" i="0">
                          <a:solidFill>
                            <a:srgbClr val="FFFFFF"/>
                          </a:solidFill>
                          <a:latin typeface="Times New Roman"/>
                          <a:cs typeface="Times New Roman"/>
                          <a:ea typeface="Times New Roman"/>
                        </a:rPr>
                        <a:t>Benchmark</a:t>
                      </a:r>
                    </a:p>
                  </a:txBody>
                  <a:tcPr marL="54864" marR="54864" marT="18288" marB="18288" anchor="ctr">
                    <a:lnL w="15875" cap="flat" cmpd="sng" algn="ctr">
                      <a:solidFill>
                        <a:srgbClr val="1F3864"/>
                      </a:solidFill>
                      <a:prstDash val="solid"/>
                    </a:lnL>
                    <a:lnT w="15875" cap="flat" cmpd="sng" algn="ctr">
                      <a:solidFill>
                        <a:srgbClr val="1F3864"/>
                      </a:solidFill>
                      <a:prstDash val="solid"/>
                    </a:lnT>
                    <a:solidFill>
                      <a:srgbClr val="1F3864"/>
                    </a:solidFill>
                  </a:tcPr>
                </a:tc>
                <a:tc>
                  <a:txBody>
                    <a:bodyPr wrap="square"/>
                    <a:lstStyle/>
                    <a:p>
                      <a:pPr algn="ctr"/>
                      <a:r>
                        <a:rPr sz="1300" b="1" i="0">
                          <a:solidFill>
                            <a:srgbClr val="FFFFFF"/>
                          </a:solidFill>
                          <a:latin typeface="Times New Roman"/>
                          <a:cs typeface="Times New Roman"/>
                          <a:ea typeface="Times New Roman"/>
                        </a:rPr>
                        <a:t>Search space</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300" b="1" i="0">
                          <a:solidFill>
                            <a:srgbClr val="FFFFFF"/>
                          </a:solidFill>
                          <a:latin typeface="Times New Roman"/>
                          <a:cs typeface="Times New Roman"/>
                          <a:ea typeface="Times New Roman"/>
                        </a:rPr>
                        <a:t># Architectures</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300" b="1" i="0">
                          <a:solidFill>
                            <a:srgbClr val="FFFFFF"/>
                          </a:solidFill>
                          <a:latin typeface="Times New Roman"/>
                          <a:cs typeface="Times New Roman"/>
                          <a:ea typeface="Times New Roman"/>
                        </a:rPr>
                        <a:t>Image datasets</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300" b="1" i="0">
                          <a:solidFill>
                            <a:srgbClr val="FFFFFF"/>
                          </a:solidFill>
                          <a:latin typeface="Times New Roman"/>
                          <a:cs typeface="Times New Roman"/>
                          <a:ea typeface="Times New Roman"/>
                        </a:rPr>
                        <a:t>What it gives us</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300" b="1" i="0">
                          <a:solidFill>
                            <a:srgbClr val="FFFFFF"/>
                          </a:solidFill>
                          <a:latin typeface="Times New Roman"/>
                          <a:cs typeface="Times New Roman"/>
                          <a:ea typeface="Times New Roman"/>
                        </a:rPr>
                        <a:t>Role</a:t>
                      </a:r>
                    </a:p>
                  </a:txBody>
                  <a:tcPr marL="54864" marR="54864" marT="18288" marB="18288" anchor="ctr">
                    <a:lnR w="15875" cap="flat" cmpd="sng" algn="ctr">
                      <a:solidFill>
                        <a:srgbClr val="1F3864"/>
                      </a:solidFill>
                      <a:prstDash val="solid"/>
                    </a:lnR>
                    <a:lnT w="15875" cap="flat" cmpd="sng" algn="ctr">
                      <a:solidFill>
                        <a:srgbClr val="1F3864"/>
                      </a:solidFill>
                      <a:prstDash val="solid"/>
                    </a:lnT>
                    <a:solidFill>
                      <a:srgbClr val="1F3864"/>
                    </a:solidFill>
                  </a:tcPr>
                </a:tc>
              </a:tr>
              <a:tr h="457200">
                <a:tc>
                  <a:txBody>
                    <a:bodyPr wrap="square"/>
                    <a:lstStyle/>
                    <a:p>
                      <a:r>
                        <a:rPr sz="1300" b="1" i="0">
                          <a:solidFill>
                            <a:srgbClr val="262626"/>
                          </a:solidFill>
                          <a:latin typeface="Times New Roman"/>
                          <a:cs typeface="Times New Roman"/>
                          <a:ea typeface="Times New Roman"/>
                        </a:rPr>
                        <a:t>NAS-Bench-201 [20]</a:t>
                      </a:r>
                    </a:p>
                  </a:txBody>
                  <a:tcPr marL="54864" marR="54864" marT="18288" marB="18288" anchor="ctr">
                    <a:lnL w="15875" cap="flat" cmpd="sng" algn="ctr">
                      <a:solidFill>
                        <a:srgbClr val="1F3864"/>
                      </a:solidFill>
                      <a:prstDash val="solid"/>
                    </a:lnL>
                    <a:solidFill>
                      <a:srgbClr val="E6EEF8"/>
                    </a:solidFill>
                  </a:tcPr>
                </a:tc>
                <a:tc>
                  <a:txBody>
                    <a:bodyPr wrap="square"/>
                    <a:lstStyle/>
                    <a:p>
                      <a:pPr algn="ctr"/>
                      <a:r>
                        <a:rPr sz="1300" b="0" i="0">
                          <a:solidFill>
                            <a:srgbClr val="262626"/>
                          </a:solidFill>
                          <a:latin typeface="Times New Roman"/>
                          <a:cs typeface="Times New Roman"/>
                          <a:ea typeface="Times New Roman"/>
                        </a:rPr>
                        <a:t>Cell: 6 edges × 5 ops</a:t>
                      </a:r>
                    </a:p>
                  </a:txBody>
                  <a:tcPr marL="54864" marR="54864" marT="18288" marB="18288" anchor="ctr">
                    <a:solidFill>
                      <a:srgbClr val="E6EEF8"/>
                    </a:solidFill>
                  </a:tcPr>
                </a:tc>
                <a:tc>
                  <a:txBody>
                    <a:bodyPr wrap="square"/>
                    <a:lstStyle/>
                    <a:p>
                      <a:pPr algn="ctr"/>
                      <a:r>
                        <a:rPr sz="1300" b="0" i="0">
                          <a:solidFill>
                            <a:srgbClr val="262626"/>
                          </a:solidFill>
                          <a:latin typeface="Times New Roman"/>
                          <a:cs typeface="Times New Roman"/>
                          <a:ea typeface="Times New Roman"/>
                        </a:rPr>
                        <a:t>15,625</a:t>
                      </a:r>
                    </a:p>
                  </a:txBody>
                  <a:tcPr marL="54864" marR="54864" marT="18288" marB="18288" anchor="ctr">
                    <a:solidFill>
                      <a:srgbClr val="E6EEF8"/>
                    </a:solidFill>
                  </a:tcPr>
                </a:tc>
                <a:tc>
                  <a:txBody>
                    <a:bodyPr wrap="square"/>
                    <a:lstStyle/>
                    <a:p>
                      <a:pPr algn="ctr"/>
                      <a:r>
                        <a:rPr sz="1300" b="0" i="0">
                          <a:solidFill>
                            <a:srgbClr val="262626"/>
                          </a:solidFill>
                          <a:latin typeface="Times New Roman"/>
                          <a:cs typeface="Times New Roman"/>
                          <a:ea typeface="Times New Roman"/>
                        </a:rPr>
                        <a:t>CIFAR-10/100, IN16-120</a:t>
                      </a:r>
                    </a:p>
                  </a:txBody>
                  <a:tcPr marL="54864" marR="54864" marT="18288" marB="18288" anchor="ctr">
                    <a:solidFill>
                      <a:srgbClr val="E6EEF8"/>
                    </a:solidFill>
                  </a:tcPr>
                </a:tc>
                <a:tc>
                  <a:txBody>
                    <a:bodyPr wrap="square"/>
                    <a:lstStyle/>
                    <a:p>
                      <a:pPr algn="ctr"/>
                      <a:r>
                        <a:rPr sz="1300" b="0" i="0">
                          <a:solidFill>
                            <a:srgbClr val="262626"/>
                          </a:solidFill>
                          <a:latin typeface="Times New Roman"/>
                          <a:cs typeface="Times New Roman"/>
                          <a:ea typeface="Times New Roman"/>
                        </a:rPr>
                        <a:t>Accuracy + train time</a:t>
                      </a:r>
                    </a:p>
                  </a:txBody>
                  <a:tcPr marL="54864" marR="54864" marT="18288" marB="18288" anchor="ctr">
                    <a:solidFill>
                      <a:srgbClr val="E6EEF8"/>
                    </a:solidFill>
                  </a:tcPr>
                </a:tc>
                <a:tc>
                  <a:txBody>
                    <a:bodyPr wrap="square"/>
                    <a:lstStyle/>
                    <a:p>
                      <a:pPr algn="ctr"/>
                      <a:r>
                        <a:rPr sz="1300" b="0" i="0">
                          <a:solidFill>
                            <a:srgbClr val="262626"/>
                          </a:solidFill>
                          <a:latin typeface="Times New Roman"/>
                          <a:cs typeface="Times New Roman"/>
                          <a:ea typeface="Times New Roman"/>
                        </a:rPr>
                        <a:t>Main</a:t>
                      </a:r>
                    </a:p>
                  </a:txBody>
                  <a:tcPr marL="54864" marR="54864" marT="18288" marB="18288" anchor="ctr">
                    <a:lnR w="15875" cap="flat" cmpd="sng" algn="ctr">
                      <a:solidFill>
                        <a:srgbClr val="1F3864"/>
                      </a:solidFill>
                      <a:prstDash val="solid"/>
                    </a:lnR>
                    <a:solidFill>
                      <a:srgbClr val="E6EEF8"/>
                    </a:solidFill>
                  </a:tcPr>
                </a:tc>
              </a:tr>
              <a:tr h="457200">
                <a:tc>
                  <a:txBody>
                    <a:bodyPr wrap="square"/>
                    <a:lstStyle/>
                    <a:p>
                      <a:r>
                        <a:rPr sz="1300" b="1" i="0">
                          <a:solidFill>
                            <a:srgbClr val="262626"/>
                          </a:solidFill>
                          <a:latin typeface="Times New Roman"/>
                          <a:cs typeface="Times New Roman"/>
                          <a:ea typeface="Times New Roman"/>
                        </a:rPr>
                        <a:t>NAS-Bench-101 [21]</a:t>
                      </a:r>
                    </a:p>
                  </a:txBody>
                  <a:tcPr marL="54864" marR="54864" marT="18288" marB="18288" anchor="ctr">
                    <a:lnL w="15875" cap="flat" cmpd="sng" algn="ctr">
                      <a:solidFill>
                        <a:srgbClr val="1F3864"/>
                      </a:solidFill>
                      <a:prstDash val="solid"/>
                    </a:lnL>
                    <a:solidFill>
                      <a:srgbClr val="F3F7FC"/>
                    </a:solidFill>
                  </a:tcPr>
                </a:tc>
                <a:tc>
                  <a:txBody>
                    <a:bodyPr wrap="square"/>
                    <a:lstStyle/>
                    <a:p>
                      <a:pPr algn="ctr"/>
                      <a:r>
                        <a:rPr sz="1300" b="0" i="0">
                          <a:solidFill>
                            <a:srgbClr val="262626"/>
                          </a:solidFill>
                          <a:latin typeface="Times New Roman"/>
                          <a:cs typeface="Times New Roman"/>
                          <a:ea typeface="Times New Roman"/>
                        </a:rPr>
                        <a:t>Cell: ≤ 7 nodes</a:t>
                      </a:r>
                    </a:p>
                  </a:txBody>
                  <a:tcPr marL="54864" marR="54864" marT="18288" marB="18288" anchor="ctr">
                    <a:solidFill>
                      <a:srgbClr val="F3F7FC"/>
                    </a:solidFill>
                  </a:tcPr>
                </a:tc>
                <a:tc>
                  <a:txBody>
                    <a:bodyPr wrap="square"/>
                    <a:lstStyle/>
                    <a:p>
                      <a:pPr algn="ctr"/>
                      <a:r>
                        <a:rPr sz="1300" b="0" i="0">
                          <a:solidFill>
                            <a:srgbClr val="262626"/>
                          </a:solidFill>
                          <a:latin typeface="Times New Roman"/>
                          <a:cs typeface="Times New Roman"/>
                          <a:ea typeface="Times New Roman"/>
                        </a:rPr>
                        <a:t>423,624</a:t>
                      </a:r>
                    </a:p>
                  </a:txBody>
                  <a:tcPr marL="54864" marR="54864" marT="18288" marB="18288" anchor="ctr">
                    <a:solidFill>
                      <a:srgbClr val="F3F7FC"/>
                    </a:solidFill>
                  </a:tcPr>
                </a:tc>
                <a:tc>
                  <a:txBody>
                    <a:bodyPr wrap="square"/>
                    <a:lstStyle/>
                    <a:p>
                      <a:pPr algn="ctr"/>
                      <a:r>
                        <a:rPr sz="1300" b="0" i="0">
                          <a:solidFill>
                            <a:srgbClr val="262626"/>
                          </a:solidFill>
                          <a:latin typeface="Times New Roman"/>
                          <a:cs typeface="Times New Roman"/>
                          <a:ea typeface="Times New Roman"/>
                        </a:rPr>
                        <a:t>CIFAR-10</a:t>
                      </a:r>
                    </a:p>
                  </a:txBody>
                  <a:tcPr marL="54864" marR="54864" marT="18288" marB="18288" anchor="ctr">
                    <a:solidFill>
                      <a:srgbClr val="F3F7FC"/>
                    </a:solidFill>
                  </a:tcPr>
                </a:tc>
                <a:tc>
                  <a:txBody>
                    <a:bodyPr wrap="square"/>
                    <a:lstStyle/>
                    <a:p>
                      <a:pPr algn="ctr"/>
                      <a:r>
                        <a:rPr sz="1300" b="0" i="0">
                          <a:solidFill>
                            <a:srgbClr val="262626"/>
                          </a:solidFill>
                          <a:latin typeface="Times New Roman"/>
                          <a:cs typeface="Times New Roman"/>
                          <a:ea typeface="Times New Roman"/>
                        </a:rPr>
                        <a:t>Accuracy + train time</a:t>
                      </a:r>
                    </a:p>
                  </a:txBody>
                  <a:tcPr marL="54864" marR="54864" marT="18288" marB="18288" anchor="ctr">
                    <a:solidFill>
                      <a:srgbClr val="F3F7FC"/>
                    </a:solidFill>
                  </a:tcPr>
                </a:tc>
                <a:tc>
                  <a:txBody>
                    <a:bodyPr wrap="square"/>
                    <a:lstStyle/>
                    <a:p>
                      <a:pPr algn="ctr"/>
                      <a:r>
                        <a:rPr sz="1300" b="0" i="0">
                          <a:solidFill>
                            <a:srgbClr val="262626"/>
                          </a:solidFill>
                          <a:latin typeface="Times New Roman"/>
                          <a:cs typeface="Times New Roman"/>
                          <a:ea typeface="Times New Roman"/>
                        </a:rPr>
                        <a:t>Transfer</a:t>
                      </a:r>
                    </a:p>
                  </a:txBody>
                  <a:tcPr marL="54864" marR="54864" marT="18288" marB="18288" anchor="ctr">
                    <a:lnR w="15875" cap="flat" cmpd="sng" algn="ctr">
                      <a:solidFill>
                        <a:srgbClr val="1F3864"/>
                      </a:solidFill>
                      <a:prstDash val="solid"/>
                    </a:lnR>
                    <a:solidFill>
                      <a:srgbClr val="F3F7FC"/>
                    </a:solidFill>
                  </a:tcPr>
                </a:tc>
              </a:tr>
              <a:tr h="457200">
                <a:tc>
                  <a:txBody>
                    <a:bodyPr wrap="square"/>
                    <a:lstStyle/>
                    <a:p>
                      <a:r>
                        <a:rPr sz="1300" b="1" i="0">
                          <a:solidFill>
                            <a:srgbClr val="262626"/>
                          </a:solidFill>
                          <a:latin typeface="Times New Roman"/>
                          <a:cs typeface="Times New Roman"/>
                          <a:ea typeface="Times New Roman"/>
                        </a:rPr>
                        <a:t>NATS-Bench SSS [22]</a:t>
                      </a:r>
                    </a:p>
                  </a:txBody>
                  <a:tcPr marL="54864" marR="54864" marT="18288" marB="18288" anchor="ctr">
                    <a:lnL w="15875" cap="flat" cmpd="sng" algn="ctr">
                      <a:solidFill>
                        <a:srgbClr val="1F3864"/>
                      </a:solidFill>
                      <a:prstDash val="solid"/>
                    </a:lnL>
                    <a:solidFill>
                      <a:srgbClr val="E6EEF8"/>
                    </a:solidFill>
                  </a:tcPr>
                </a:tc>
                <a:tc>
                  <a:txBody>
                    <a:bodyPr wrap="square"/>
                    <a:lstStyle/>
                    <a:p>
                      <a:pPr algn="ctr"/>
                      <a:r>
                        <a:rPr sz="1300" b="0" i="0">
                          <a:solidFill>
                            <a:srgbClr val="262626"/>
                          </a:solidFill>
                          <a:latin typeface="Times New Roman"/>
                          <a:cs typeface="Times New Roman"/>
                          <a:ea typeface="Times New Roman"/>
                        </a:rPr>
                        <a:t>Channel widths</a:t>
                      </a:r>
                    </a:p>
                  </a:txBody>
                  <a:tcPr marL="54864" marR="54864" marT="18288" marB="18288" anchor="ctr">
                    <a:solidFill>
                      <a:srgbClr val="E6EEF8"/>
                    </a:solidFill>
                  </a:tcPr>
                </a:tc>
                <a:tc>
                  <a:txBody>
                    <a:bodyPr wrap="square"/>
                    <a:lstStyle/>
                    <a:p>
                      <a:pPr algn="ctr"/>
                      <a:r>
                        <a:rPr sz="1300" b="0" i="0">
                          <a:solidFill>
                            <a:srgbClr val="262626"/>
                          </a:solidFill>
                          <a:latin typeface="Times New Roman"/>
                          <a:cs typeface="Times New Roman"/>
                          <a:ea typeface="Times New Roman"/>
                        </a:rPr>
                        <a:t>32,768</a:t>
                      </a:r>
                    </a:p>
                  </a:txBody>
                  <a:tcPr marL="54864" marR="54864" marT="18288" marB="18288" anchor="ctr">
                    <a:solidFill>
                      <a:srgbClr val="E6EEF8"/>
                    </a:solidFill>
                  </a:tcPr>
                </a:tc>
                <a:tc>
                  <a:txBody>
                    <a:bodyPr wrap="square"/>
                    <a:lstStyle/>
                    <a:p>
                      <a:pPr algn="ctr"/>
                      <a:r>
                        <a:rPr sz="1300" b="0" i="0">
                          <a:solidFill>
                            <a:srgbClr val="262626"/>
                          </a:solidFill>
                          <a:latin typeface="Times New Roman"/>
                          <a:cs typeface="Times New Roman"/>
                          <a:ea typeface="Times New Roman"/>
                        </a:rPr>
                        <a:t>CIFAR-10/100, IN16-120</a:t>
                      </a:r>
                    </a:p>
                  </a:txBody>
                  <a:tcPr marL="54864" marR="54864" marT="18288" marB="18288" anchor="ctr">
                    <a:solidFill>
                      <a:srgbClr val="E6EEF8"/>
                    </a:solidFill>
                  </a:tcPr>
                </a:tc>
                <a:tc>
                  <a:txBody>
                    <a:bodyPr wrap="square"/>
                    <a:lstStyle/>
                    <a:p>
                      <a:pPr algn="ctr"/>
                      <a:r>
                        <a:rPr sz="1300" b="0" i="0">
                          <a:solidFill>
                            <a:srgbClr val="262626"/>
                          </a:solidFill>
                          <a:latin typeface="Times New Roman"/>
                          <a:cs typeface="Times New Roman"/>
                          <a:ea typeface="Times New Roman"/>
                        </a:rPr>
                        <a:t>Accuracy + train time</a:t>
                      </a:r>
                    </a:p>
                  </a:txBody>
                  <a:tcPr marL="54864" marR="54864" marT="18288" marB="18288" anchor="ctr">
                    <a:solidFill>
                      <a:srgbClr val="E6EEF8"/>
                    </a:solidFill>
                  </a:tcPr>
                </a:tc>
                <a:tc>
                  <a:txBody>
                    <a:bodyPr wrap="square"/>
                    <a:lstStyle/>
                    <a:p>
                      <a:pPr algn="ctr"/>
                      <a:r>
                        <a:rPr sz="1300" b="0" i="0">
                          <a:solidFill>
                            <a:srgbClr val="262626"/>
                          </a:solidFill>
                          <a:latin typeface="Times New Roman"/>
                          <a:cs typeface="Times New Roman"/>
                          <a:ea typeface="Times New Roman"/>
                        </a:rPr>
                        <a:t>3rd benchmark</a:t>
                      </a:r>
                    </a:p>
                  </a:txBody>
                  <a:tcPr marL="54864" marR="54864" marT="18288" marB="18288" anchor="ctr">
                    <a:lnR w="15875" cap="flat" cmpd="sng" algn="ctr">
                      <a:solidFill>
                        <a:srgbClr val="1F3864"/>
                      </a:solidFill>
                      <a:prstDash val="solid"/>
                    </a:lnR>
                    <a:solidFill>
                      <a:srgbClr val="E6EEF8"/>
                    </a:solidFill>
                  </a:tcPr>
                </a:tc>
              </a:tr>
              <a:tr h="457200">
                <a:tc>
                  <a:txBody>
                    <a:bodyPr wrap="square"/>
                    <a:lstStyle/>
                    <a:p>
                      <a:r>
                        <a:rPr sz="1300" b="1" i="0">
                          <a:solidFill>
                            <a:srgbClr val="262626"/>
                          </a:solidFill>
                          <a:latin typeface="Times New Roman"/>
                          <a:cs typeface="Times New Roman"/>
                          <a:ea typeface="Times New Roman"/>
                        </a:rPr>
                        <a:t>HW-NAS-Bench [13]</a:t>
                      </a:r>
                    </a:p>
                  </a:txBody>
                  <a:tcPr marL="54864" marR="54864" marT="18288" marB="18288" anchor="ctr">
                    <a:lnL w="15875" cap="flat" cmpd="sng" algn="ctr">
                      <a:solidFill>
                        <a:srgbClr val="1F3864"/>
                      </a:solidFill>
                      <a:prstDash val="solid"/>
                    </a:lnL>
                    <a:lnB w="15875" cap="flat" cmpd="sng" algn="ctr">
                      <a:solidFill>
                        <a:srgbClr val="1F3864"/>
                      </a:solidFill>
                      <a:prstDash val="solid"/>
                    </a:lnB>
                    <a:solidFill>
                      <a:srgbClr val="F3F7FC"/>
                    </a:solidFill>
                  </a:tcPr>
                </a:tc>
                <a:tc>
                  <a:txBody>
                    <a:bodyPr wrap="square"/>
                    <a:lstStyle/>
                    <a:p>
                      <a:pPr algn="ctr"/>
                      <a:r>
                        <a:rPr sz="1300" b="0" i="0">
                          <a:solidFill>
                            <a:srgbClr val="262626"/>
                          </a:solidFill>
                          <a:latin typeface="Times New Roman"/>
                          <a:cs typeface="Times New Roman"/>
                          <a:ea typeface="Times New Roman"/>
                        </a:rPr>
                        <a:t>NB201 cells</a:t>
                      </a:r>
                    </a:p>
                  </a:txBody>
                  <a:tcPr marL="54864" marR="54864" marT="18288" marB="18288" anchor="ctr">
                    <a:lnB w="15875" cap="flat" cmpd="sng" algn="ctr">
                      <a:solidFill>
                        <a:srgbClr val="1F3864"/>
                      </a:solidFill>
                      <a:prstDash val="solid"/>
                    </a:lnB>
                    <a:solidFill>
                      <a:srgbClr val="F3F7FC"/>
                    </a:solidFill>
                  </a:tcPr>
                </a:tc>
                <a:tc>
                  <a:txBody>
                    <a:bodyPr wrap="square"/>
                    <a:lstStyle/>
                    <a:p>
                      <a:pPr algn="ctr"/>
                      <a:r>
                        <a:rPr sz="1300" b="0" i="0">
                          <a:solidFill>
                            <a:srgbClr val="262626"/>
                          </a:solidFill>
                          <a:latin typeface="Times New Roman"/>
                          <a:cs typeface="Times New Roman"/>
                          <a:ea typeface="Times New Roman"/>
                        </a:rPr>
                        <a:t>15,625 × 6</a:t>
                      </a:r>
                    </a:p>
                  </a:txBody>
                  <a:tcPr marL="54864" marR="54864" marT="18288" marB="18288" anchor="ctr">
                    <a:lnB w="15875" cap="flat" cmpd="sng" algn="ctr">
                      <a:solidFill>
                        <a:srgbClr val="1F3864"/>
                      </a:solidFill>
                      <a:prstDash val="solid"/>
                    </a:lnB>
                    <a:solidFill>
                      <a:srgbClr val="F3F7FC"/>
                    </a:solidFill>
                  </a:tcPr>
                </a:tc>
                <a:tc>
                  <a:txBody>
                    <a:bodyPr wrap="square"/>
                    <a:lstStyle/>
                    <a:p>
                      <a:pPr algn="ctr"/>
                      <a:r>
                        <a:rPr sz="1300" b="0" i="0">
                          <a:solidFill>
                            <a:srgbClr val="262626"/>
                          </a:solidFill>
                          <a:latin typeface="Times New Roman"/>
                          <a:cs typeface="Times New Roman"/>
                          <a:ea typeface="Times New Roman"/>
                        </a:rPr>
                        <a:t>CIFAR-10</a:t>
                      </a:r>
                    </a:p>
                  </a:txBody>
                  <a:tcPr marL="54864" marR="54864" marT="18288" marB="18288" anchor="ctr">
                    <a:lnB w="15875" cap="flat" cmpd="sng" algn="ctr">
                      <a:solidFill>
                        <a:srgbClr val="1F3864"/>
                      </a:solidFill>
                      <a:prstDash val="solid"/>
                    </a:lnB>
                    <a:solidFill>
                      <a:srgbClr val="F3F7FC"/>
                    </a:solidFill>
                  </a:tcPr>
                </a:tc>
                <a:tc>
                  <a:txBody>
                    <a:bodyPr wrap="square"/>
                    <a:lstStyle/>
                    <a:p>
                      <a:pPr algn="ctr"/>
                      <a:r>
                        <a:rPr sz="1300" b="0" i="0">
                          <a:solidFill>
                            <a:srgbClr val="262626"/>
                          </a:solidFill>
                          <a:latin typeface="Times New Roman"/>
                          <a:cs typeface="Times New Roman"/>
                          <a:ea typeface="Times New Roman"/>
                        </a:rPr>
                        <a:t>Latency on 6 edge devices</a:t>
                      </a:r>
                    </a:p>
                  </a:txBody>
                  <a:tcPr marL="54864" marR="54864" marT="18288" marB="18288" anchor="ctr">
                    <a:lnB w="15875" cap="flat" cmpd="sng" algn="ctr">
                      <a:solidFill>
                        <a:srgbClr val="1F3864"/>
                      </a:solidFill>
                      <a:prstDash val="solid"/>
                    </a:lnB>
                    <a:solidFill>
                      <a:srgbClr val="F3F7FC"/>
                    </a:solidFill>
                  </a:tcPr>
                </a:tc>
                <a:tc>
                  <a:txBody>
                    <a:bodyPr wrap="square"/>
                    <a:lstStyle/>
                    <a:p>
                      <a:pPr algn="ctr"/>
                      <a:r>
                        <a:rPr sz="1300" b="0" i="0">
                          <a:solidFill>
                            <a:srgbClr val="262626"/>
                          </a:solidFill>
                          <a:latin typeface="Times New Roman"/>
                          <a:cs typeface="Times New Roman"/>
                          <a:ea typeface="Times New Roman"/>
                        </a:rPr>
                        <a:t>Hardware</a:t>
                      </a:r>
                    </a:p>
                  </a:txBody>
                  <a:tcPr marL="54864" marR="54864" marT="18288" marB="18288" anchor="ctr">
                    <a:lnR w="15875" cap="flat" cmpd="sng" algn="ctr">
                      <a:solidFill>
                        <a:srgbClr val="1F3864"/>
                      </a:solidFill>
                      <a:prstDash val="solid"/>
                    </a:lnR>
                    <a:lnB w="15875" cap="flat" cmpd="sng" algn="ctr">
                      <a:solidFill>
                        <a:srgbClr val="1F3864"/>
                      </a:solidFill>
                      <a:prstDash val="solid"/>
                    </a:lnB>
                    <a:solidFill>
                      <a:srgbClr val="F3F7FC"/>
                    </a:solidFill>
                  </a:tcPr>
                </a:tc>
              </a:tr>
            </a:tbl>
          </a:graphicData>
        </a:graphic>
      </p:graphicFrame>
      <p:sp>
        <p:nvSpPr>
          <p:cNvPr id="8" name="Table 2 caption"/>
          <p:cNvSpPr txBox="1"/>
          <p:nvPr/>
        </p:nvSpPr>
        <p:spPr>
          <a:xfrm>
            <a:off x="548640" y="4114800"/>
            <a:ext cx="4160520" cy="256032"/>
          </a:xfrm>
          <a:prstGeom prst="rect">
            <a:avLst/>
          </a:prstGeom>
          <a:noFill/>
        </p:spPr>
        <p:txBody>
          <a:bodyPr wrap="square" anchor="t" lIns="0" rIns="0" tIns="27432" bIns="27432"/>
          <a:lstStyle/>
          <a:p>
            <a:pPr algn="ctr">
              <a:spcAft>
                <a:spcPts val="400"/>
              </a:spcAft>
            </a:pPr>
            <a:r>
              <a:rPr sz="1150" b="1" i="0">
                <a:solidFill>
                  <a:srgbClr val="002060"/>
                </a:solidFill>
                <a:latin typeface="Times New Roman"/>
                <a:cs typeface="Times New Roman"/>
                <a:ea typeface="Times New Roman"/>
              </a:rPr>
              <a:t>Table 2. </a:t>
            </a:r>
            <a:r>
              <a:rPr sz="1150" b="0" i="0">
                <a:solidFill>
                  <a:srgbClr val="002060"/>
                </a:solidFill>
                <a:latin typeface="Times New Roman"/>
                <a:cs typeface="Times New Roman"/>
                <a:ea typeface="Times New Roman"/>
              </a:rPr>
              <a:t>Image datasets behind the benchmarks</a:t>
            </a:r>
          </a:p>
        </p:txBody>
      </p:sp>
      <p:graphicFrame>
        <p:nvGraphicFramePr>
          <p:cNvPr id="9" name="Table 8"/>
          <p:cNvGraphicFramePr>
            <a:graphicFrameLocks noGrp="1"/>
          </p:cNvGraphicFramePr>
          <p:nvPr/>
        </p:nvGraphicFramePr>
        <p:xfrm>
          <a:off x="548640" y="4389120"/>
          <a:ext cx="4160520" cy="1243584"/>
        </p:xfrm>
        <a:graphic>
          <a:graphicData uri="http://schemas.openxmlformats.org/drawingml/2006/table">
            <a:tbl>
              <a:tblPr firstRow="1" bandRow="0">
                <a:tableStyleId>{5C22544A-7EE6-4342-B048-85BDC9FD1C3A}</a:tableStyleId>
              </a:tblPr>
              <a:tblGrid>
                <a:gridCol w="1691640"/>
                <a:gridCol w="685800"/>
                <a:gridCol w="777240"/>
                <a:gridCol w="1005840"/>
              </a:tblGrid>
              <a:tr h="310896">
                <a:tc>
                  <a:txBody>
                    <a:bodyPr wrap="square"/>
                    <a:lstStyle/>
                    <a:p>
                      <a:r>
                        <a:rPr sz="1200" b="1" i="0">
                          <a:solidFill>
                            <a:srgbClr val="FFFFFF"/>
                          </a:solidFill>
                          <a:latin typeface="Times New Roman"/>
                          <a:cs typeface="Times New Roman"/>
                          <a:ea typeface="Times New Roman"/>
                        </a:rPr>
                        <a:t>Image dataset</a:t>
                      </a:r>
                    </a:p>
                  </a:txBody>
                  <a:tcPr marL="54864" marR="54864" marT="18288" marB="18288" anchor="ctr">
                    <a:lnL w="15875" cap="flat" cmpd="sng" algn="ctr">
                      <a:solidFill>
                        <a:srgbClr val="1F3864"/>
                      </a:solidFill>
                      <a:prstDash val="solid"/>
                    </a:lnL>
                    <a:lnT w="15875" cap="flat" cmpd="sng" algn="ctr">
                      <a:solidFill>
                        <a:srgbClr val="1F3864"/>
                      </a:solidFill>
                      <a:prstDash val="solid"/>
                    </a:lnT>
                    <a:solidFill>
                      <a:srgbClr val="1F3864"/>
                    </a:solidFill>
                  </a:tcPr>
                </a:tc>
                <a:tc>
                  <a:txBody>
                    <a:bodyPr wrap="square"/>
                    <a:lstStyle/>
                    <a:p>
                      <a:pPr algn="ctr"/>
                      <a:r>
                        <a:rPr sz="1200" b="1" i="0">
                          <a:solidFill>
                            <a:srgbClr val="FFFFFF"/>
                          </a:solidFill>
                          <a:latin typeface="Times New Roman"/>
                          <a:cs typeface="Times New Roman"/>
                          <a:ea typeface="Times New Roman"/>
                        </a:rPr>
                        <a:t>Classes</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200" b="1" i="0">
                          <a:solidFill>
                            <a:srgbClr val="FFFFFF"/>
                          </a:solidFill>
                          <a:latin typeface="Times New Roman"/>
                          <a:cs typeface="Times New Roman"/>
                          <a:ea typeface="Times New Roman"/>
                        </a:rPr>
                        <a:t>Size</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200" b="1" i="0">
                          <a:solidFill>
                            <a:srgbClr val="FFFFFF"/>
                          </a:solidFill>
                          <a:latin typeface="Times New Roman"/>
                          <a:cs typeface="Times New Roman"/>
                          <a:ea typeface="Times New Roman"/>
                        </a:rPr>
                        <a:t>Images</a:t>
                      </a:r>
                    </a:p>
                  </a:txBody>
                  <a:tcPr marL="54864" marR="54864" marT="18288" marB="18288" anchor="ctr">
                    <a:lnR w="15875" cap="flat" cmpd="sng" algn="ctr">
                      <a:solidFill>
                        <a:srgbClr val="1F3864"/>
                      </a:solidFill>
                      <a:prstDash val="solid"/>
                    </a:lnR>
                    <a:lnT w="15875" cap="flat" cmpd="sng" algn="ctr">
                      <a:solidFill>
                        <a:srgbClr val="1F3864"/>
                      </a:solidFill>
                      <a:prstDash val="solid"/>
                    </a:lnT>
                    <a:solidFill>
                      <a:srgbClr val="1F3864"/>
                    </a:solidFill>
                  </a:tcPr>
                </a:tc>
              </a:tr>
              <a:tr h="310896">
                <a:tc>
                  <a:txBody>
                    <a:bodyPr wrap="square"/>
                    <a:lstStyle/>
                    <a:p>
                      <a:r>
                        <a:rPr sz="1200" b="1" i="0">
                          <a:solidFill>
                            <a:srgbClr val="262626"/>
                          </a:solidFill>
                          <a:latin typeface="Times New Roman"/>
                          <a:cs typeface="Times New Roman"/>
                          <a:ea typeface="Times New Roman"/>
                        </a:rPr>
                        <a:t>CIFAR-10 [23]</a:t>
                      </a:r>
                    </a:p>
                  </a:txBody>
                  <a:tcPr marL="54864" marR="54864" marT="18288" marB="18288" anchor="ctr">
                    <a:lnL w="15875" cap="flat" cmpd="sng" algn="ctr">
                      <a:solidFill>
                        <a:srgbClr val="1F3864"/>
                      </a:solidFill>
                      <a:prstDash val="solid"/>
                    </a:lnL>
                    <a:solidFill>
                      <a:srgbClr val="E5F1E1"/>
                    </a:solidFill>
                  </a:tcPr>
                </a:tc>
                <a:tc>
                  <a:txBody>
                    <a:bodyPr wrap="square"/>
                    <a:lstStyle/>
                    <a:p>
                      <a:pPr algn="ctr"/>
                      <a:r>
                        <a:rPr sz="1200" b="0" i="0">
                          <a:solidFill>
                            <a:srgbClr val="262626"/>
                          </a:solidFill>
                          <a:latin typeface="Times New Roman"/>
                          <a:cs typeface="Times New Roman"/>
                          <a:ea typeface="Times New Roman"/>
                        </a:rPr>
                        <a:t>10</a:t>
                      </a:r>
                    </a:p>
                  </a:txBody>
                  <a:tcPr marL="54864" marR="54864" marT="18288" marB="18288" anchor="ctr">
                    <a:solidFill>
                      <a:srgbClr val="E5F1E1"/>
                    </a:solidFill>
                  </a:tcPr>
                </a:tc>
                <a:tc>
                  <a:txBody>
                    <a:bodyPr wrap="square"/>
                    <a:lstStyle/>
                    <a:p>
                      <a:pPr algn="ctr"/>
                      <a:r>
                        <a:rPr sz="1200" b="0" i="0">
                          <a:solidFill>
                            <a:srgbClr val="262626"/>
                          </a:solidFill>
                          <a:latin typeface="Times New Roman"/>
                          <a:cs typeface="Times New Roman"/>
                          <a:ea typeface="Times New Roman"/>
                        </a:rPr>
                        <a:t>32 × 32</a:t>
                      </a:r>
                    </a:p>
                  </a:txBody>
                  <a:tcPr marL="54864" marR="54864" marT="18288" marB="18288" anchor="ctr">
                    <a:solidFill>
                      <a:srgbClr val="E5F1E1"/>
                    </a:solidFill>
                  </a:tcPr>
                </a:tc>
                <a:tc>
                  <a:txBody>
                    <a:bodyPr wrap="square"/>
                    <a:lstStyle/>
                    <a:p>
                      <a:pPr algn="ctr"/>
                      <a:r>
                        <a:rPr sz="1200" b="0" i="0">
                          <a:solidFill>
                            <a:srgbClr val="262626"/>
                          </a:solidFill>
                          <a:latin typeface="Times New Roman"/>
                          <a:cs typeface="Times New Roman"/>
                          <a:ea typeface="Times New Roman"/>
                        </a:rPr>
                        <a:t>60,000</a:t>
                      </a:r>
                    </a:p>
                  </a:txBody>
                  <a:tcPr marL="54864" marR="54864" marT="18288" marB="18288" anchor="ctr">
                    <a:lnR w="15875" cap="flat" cmpd="sng" algn="ctr">
                      <a:solidFill>
                        <a:srgbClr val="1F3864"/>
                      </a:solidFill>
                      <a:prstDash val="solid"/>
                    </a:lnR>
                    <a:solidFill>
                      <a:srgbClr val="E5F1E1"/>
                    </a:solidFill>
                  </a:tcPr>
                </a:tc>
              </a:tr>
              <a:tr h="310896">
                <a:tc>
                  <a:txBody>
                    <a:bodyPr wrap="square"/>
                    <a:lstStyle/>
                    <a:p>
                      <a:r>
                        <a:rPr sz="1200" b="1" i="0">
                          <a:solidFill>
                            <a:srgbClr val="262626"/>
                          </a:solidFill>
                          <a:latin typeface="Times New Roman"/>
                          <a:cs typeface="Times New Roman"/>
                          <a:ea typeface="Times New Roman"/>
                        </a:rPr>
                        <a:t>CIFAR-100 [23]</a:t>
                      </a:r>
                    </a:p>
                  </a:txBody>
                  <a:tcPr marL="54864" marR="54864" marT="18288" marB="18288" anchor="ctr">
                    <a:lnL w="15875" cap="flat" cmpd="sng" algn="ctr">
                      <a:solidFill>
                        <a:srgbClr val="1F3864"/>
                      </a:solidFill>
                      <a:prstDash val="solid"/>
                    </a:lnL>
                    <a:solidFill>
                      <a:srgbClr val="F3F9F1"/>
                    </a:solidFill>
                  </a:tcPr>
                </a:tc>
                <a:tc>
                  <a:txBody>
                    <a:bodyPr wrap="square"/>
                    <a:lstStyle/>
                    <a:p>
                      <a:pPr algn="ctr"/>
                      <a:r>
                        <a:rPr sz="1200" b="0" i="0">
                          <a:solidFill>
                            <a:srgbClr val="262626"/>
                          </a:solidFill>
                          <a:latin typeface="Times New Roman"/>
                          <a:cs typeface="Times New Roman"/>
                          <a:ea typeface="Times New Roman"/>
                        </a:rPr>
                        <a:t>100</a:t>
                      </a:r>
                    </a:p>
                  </a:txBody>
                  <a:tcPr marL="54864" marR="54864" marT="18288" marB="18288" anchor="ctr">
                    <a:solidFill>
                      <a:srgbClr val="F3F9F1"/>
                    </a:solidFill>
                  </a:tcPr>
                </a:tc>
                <a:tc>
                  <a:txBody>
                    <a:bodyPr wrap="square"/>
                    <a:lstStyle/>
                    <a:p>
                      <a:pPr algn="ctr"/>
                      <a:r>
                        <a:rPr sz="1200" b="0" i="0">
                          <a:solidFill>
                            <a:srgbClr val="262626"/>
                          </a:solidFill>
                          <a:latin typeface="Times New Roman"/>
                          <a:cs typeface="Times New Roman"/>
                          <a:ea typeface="Times New Roman"/>
                        </a:rPr>
                        <a:t>32 × 32</a:t>
                      </a:r>
                    </a:p>
                  </a:txBody>
                  <a:tcPr marL="54864" marR="54864" marT="18288" marB="18288" anchor="ctr">
                    <a:solidFill>
                      <a:srgbClr val="F3F9F1"/>
                    </a:solidFill>
                  </a:tcPr>
                </a:tc>
                <a:tc>
                  <a:txBody>
                    <a:bodyPr wrap="square"/>
                    <a:lstStyle/>
                    <a:p>
                      <a:pPr algn="ctr"/>
                      <a:r>
                        <a:rPr sz="1200" b="0" i="0">
                          <a:solidFill>
                            <a:srgbClr val="262626"/>
                          </a:solidFill>
                          <a:latin typeface="Times New Roman"/>
                          <a:cs typeface="Times New Roman"/>
                          <a:ea typeface="Times New Roman"/>
                        </a:rPr>
                        <a:t>60,000</a:t>
                      </a:r>
                    </a:p>
                  </a:txBody>
                  <a:tcPr marL="54864" marR="54864" marT="18288" marB="18288" anchor="ctr">
                    <a:lnR w="15875" cap="flat" cmpd="sng" algn="ctr">
                      <a:solidFill>
                        <a:srgbClr val="1F3864"/>
                      </a:solidFill>
                      <a:prstDash val="solid"/>
                    </a:lnR>
                    <a:solidFill>
                      <a:srgbClr val="F3F9F1"/>
                    </a:solidFill>
                  </a:tcPr>
                </a:tc>
              </a:tr>
              <a:tr h="310896">
                <a:tc>
                  <a:txBody>
                    <a:bodyPr wrap="square"/>
                    <a:lstStyle/>
                    <a:p>
                      <a:r>
                        <a:rPr sz="1200" b="1" i="0">
                          <a:solidFill>
                            <a:srgbClr val="262626"/>
                          </a:solidFill>
                          <a:latin typeface="Times New Roman"/>
                          <a:cs typeface="Times New Roman"/>
                          <a:ea typeface="Times New Roman"/>
                        </a:rPr>
                        <a:t>ImageNet16-120 [24]</a:t>
                      </a:r>
                    </a:p>
                  </a:txBody>
                  <a:tcPr marL="54864" marR="54864" marT="18288" marB="18288" anchor="ctr">
                    <a:lnL w="15875" cap="flat" cmpd="sng" algn="ctr">
                      <a:solidFill>
                        <a:srgbClr val="1F3864"/>
                      </a:solidFill>
                      <a:prstDash val="solid"/>
                    </a:lnL>
                    <a:lnB w="15875" cap="flat" cmpd="sng" algn="ctr">
                      <a:solidFill>
                        <a:srgbClr val="1F3864"/>
                      </a:solidFill>
                      <a:prstDash val="solid"/>
                    </a:lnB>
                    <a:solidFill>
                      <a:srgbClr val="E5F1E1"/>
                    </a:solidFill>
                  </a:tcPr>
                </a:tc>
                <a:tc>
                  <a:txBody>
                    <a:bodyPr wrap="square"/>
                    <a:lstStyle/>
                    <a:p>
                      <a:pPr algn="ctr"/>
                      <a:r>
                        <a:rPr sz="1200" b="0" i="0">
                          <a:solidFill>
                            <a:srgbClr val="262626"/>
                          </a:solidFill>
                          <a:latin typeface="Times New Roman"/>
                          <a:cs typeface="Times New Roman"/>
                          <a:ea typeface="Times New Roman"/>
                        </a:rPr>
                        <a:t>120</a:t>
                      </a:r>
                    </a:p>
                  </a:txBody>
                  <a:tcPr marL="54864" marR="54864" marT="18288" marB="18288" anchor="ctr">
                    <a:lnB w="15875" cap="flat" cmpd="sng" algn="ctr">
                      <a:solidFill>
                        <a:srgbClr val="1F3864"/>
                      </a:solidFill>
                      <a:prstDash val="solid"/>
                    </a:lnB>
                    <a:solidFill>
                      <a:srgbClr val="E5F1E1"/>
                    </a:solidFill>
                  </a:tcPr>
                </a:tc>
                <a:tc>
                  <a:txBody>
                    <a:bodyPr wrap="square"/>
                    <a:lstStyle/>
                    <a:p>
                      <a:pPr algn="ctr"/>
                      <a:r>
                        <a:rPr sz="1200" b="0" i="0">
                          <a:solidFill>
                            <a:srgbClr val="262626"/>
                          </a:solidFill>
                          <a:latin typeface="Times New Roman"/>
                          <a:cs typeface="Times New Roman"/>
                          <a:ea typeface="Times New Roman"/>
                        </a:rPr>
                        <a:t>16 × 16</a:t>
                      </a:r>
                    </a:p>
                  </a:txBody>
                  <a:tcPr marL="54864" marR="54864" marT="18288" marB="18288" anchor="ctr">
                    <a:lnB w="15875" cap="flat" cmpd="sng" algn="ctr">
                      <a:solidFill>
                        <a:srgbClr val="1F3864"/>
                      </a:solidFill>
                      <a:prstDash val="solid"/>
                    </a:lnB>
                    <a:solidFill>
                      <a:srgbClr val="E5F1E1"/>
                    </a:solidFill>
                  </a:tcPr>
                </a:tc>
                <a:tc>
                  <a:txBody>
                    <a:bodyPr wrap="square"/>
                    <a:lstStyle/>
                    <a:p>
                      <a:pPr algn="ctr"/>
                      <a:r>
                        <a:rPr sz="1200" b="0" i="0">
                          <a:solidFill>
                            <a:srgbClr val="262626"/>
                          </a:solidFill>
                          <a:latin typeface="Times New Roman"/>
                          <a:cs typeface="Times New Roman"/>
                          <a:ea typeface="Times New Roman"/>
                        </a:rPr>
                        <a:t>~151,700</a:t>
                      </a:r>
                    </a:p>
                  </a:txBody>
                  <a:tcPr marL="54864" marR="54864" marT="18288" marB="18288" anchor="ctr">
                    <a:lnR w="15875" cap="flat" cmpd="sng" algn="ctr">
                      <a:solidFill>
                        <a:srgbClr val="1F3864"/>
                      </a:solidFill>
                      <a:prstDash val="solid"/>
                    </a:lnR>
                    <a:lnB w="15875" cap="flat" cmpd="sng" algn="ctr">
                      <a:solidFill>
                        <a:srgbClr val="1F3864"/>
                      </a:solidFill>
                      <a:prstDash val="solid"/>
                    </a:lnB>
                    <a:solidFill>
                      <a:srgbClr val="E5F1E1"/>
                    </a:solidFill>
                  </a:tcPr>
                </a:tc>
              </a:tr>
            </a:tbl>
          </a:graphicData>
        </a:graphic>
      </p:graphicFrame>
      <p:sp>
        <p:nvSpPr>
          <p:cNvPr id="10" name="TextBox 9"/>
          <p:cNvSpPr txBox="1"/>
          <p:nvPr/>
        </p:nvSpPr>
        <p:spPr>
          <a:xfrm>
            <a:off x="548640" y="5687568"/>
            <a:ext cx="4160520" cy="685800"/>
          </a:xfrm>
          <a:prstGeom prst="rect">
            <a:avLst/>
          </a:prstGeom>
          <a:noFill/>
        </p:spPr>
        <p:txBody>
          <a:bodyPr wrap="square" anchor="t" lIns="45720" rIns="45720" tIns="27432" bIns="27432"/>
          <a:lstStyle/>
          <a:p>
            <a:pPr algn="l">
              <a:spcAft>
                <a:spcPts val="400"/>
              </a:spcAft>
            </a:pPr>
            <a:r>
              <a:rPr sz="1200" b="1" i="0">
                <a:solidFill>
                  <a:srgbClr val="595959"/>
                </a:solidFill>
                <a:latin typeface="Times New Roman"/>
                <a:cs typeface="Times New Roman"/>
                <a:ea typeface="Times New Roman"/>
              </a:rPr>
              <a:t>Tabular: </a:t>
            </a:r>
            <a:r>
              <a:rPr sz="1200" b="0" i="0">
                <a:solidFill>
                  <a:srgbClr val="595959"/>
                </a:solidFill>
                <a:latin typeface="Times New Roman"/>
                <a:cs typeface="Times New Roman"/>
                <a:ea typeface="Times New Roman"/>
              </a:rPr>
              <a:t>all designs pre-trained → evaluation = lookup; train time = GPU cost.</a:t>
            </a:r>
          </a:p>
        </p:txBody>
      </p:sp>
      <p:sp>
        <p:nvSpPr>
          <p:cNvPr id="11" name="Rounded Rectangle 10"/>
          <p:cNvSpPr/>
          <p:nvPr/>
        </p:nvSpPr>
        <p:spPr>
          <a:xfrm>
            <a:off x="4937760" y="4114800"/>
            <a:ext cx="6675120" cy="1965960"/>
          </a:xfrm>
          <a:prstGeom prst="roundRect">
            <a:avLst>
              <a:gd name="adj" fmla="val 5000"/>
            </a:avLst>
          </a:prstGeom>
          <a:solidFill>
            <a:srgbClr val="F4F7FB"/>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074920" y="4160520"/>
            <a:ext cx="6400800" cy="320040"/>
          </a:xfrm>
          <a:prstGeom prst="rect">
            <a:avLst/>
          </a:prstGeom>
          <a:noFill/>
        </p:spPr>
        <p:txBody>
          <a:bodyPr wrap="square" anchor="t" lIns="45720" rIns="45720" tIns="27432" bIns="27432"/>
          <a:lstStyle/>
          <a:p>
            <a:pPr algn="l">
              <a:spcAft>
                <a:spcPts val="400"/>
              </a:spcAft>
            </a:pPr>
            <a:r>
              <a:rPr sz="1400" b="1" i="0">
                <a:solidFill>
                  <a:srgbClr val="002060"/>
                </a:solidFill>
                <a:latin typeface="Times New Roman"/>
                <a:cs typeface="Times New Roman"/>
                <a:ea typeface="Times New Roman"/>
              </a:rPr>
              <a:t>How one architecture is stored in the search tree (trie)</a:t>
            </a:r>
          </a:p>
        </p:txBody>
      </p:sp>
      <p:sp>
        <p:nvSpPr>
          <p:cNvPr id="13" name="Oval 12"/>
          <p:cNvSpPr/>
          <p:nvPr/>
        </p:nvSpPr>
        <p:spPr>
          <a:xfrm>
            <a:off x="5074920" y="4617720"/>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i="0">
                <a:solidFill>
                  <a:srgbClr val="FFFFFF"/>
                </a:solidFill>
                <a:latin typeface="Times New Roman"/>
                <a:cs typeface="Times New Roman"/>
                <a:ea typeface="Times New Roman"/>
              </a:rPr>
              <a:t>root</a:t>
            </a:r>
          </a:p>
        </p:txBody>
      </p:sp>
      <p:cxnSp>
        <p:nvCxnSpPr>
          <p:cNvPr id="14" name="Connector 13"/>
          <p:cNvCxnSpPr/>
          <p:nvPr/>
        </p:nvCxnSpPr>
        <p:spPr>
          <a:xfrm>
            <a:off x="5532120" y="4846320"/>
            <a:ext cx="155448" cy="0"/>
          </a:xfrm>
          <a:prstGeom prst="line">
            <a:avLst/>
          </a:prstGeom>
          <a:ln w="127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687568" y="4572000"/>
            <a:ext cx="676656" cy="548640"/>
          </a:xfrm>
          <a:prstGeom prst="roundRect">
            <a:avLst>
              <a:gd name="adj" fmla="val 12000"/>
            </a:avLst>
          </a:prstGeom>
          <a:solidFill>
            <a:srgbClr val="FFFFF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27432" bIns="27432"/>
          <a:lstStyle/>
          <a:p>
            <a:pPr algn="ctr">
              <a:spcAft>
                <a:spcPts val="200"/>
              </a:spcAft>
            </a:pPr>
            <a:r>
              <a:rPr sz="1050" b="0" i="0">
                <a:solidFill>
                  <a:srgbClr val="002060"/>
                </a:solidFill>
                <a:latin typeface="Times New Roman"/>
                <a:cs typeface="Times New Roman"/>
                <a:ea typeface="Times New Roman"/>
              </a:rPr>
              <a:t>conv 3×3</a:t>
            </a:r>
          </a:p>
        </p:txBody>
      </p:sp>
      <p:sp>
        <p:nvSpPr>
          <p:cNvPr id="16" name="TextBox 15"/>
          <p:cNvSpPr txBox="1"/>
          <p:nvPr/>
        </p:nvSpPr>
        <p:spPr>
          <a:xfrm>
            <a:off x="5641848" y="5138928"/>
            <a:ext cx="768096" cy="228600"/>
          </a:xfrm>
          <a:prstGeom prst="rect">
            <a:avLst/>
          </a:prstGeom>
          <a:noFill/>
        </p:spPr>
        <p:txBody>
          <a:bodyPr wrap="square" anchor="t" lIns="45720" rIns="45720" tIns="27432" bIns="27432"/>
          <a:lstStyle/>
          <a:p>
            <a:pPr algn="ctr">
              <a:spcAft>
                <a:spcPts val="400"/>
              </a:spcAft>
            </a:pPr>
            <a:r>
              <a:rPr sz="1000" b="0" i="0">
                <a:solidFill>
                  <a:srgbClr val="595959"/>
                </a:solidFill>
                <a:latin typeface="Times New Roman"/>
                <a:cs typeface="Times New Roman"/>
                <a:ea typeface="Times New Roman"/>
              </a:rPr>
              <a:t>edge 1</a:t>
            </a:r>
          </a:p>
        </p:txBody>
      </p:sp>
      <p:cxnSp>
        <p:nvCxnSpPr>
          <p:cNvPr id="17" name="Connector 16"/>
          <p:cNvCxnSpPr/>
          <p:nvPr/>
        </p:nvCxnSpPr>
        <p:spPr>
          <a:xfrm>
            <a:off x="6364224" y="4846320"/>
            <a:ext cx="155448" cy="0"/>
          </a:xfrm>
          <a:prstGeom prst="line">
            <a:avLst/>
          </a:prstGeom>
          <a:ln w="127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519672" y="4572000"/>
            <a:ext cx="676656" cy="548640"/>
          </a:xfrm>
          <a:prstGeom prst="roundRect">
            <a:avLst>
              <a:gd name="adj" fmla="val 12000"/>
            </a:avLst>
          </a:prstGeom>
          <a:solidFill>
            <a:srgbClr val="FFFFF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27432" bIns="27432"/>
          <a:lstStyle/>
          <a:p>
            <a:pPr algn="ctr">
              <a:spcAft>
                <a:spcPts val="200"/>
              </a:spcAft>
            </a:pPr>
            <a:r>
              <a:rPr sz="1050" b="0" i="0">
                <a:solidFill>
                  <a:srgbClr val="002060"/>
                </a:solidFill>
                <a:latin typeface="Times New Roman"/>
                <a:cs typeface="Times New Roman"/>
                <a:ea typeface="Times New Roman"/>
              </a:rPr>
              <a:t>conv 3×3</a:t>
            </a:r>
          </a:p>
        </p:txBody>
      </p:sp>
      <p:sp>
        <p:nvSpPr>
          <p:cNvPr id="19" name="TextBox 18"/>
          <p:cNvSpPr txBox="1"/>
          <p:nvPr/>
        </p:nvSpPr>
        <p:spPr>
          <a:xfrm>
            <a:off x="6473952" y="5138928"/>
            <a:ext cx="768096" cy="228600"/>
          </a:xfrm>
          <a:prstGeom prst="rect">
            <a:avLst/>
          </a:prstGeom>
          <a:noFill/>
        </p:spPr>
        <p:txBody>
          <a:bodyPr wrap="square" anchor="t" lIns="45720" rIns="45720" tIns="27432" bIns="27432"/>
          <a:lstStyle/>
          <a:p>
            <a:pPr algn="ctr">
              <a:spcAft>
                <a:spcPts val="400"/>
              </a:spcAft>
            </a:pPr>
            <a:r>
              <a:rPr sz="1000" b="0" i="0">
                <a:solidFill>
                  <a:srgbClr val="595959"/>
                </a:solidFill>
                <a:latin typeface="Times New Roman"/>
                <a:cs typeface="Times New Roman"/>
                <a:ea typeface="Times New Roman"/>
              </a:rPr>
              <a:t>edge 2</a:t>
            </a:r>
          </a:p>
        </p:txBody>
      </p:sp>
      <p:cxnSp>
        <p:nvCxnSpPr>
          <p:cNvPr id="20" name="Connector 19"/>
          <p:cNvCxnSpPr/>
          <p:nvPr/>
        </p:nvCxnSpPr>
        <p:spPr>
          <a:xfrm>
            <a:off x="7196328" y="4846320"/>
            <a:ext cx="155448" cy="0"/>
          </a:xfrm>
          <a:prstGeom prst="line">
            <a:avLst/>
          </a:prstGeom>
          <a:ln w="127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51776" y="4572000"/>
            <a:ext cx="676656" cy="548640"/>
          </a:xfrm>
          <a:prstGeom prst="roundRect">
            <a:avLst>
              <a:gd name="adj" fmla="val 12000"/>
            </a:avLst>
          </a:prstGeom>
          <a:solidFill>
            <a:srgbClr val="FFFFF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27432" bIns="27432"/>
          <a:lstStyle/>
          <a:p>
            <a:pPr algn="ctr">
              <a:spcAft>
                <a:spcPts val="200"/>
              </a:spcAft>
            </a:pPr>
            <a:r>
              <a:rPr sz="1050" b="0" i="0">
                <a:solidFill>
                  <a:srgbClr val="002060"/>
                </a:solidFill>
                <a:latin typeface="Times New Roman"/>
                <a:cs typeface="Times New Roman"/>
                <a:ea typeface="Times New Roman"/>
              </a:rPr>
              <a:t>conv 3×3</a:t>
            </a:r>
          </a:p>
        </p:txBody>
      </p:sp>
      <p:sp>
        <p:nvSpPr>
          <p:cNvPr id="22" name="TextBox 21"/>
          <p:cNvSpPr txBox="1"/>
          <p:nvPr/>
        </p:nvSpPr>
        <p:spPr>
          <a:xfrm>
            <a:off x="7306056" y="5138928"/>
            <a:ext cx="768096" cy="228600"/>
          </a:xfrm>
          <a:prstGeom prst="rect">
            <a:avLst/>
          </a:prstGeom>
          <a:noFill/>
        </p:spPr>
        <p:txBody>
          <a:bodyPr wrap="square" anchor="t" lIns="45720" rIns="45720" tIns="27432" bIns="27432"/>
          <a:lstStyle/>
          <a:p>
            <a:pPr algn="ctr">
              <a:spcAft>
                <a:spcPts val="400"/>
              </a:spcAft>
            </a:pPr>
            <a:r>
              <a:rPr sz="1000" b="0" i="0">
                <a:solidFill>
                  <a:srgbClr val="595959"/>
                </a:solidFill>
                <a:latin typeface="Times New Roman"/>
                <a:cs typeface="Times New Roman"/>
                <a:ea typeface="Times New Roman"/>
              </a:rPr>
              <a:t>edge 3</a:t>
            </a:r>
          </a:p>
        </p:txBody>
      </p:sp>
      <p:cxnSp>
        <p:nvCxnSpPr>
          <p:cNvPr id="23" name="Connector 22"/>
          <p:cNvCxnSpPr/>
          <p:nvPr/>
        </p:nvCxnSpPr>
        <p:spPr>
          <a:xfrm>
            <a:off x="8028432" y="4846320"/>
            <a:ext cx="155448" cy="0"/>
          </a:xfrm>
          <a:prstGeom prst="line">
            <a:avLst/>
          </a:prstGeom>
          <a:ln w="127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83880" y="4572000"/>
            <a:ext cx="676656" cy="548640"/>
          </a:xfrm>
          <a:prstGeom prst="roundRect">
            <a:avLst>
              <a:gd name="adj" fmla="val 12000"/>
            </a:avLst>
          </a:prstGeom>
          <a:solidFill>
            <a:srgbClr val="FFFFF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27432" bIns="27432"/>
          <a:lstStyle/>
          <a:p>
            <a:pPr algn="ctr">
              <a:spcAft>
                <a:spcPts val="200"/>
              </a:spcAft>
            </a:pPr>
            <a:r>
              <a:rPr sz="1050" b="0" i="0">
                <a:solidFill>
                  <a:srgbClr val="002060"/>
                </a:solidFill>
                <a:latin typeface="Times New Roman"/>
                <a:cs typeface="Times New Roman"/>
                <a:ea typeface="Times New Roman"/>
              </a:rPr>
              <a:t>skip</a:t>
            </a:r>
          </a:p>
        </p:txBody>
      </p:sp>
      <p:sp>
        <p:nvSpPr>
          <p:cNvPr id="25" name="TextBox 24"/>
          <p:cNvSpPr txBox="1"/>
          <p:nvPr/>
        </p:nvSpPr>
        <p:spPr>
          <a:xfrm>
            <a:off x="8138160" y="5138928"/>
            <a:ext cx="768096" cy="228600"/>
          </a:xfrm>
          <a:prstGeom prst="rect">
            <a:avLst/>
          </a:prstGeom>
          <a:noFill/>
        </p:spPr>
        <p:txBody>
          <a:bodyPr wrap="square" anchor="t" lIns="45720" rIns="45720" tIns="27432" bIns="27432"/>
          <a:lstStyle/>
          <a:p>
            <a:pPr algn="ctr">
              <a:spcAft>
                <a:spcPts val="400"/>
              </a:spcAft>
            </a:pPr>
            <a:r>
              <a:rPr sz="1000" b="0" i="0">
                <a:solidFill>
                  <a:srgbClr val="595959"/>
                </a:solidFill>
                <a:latin typeface="Times New Roman"/>
                <a:cs typeface="Times New Roman"/>
                <a:ea typeface="Times New Roman"/>
              </a:rPr>
              <a:t>edge 4</a:t>
            </a:r>
          </a:p>
        </p:txBody>
      </p:sp>
      <p:cxnSp>
        <p:nvCxnSpPr>
          <p:cNvPr id="26" name="Connector 25"/>
          <p:cNvCxnSpPr/>
          <p:nvPr/>
        </p:nvCxnSpPr>
        <p:spPr>
          <a:xfrm>
            <a:off x="8860536" y="4846320"/>
            <a:ext cx="155448" cy="0"/>
          </a:xfrm>
          <a:prstGeom prst="line">
            <a:avLst/>
          </a:prstGeom>
          <a:ln w="127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015984" y="4572000"/>
            <a:ext cx="676656" cy="548640"/>
          </a:xfrm>
          <a:prstGeom prst="roundRect">
            <a:avLst>
              <a:gd name="adj" fmla="val 12000"/>
            </a:avLst>
          </a:prstGeom>
          <a:solidFill>
            <a:srgbClr val="FFFFF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27432" bIns="27432"/>
          <a:lstStyle/>
          <a:p>
            <a:pPr algn="ctr">
              <a:spcAft>
                <a:spcPts val="200"/>
              </a:spcAft>
            </a:pPr>
            <a:r>
              <a:rPr sz="1050" b="0" i="0">
                <a:solidFill>
                  <a:srgbClr val="002060"/>
                </a:solidFill>
                <a:latin typeface="Times New Roman"/>
                <a:cs typeface="Times New Roman"/>
                <a:ea typeface="Times New Roman"/>
              </a:rPr>
              <a:t>conv 3×3</a:t>
            </a:r>
          </a:p>
        </p:txBody>
      </p:sp>
      <p:sp>
        <p:nvSpPr>
          <p:cNvPr id="28" name="TextBox 27"/>
          <p:cNvSpPr txBox="1"/>
          <p:nvPr/>
        </p:nvSpPr>
        <p:spPr>
          <a:xfrm>
            <a:off x="8970264" y="5138928"/>
            <a:ext cx="768096" cy="228600"/>
          </a:xfrm>
          <a:prstGeom prst="rect">
            <a:avLst/>
          </a:prstGeom>
          <a:noFill/>
        </p:spPr>
        <p:txBody>
          <a:bodyPr wrap="square" anchor="t" lIns="45720" rIns="45720" tIns="27432" bIns="27432"/>
          <a:lstStyle/>
          <a:p>
            <a:pPr algn="ctr">
              <a:spcAft>
                <a:spcPts val="400"/>
              </a:spcAft>
            </a:pPr>
            <a:r>
              <a:rPr sz="1000" b="0" i="0">
                <a:solidFill>
                  <a:srgbClr val="595959"/>
                </a:solidFill>
                <a:latin typeface="Times New Roman"/>
                <a:cs typeface="Times New Roman"/>
                <a:ea typeface="Times New Roman"/>
              </a:rPr>
              <a:t>edge 5</a:t>
            </a:r>
          </a:p>
        </p:txBody>
      </p:sp>
      <p:cxnSp>
        <p:nvCxnSpPr>
          <p:cNvPr id="29" name="Connector 28"/>
          <p:cNvCxnSpPr/>
          <p:nvPr/>
        </p:nvCxnSpPr>
        <p:spPr>
          <a:xfrm>
            <a:off x="9692640" y="4846320"/>
            <a:ext cx="155448" cy="0"/>
          </a:xfrm>
          <a:prstGeom prst="line">
            <a:avLst/>
          </a:prstGeom>
          <a:ln w="127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848088" y="4572000"/>
            <a:ext cx="676656" cy="548640"/>
          </a:xfrm>
          <a:prstGeom prst="roundRect">
            <a:avLst>
              <a:gd name="adj" fmla="val 12000"/>
            </a:avLst>
          </a:prstGeom>
          <a:solidFill>
            <a:srgbClr val="FFFFF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27432" bIns="27432"/>
          <a:lstStyle/>
          <a:p>
            <a:pPr algn="ctr">
              <a:spcAft>
                <a:spcPts val="200"/>
              </a:spcAft>
            </a:pPr>
            <a:r>
              <a:rPr sz="1050" b="0" i="0">
                <a:solidFill>
                  <a:srgbClr val="002060"/>
                </a:solidFill>
                <a:latin typeface="Times New Roman"/>
                <a:cs typeface="Times New Roman"/>
                <a:ea typeface="Times New Roman"/>
              </a:rPr>
              <a:t>conv 1×1</a:t>
            </a:r>
          </a:p>
        </p:txBody>
      </p:sp>
      <p:sp>
        <p:nvSpPr>
          <p:cNvPr id="31" name="TextBox 30"/>
          <p:cNvSpPr txBox="1"/>
          <p:nvPr/>
        </p:nvSpPr>
        <p:spPr>
          <a:xfrm>
            <a:off x="9802367" y="5138928"/>
            <a:ext cx="768096" cy="228600"/>
          </a:xfrm>
          <a:prstGeom prst="rect">
            <a:avLst/>
          </a:prstGeom>
          <a:noFill/>
        </p:spPr>
        <p:txBody>
          <a:bodyPr wrap="square" anchor="t" lIns="45720" rIns="45720" tIns="27432" bIns="27432"/>
          <a:lstStyle/>
          <a:p>
            <a:pPr algn="ctr">
              <a:spcAft>
                <a:spcPts val="400"/>
              </a:spcAft>
            </a:pPr>
            <a:r>
              <a:rPr sz="1000" b="0" i="0">
                <a:solidFill>
                  <a:srgbClr val="595959"/>
                </a:solidFill>
                <a:latin typeface="Times New Roman"/>
                <a:cs typeface="Times New Roman"/>
                <a:ea typeface="Times New Roman"/>
              </a:rPr>
              <a:t>edge 6</a:t>
            </a:r>
          </a:p>
        </p:txBody>
      </p:sp>
      <p:cxnSp>
        <p:nvCxnSpPr>
          <p:cNvPr id="32" name="Connector 31"/>
          <p:cNvCxnSpPr/>
          <p:nvPr/>
        </p:nvCxnSpPr>
        <p:spPr>
          <a:xfrm>
            <a:off x="10524744" y="4846320"/>
            <a:ext cx="155448" cy="0"/>
          </a:xfrm>
          <a:prstGeom prst="line">
            <a:avLst/>
          </a:prstGeom>
          <a:ln w="127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680192" y="4553712"/>
            <a:ext cx="868680" cy="585216"/>
          </a:xfrm>
          <a:prstGeom prst="roundRect">
            <a:avLst>
              <a:gd name="adj" fmla="val 12000"/>
            </a:avLst>
          </a:prstGeom>
          <a:solidFill>
            <a:srgbClr val="FBE9E9"/>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27432" bIns="27432"/>
          <a:lstStyle/>
          <a:p>
            <a:pPr algn="ctr">
              <a:spcAft>
                <a:spcPts val="0"/>
              </a:spcAft>
            </a:pPr>
            <a:r>
              <a:rPr sz="1050" b="1" i="0">
                <a:solidFill>
                  <a:srgbClr val="C00000"/>
                </a:solidFill>
                <a:latin typeface="Times New Roman"/>
                <a:cs typeface="Times New Roman"/>
                <a:ea typeface="Times New Roman"/>
              </a:rPr>
              <a:t>leaf</a:t>
            </a:r>
          </a:p>
          <a:p>
            <a:pPr algn="ctr">
              <a:spcAft>
                <a:spcPts val="0"/>
              </a:spcAft>
            </a:pPr>
            <a:r>
              <a:rPr sz="1000" b="0" i="0">
                <a:solidFill>
                  <a:srgbClr val="C00000"/>
                </a:solidFill>
                <a:latin typeface="Times New Roman"/>
                <a:cs typeface="Times New Roman"/>
                <a:ea typeface="Times New Roman"/>
              </a:rPr>
              <a:t>94.37%</a:t>
            </a:r>
          </a:p>
        </p:txBody>
      </p:sp>
      <p:sp>
        <p:nvSpPr>
          <p:cNvPr id="34" name="TextBox 33"/>
          <p:cNvSpPr txBox="1"/>
          <p:nvPr/>
        </p:nvSpPr>
        <p:spPr>
          <a:xfrm>
            <a:off x="5074920" y="5413248"/>
            <a:ext cx="6400800" cy="548640"/>
          </a:xfrm>
          <a:prstGeom prst="rect">
            <a:avLst/>
          </a:prstGeom>
          <a:noFill/>
        </p:spPr>
        <p:txBody>
          <a:bodyPr wrap="square" anchor="t" lIns="45720" rIns="45720" tIns="27432" bIns="27432"/>
          <a:lstStyle/>
          <a:p>
            <a:pPr algn="l">
              <a:spcAft>
                <a:spcPts val="400"/>
              </a:spcAft>
            </a:pPr>
            <a:r>
              <a:rPr sz="1250" b="0" i="0">
                <a:solidFill>
                  <a:srgbClr val="262626"/>
                </a:solidFill>
                <a:latin typeface="Times New Roman"/>
                <a:cs typeface="Times New Roman"/>
                <a:ea typeface="Times New Roman"/>
              </a:rPr>
              <a:t>1 level = 1 edge, 5 ops each → 5⁶ = 15,625 leaves. </a:t>
            </a:r>
            <a:r>
              <a:rPr sz="1250" b="1" i="0">
                <a:solidFill>
                  <a:srgbClr val="262626"/>
                </a:solidFill>
                <a:latin typeface="Times New Roman"/>
                <a:cs typeface="Times New Roman"/>
                <a:ea typeface="Times New Roman"/>
              </a:rPr>
              <a:t>A visited leaf is never evaluated again.</a:t>
            </a:r>
          </a:p>
        </p:txBody>
      </p:sp>
      <p:sp>
        <p:nvSpPr>
          <p:cNvPr id="35" name="Figure 2 caption"/>
          <p:cNvSpPr txBox="1"/>
          <p:nvPr/>
        </p:nvSpPr>
        <p:spPr>
          <a:xfrm>
            <a:off x="4937760" y="6126480"/>
            <a:ext cx="6675120"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2. </a:t>
            </a:r>
            <a:r>
              <a:rPr sz="1100" b="0" i="1">
                <a:solidFill>
                  <a:srgbClr val="262626"/>
                </a:solidFill>
                <a:latin typeface="Times New Roman"/>
                <a:cs typeface="Times New Roman"/>
                <a:ea typeface="Times New Roman"/>
              </a:rPr>
              <a:t>Trie path of architecture #11667, the best CIFAR-10 cell (test accuracy 94.37%).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DATA · REAL CACHED RECORDS</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Dataset Snippets</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6</a:t>
            </a:r>
          </a:p>
        </p:txBody>
      </p:sp>
      <p:sp>
        <p:nvSpPr>
          <p:cNvPr id="6" name="Rounded Rectangle 5"/>
          <p:cNvSpPr/>
          <p:nvPr/>
        </p:nvSpPr>
        <p:spPr>
          <a:xfrm>
            <a:off x="548640" y="1481328"/>
            <a:ext cx="5440680" cy="2240280"/>
          </a:xfrm>
          <a:prstGeom prst="roundRect">
            <a:avLst>
              <a:gd name="adj" fmla="val 4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536192"/>
            <a:ext cx="5166360" cy="320040"/>
          </a:xfrm>
          <a:prstGeom prst="rect">
            <a:avLst/>
          </a:prstGeom>
          <a:noFill/>
        </p:spPr>
        <p:txBody>
          <a:bodyPr wrap="square" anchor="t" lIns="45720" rIns="45720" tIns="27432" bIns="27432"/>
          <a:lstStyle/>
          <a:p>
            <a:pPr algn="l">
              <a:spcAft>
                <a:spcPts val="400"/>
              </a:spcAft>
            </a:pPr>
            <a:r>
              <a:rPr sz="1400" b="1" i="0">
                <a:solidFill>
                  <a:srgbClr val="002060"/>
                </a:solidFill>
                <a:latin typeface="Times New Roman"/>
                <a:cs typeface="Times New Roman"/>
                <a:ea typeface="Times New Roman"/>
              </a:rPr>
              <a:t>NAS-Bench-201 [20]</a:t>
            </a:r>
            <a:r>
              <a:rPr sz="1100" b="0" i="1">
                <a:solidFill>
                  <a:srgbClr val="595959"/>
                </a:solidFill>
                <a:latin typeface="Times New Roman"/>
                <a:cs typeface="Times New Roman"/>
                <a:ea typeface="Times New Roman"/>
              </a:rPr>
              <a:t>   nb201_cache_v2.json · 15,625 records</a:t>
            </a:r>
          </a:p>
        </p:txBody>
      </p:sp>
      <p:sp>
        <p:nvSpPr>
          <p:cNvPr id="8" name="Rounded Rectangle 7"/>
          <p:cNvSpPr/>
          <p:nvPr/>
        </p:nvSpPr>
        <p:spPr>
          <a:xfrm>
            <a:off x="658368" y="1892808"/>
            <a:ext cx="5221224" cy="1719072"/>
          </a:xfrm>
          <a:prstGeom prst="roundRect">
            <a:avLst>
              <a:gd name="adj" fmla="val 3000"/>
            </a:avLst>
          </a:prstGeom>
          <a:solidFill>
            <a:srgbClr val="F3F5F8"/>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1984248"/>
            <a:ext cx="5074920" cy="1600200"/>
          </a:xfrm>
          <a:prstGeom prst="rect">
            <a:avLst/>
          </a:prstGeom>
          <a:noFill/>
        </p:spPr>
        <p:txBody>
          <a:bodyPr wrap="square" anchor="t" lIns="45720" rIns="45720" tIns="27432" bIns="27432"/>
          <a:lstStyle/>
          <a:p>
            <a:pPr algn="l">
              <a:lnSpc>
                <a:spcPct val="130000"/>
              </a:lnSpc>
              <a:spcAft>
                <a:spcPts val="0"/>
              </a:spcAft>
            </a:pPr>
            <a:r>
              <a:rPr sz="1050" b="0" i="0">
                <a:solidFill>
                  <a:srgbClr val="1F2A3C"/>
                </a:solidFill>
                <a:latin typeface="Courier New"/>
                <a:cs typeface="Courier New"/>
                <a:ea typeface="Courier New"/>
              </a:rPr>
              <a:t># key = base-5 index of the 6 edge operations</a:t>
            </a:r>
          </a:p>
          <a:p>
            <a:pPr algn="l">
              <a:lnSpc>
                <a:spcPct val="130000"/>
              </a:lnSpc>
              <a:spcAft>
                <a:spcPts val="0"/>
              </a:spcAft>
            </a:pPr>
            <a:r>
              <a:rPr sz="1050" b="0" i="0">
                <a:solidFill>
                  <a:srgbClr val="1F2A3C"/>
                </a:solidFill>
                <a:latin typeface="Courier New"/>
                <a:cs typeface="Courier New"/>
                <a:ea typeface="Courier New"/>
              </a:rPr>
              <a:t>"11667": {</a:t>
            </a:r>
          </a:p>
          <a:p>
            <a:pPr algn="l">
              <a:lnSpc>
                <a:spcPct val="130000"/>
              </a:lnSpc>
              <a:spcAft>
                <a:spcPts val="0"/>
              </a:spcAft>
            </a:pPr>
            <a:r>
              <a:rPr sz="1050" b="0" i="0">
                <a:solidFill>
                  <a:srgbClr val="1F2A3C"/>
                </a:solidFill>
                <a:latin typeface="Courier New"/>
                <a:cs typeface="Courier New"/>
                <a:ea typeface="Courier New"/>
              </a:rPr>
              <a:t>  "cifar10":  {"valid":91.61,"test":94.37,"train_sec":2880},</a:t>
            </a:r>
          </a:p>
          <a:p>
            <a:pPr algn="l">
              <a:lnSpc>
                <a:spcPct val="130000"/>
              </a:lnSpc>
              <a:spcAft>
                <a:spcPts val="0"/>
              </a:spcAft>
            </a:pPr>
            <a:r>
              <a:rPr sz="1050" b="0" i="0">
                <a:solidFill>
                  <a:srgbClr val="1F2A3C"/>
                </a:solidFill>
                <a:latin typeface="Courier New"/>
                <a:cs typeface="Courier New"/>
                <a:ea typeface="Courier New"/>
              </a:rPr>
              <a:t>  "cifar100": {"valid":72.75,"test":73.22,"train_sec":5759},</a:t>
            </a:r>
          </a:p>
          <a:p>
            <a:pPr algn="l">
              <a:lnSpc>
                <a:spcPct val="130000"/>
              </a:lnSpc>
              <a:spcAft>
                <a:spcPts val="0"/>
              </a:spcAft>
            </a:pPr>
            <a:r>
              <a:rPr sz="1050" b="0" i="0">
                <a:solidFill>
                  <a:srgbClr val="1F2A3C"/>
                </a:solidFill>
                <a:latin typeface="Courier New"/>
                <a:cs typeface="Courier New"/>
                <a:ea typeface="Courier New"/>
              </a:rPr>
              <a:t>  "ImageNet16-120": {"valid":45.56,"test":46.71, ...}</a:t>
            </a:r>
          </a:p>
          <a:p>
            <a:pPr algn="l">
              <a:lnSpc>
                <a:spcPct val="130000"/>
              </a:lnSpc>
              <a:spcAft>
                <a:spcPts val="0"/>
              </a:spcAft>
            </a:pPr>
            <a:r>
              <a:rPr sz="1050" b="0" i="0">
                <a:solidFill>
                  <a:srgbClr val="1F2A3C"/>
                </a:solidFill>
                <a:latin typeface="Courier New"/>
                <a:cs typeface="Courier New"/>
                <a:ea typeface="Courier New"/>
              </a:rPr>
              <a:t>}</a:t>
            </a:r>
          </a:p>
          <a:p>
            <a:pPr algn="l">
              <a:lnSpc>
                <a:spcPct val="130000"/>
              </a:lnSpc>
              <a:spcAft>
                <a:spcPts val="0"/>
              </a:spcAft>
            </a:pPr>
            <a:r>
              <a:rPr sz="1050" b="0" i="0">
                <a:solidFill>
                  <a:srgbClr val="1F2A3C"/>
                </a:solidFill>
                <a:latin typeface="Courier New"/>
                <a:cs typeface="Courier New"/>
                <a:ea typeface="Courier New"/>
              </a:rPr>
              <a:t># 11667 = conv3x3|conv3x3|conv3x3|skip|conv3x3|conv1x1</a:t>
            </a:r>
          </a:p>
        </p:txBody>
      </p:sp>
      <p:sp>
        <p:nvSpPr>
          <p:cNvPr id="10" name="Rounded Rectangle 9"/>
          <p:cNvSpPr/>
          <p:nvPr/>
        </p:nvSpPr>
        <p:spPr>
          <a:xfrm>
            <a:off x="6199632" y="1481328"/>
            <a:ext cx="5440680" cy="2240280"/>
          </a:xfrm>
          <a:prstGeom prst="roundRect">
            <a:avLst>
              <a:gd name="adj" fmla="val 4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36792" y="1536192"/>
            <a:ext cx="5166360" cy="320040"/>
          </a:xfrm>
          <a:prstGeom prst="rect">
            <a:avLst/>
          </a:prstGeom>
          <a:noFill/>
        </p:spPr>
        <p:txBody>
          <a:bodyPr wrap="square" anchor="t" lIns="45720" rIns="45720" tIns="27432" bIns="27432"/>
          <a:lstStyle/>
          <a:p>
            <a:pPr algn="l">
              <a:spcAft>
                <a:spcPts val="400"/>
              </a:spcAft>
            </a:pPr>
            <a:r>
              <a:rPr sz="1400" b="1" i="0">
                <a:solidFill>
                  <a:srgbClr val="002060"/>
                </a:solidFill>
                <a:latin typeface="Times New Roman"/>
                <a:cs typeface="Times New Roman"/>
                <a:ea typeface="Times New Roman"/>
              </a:rPr>
              <a:t>NAS-Bench-101 [21]</a:t>
            </a:r>
            <a:r>
              <a:rPr sz="1100" b="0" i="1">
                <a:solidFill>
                  <a:srgbClr val="595959"/>
                </a:solidFill>
                <a:latin typeface="Times New Roman"/>
                <a:cs typeface="Times New Roman"/>
                <a:ea typeface="Times New Roman"/>
              </a:rPr>
              <a:t>   nb101_cache.npz · 423,624 rows</a:t>
            </a:r>
          </a:p>
        </p:txBody>
      </p:sp>
      <p:sp>
        <p:nvSpPr>
          <p:cNvPr id="12" name="Rounded Rectangle 11"/>
          <p:cNvSpPr/>
          <p:nvPr/>
        </p:nvSpPr>
        <p:spPr>
          <a:xfrm>
            <a:off x="6309360" y="1892808"/>
            <a:ext cx="5221224" cy="1719072"/>
          </a:xfrm>
          <a:prstGeom prst="roundRect">
            <a:avLst>
              <a:gd name="adj" fmla="val 3000"/>
            </a:avLst>
          </a:prstGeom>
          <a:solidFill>
            <a:srgbClr val="F3F5F8"/>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2512" y="1984248"/>
            <a:ext cx="5074920" cy="1600200"/>
          </a:xfrm>
          <a:prstGeom prst="rect">
            <a:avLst/>
          </a:prstGeom>
          <a:noFill/>
        </p:spPr>
        <p:txBody>
          <a:bodyPr wrap="square" anchor="t" lIns="45720" rIns="45720" tIns="27432" bIns="27432"/>
          <a:lstStyle/>
          <a:p>
            <a:pPr algn="l">
              <a:lnSpc>
                <a:spcPct val="130000"/>
              </a:lnSpc>
              <a:spcAft>
                <a:spcPts val="0"/>
              </a:spcAft>
            </a:pPr>
            <a:r>
              <a:rPr sz="1050" b="0" i="0">
                <a:solidFill>
                  <a:srgbClr val="1F2A3C"/>
                </a:solidFill>
                <a:latin typeface="Courier New"/>
                <a:cs typeface="Courier New"/>
                <a:ea typeface="Courier New"/>
              </a:rPr>
              <a:t>hash   : 00005c142e6f48ac74fdcf73e3439874</a:t>
            </a:r>
          </a:p>
          <a:p>
            <a:pPr algn="l">
              <a:lnSpc>
                <a:spcPct val="130000"/>
              </a:lnSpc>
              <a:spcAft>
                <a:spcPts val="0"/>
              </a:spcAft>
            </a:pPr>
            <a:r>
              <a:rPr sz="1050" b="0" i="0">
                <a:solidFill>
                  <a:srgbClr val="1F2A3C"/>
                </a:solidFill>
                <a:latin typeface="Courier New"/>
                <a:cs typeface="Courier New"/>
                <a:ea typeface="Courier New"/>
              </a:rPr>
              <a:t>ops    : [conv3x3, maxpool3x3, conv3x3, conv3x3, conv1x1]</a:t>
            </a:r>
          </a:p>
          <a:p>
            <a:pPr algn="l">
              <a:lnSpc>
                <a:spcPct val="130000"/>
              </a:lnSpc>
              <a:spcAft>
                <a:spcPts val="0"/>
              </a:spcAft>
            </a:pPr>
            <a:r>
              <a:rPr sz="1050" b="0" i="0">
                <a:solidFill>
                  <a:srgbClr val="1F2A3C"/>
                </a:solidFill>
                <a:latin typeface="Courier New"/>
                <a:cs typeface="Courier New"/>
                <a:ea typeface="Courier New"/>
              </a:rPr>
              <a:t>adj    : 7x7 upper-triangular 0/1 matrix (DAG edges)</a:t>
            </a:r>
          </a:p>
          <a:p>
            <a:pPr algn="l">
              <a:lnSpc>
                <a:spcPct val="130000"/>
              </a:lnSpc>
              <a:spcAft>
                <a:spcPts val="0"/>
              </a:spcAft>
            </a:pPr>
            <a:r>
              <a:rPr sz="1050" b="0" i="0">
                <a:solidFill>
                  <a:srgbClr val="1F2A3C"/>
                </a:solidFill>
                <a:latin typeface="Courier New"/>
                <a:cs typeface="Courier New"/>
                <a:ea typeface="Courier New"/>
              </a:rPr>
              <a:t>params : 8,555,530</a:t>
            </a:r>
          </a:p>
          <a:p>
            <a:pPr algn="l">
              <a:lnSpc>
                <a:spcPct val="130000"/>
              </a:lnSpc>
              <a:spcAft>
                <a:spcPts val="0"/>
              </a:spcAft>
            </a:pPr>
            <a:r>
              <a:rPr sz="1050" b="0" i="0">
                <a:solidFill>
                  <a:srgbClr val="1F2A3C"/>
                </a:solidFill>
                <a:latin typeface="Courier New"/>
                <a:cs typeface="Courier New"/>
                <a:ea typeface="Courier New"/>
              </a:rPr>
              <a:t>valid  : [92.42, 92.46, 93.05]   # 3 training repeats</a:t>
            </a:r>
          </a:p>
          <a:p>
            <a:pPr algn="l">
              <a:lnSpc>
                <a:spcPct val="130000"/>
              </a:lnSpc>
              <a:spcAft>
                <a:spcPts val="0"/>
              </a:spcAft>
            </a:pPr>
            <a:r>
              <a:rPr sz="1050" b="0" i="0">
                <a:solidFill>
                  <a:srgbClr val="1F2A3C"/>
                </a:solidFill>
                <a:latin typeface="Courier New"/>
                <a:cs typeface="Courier New"/>
                <a:ea typeface="Courier New"/>
              </a:rPr>
              <a:t>test   : [92.12, 91.91, 92.16]</a:t>
            </a:r>
          </a:p>
          <a:p>
            <a:pPr algn="l">
              <a:lnSpc>
                <a:spcPct val="130000"/>
              </a:lnSpc>
              <a:spcAft>
                <a:spcPts val="0"/>
              </a:spcAft>
            </a:pPr>
            <a:r>
              <a:rPr sz="1050" b="0" i="0">
                <a:solidFill>
                  <a:srgbClr val="1F2A3C"/>
                </a:solidFill>
                <a:latin typeface="Courier New"/>
                <a:cs typeface="Courier New"/>
                <a:ea typeface="Courier New"/>
              </a:rPr>
              <a:t>train  : [1769.1, 1768.3, 1769.0] s</a:t>
            </a:r>
          </a:p>
        </p:txBody>
      </p:sp>
      <p:sp>
        <p:nvSpPr>
          <p:cNvPr id="14" name="Rounded Rectangle 13"/>
          <p:cNvSpPr/>
          <p:nvPr/>
        </p:nvSpPr>
        <p:spPr>
          <a:xfrm>
            <a:off x="548640" y="3840480"/>
            <a:ext cx="5440680" cy="2240280"/>
          </a:xfrm>
          <a:prstGeom prst="roundRect">
            <a:avLst>
              <a:gd name="adj" fmla="val 4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85800" y="3895344"/>
            <a:ext cx="5166360" cy="320040"/>
          </a:xfrm>
          <a:prstGeom prst="rect">
            <a:avLst/>
          </a:prstGeom>
          <a:noFill/>
        </p:spPr>
        <p:txBody>
          <a:bodyPr wrap="square" anchor="t" lIns="45720" rIns="45720" tIns="27432" bIns="27432"/>
          <a:lstStyle/>
          <a:p>
            <a:pPr algn="l">
              <a:spcAft>
                <a:spcPts val="400"/>
              </a:spcAft>
            </a:pPr>
            <a:r>
              <a:rPr sz="1400" b="1" i="0">
                <a:solidFill>
                  <a:srgbClr val="002060"/>
                </a:solidFill>
                <a:latin typeface="Times New Roman"/>
                <a:cs typeface="Times New Roman"/>
                <a:ea typeface="Times New Roman"/>
              </a:rPr>
              <a:t>NATS-Bench SSS [22]</a:t>
            </a:r>
            <a:r>
              <a:rPr sz="1100" b="0" i="1">
                <a:solidFill>
                  <a:srgbClr val="595959"/>
                </a:solidFill>
                <a:latin typeface="Times New Roman"/>
                <a:cs typeface="Times New Roman"/>
                <a:ea typeface="Times New Roman"/>
              </a:rPr>
              <a:t>   natssss_cache.json · 32,768 records</a:t>
            </a:r>
          </a:p>
        </p:txBody>
      </p:sp>
      <p:sp>
        <p:nvSpPr>
          <p:cNvPr id="16" name="Rounded Rectangle 15"/>
          <p:cNvSpPr/>
          <p:nvPr/>
        </p:nvSpPr>
        <p:spPr>
          <a:xfrm>
            <a:off x="658368" y="4251960"/>
            <a:ext cx="5221224" cy="1719072"/>
          </a:xfrm>
          <a:prstGeom prst="roundRect">
            <a:avLst>
              <a:gd name="adj" fmla="val 3000"/>
            </a:avLst>
          </a:prstGeom>
          <a:solidFill>
            <a:srgbClr val="F3F5F8"/>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1520" y="4343400"/>
            <a:ext cx="5074920" cy="1600200"/>
          </a:xfrm>
          <a:prstGeom prst="rect">
            <a:avLst/>
          </a:prstGeom>
          <a:noFill/>
        </p:spPr>
        <p:txBody>
          <a:bodyPr wrap="square" anchor="t" lIns="45720" rIns="45720" tIns="27432" bIns="27432"/>
          <a:lstStyle/>
          <a:p>
            <a:pPr algn="l">
              <a:lnSpc>
                <a:spcPct val="130000"/>
              </a:lnSpc>
              <a:spcAft>
                <a:spcPts val="0"/>
              </a:spcAft>
            </a:pPr>
            <a:r>
              <a:rPr sz="1050" b="0" i="0">
                <a:solidFill>
                  <a:srgbClr val="1F2A3C"/>
                </a:solidFill>
                <a:latin typeface="Courier New"/>
                <a:cs typeface="Courier New"/>
                <a:ea typeface="Courier New"/>
              </a:rPr>
              <a:t>"32767": {</a:t>
            </a:r>
          </a:p>
          <a:p>
            <a:pPr algn="l">
              <a:lnSpc>
                <a:spcPct val="130000"/>
              </a:lnSpc>
              <a:spcAft>
                <a:spcPts val="0"/>
              </a:spcAft>
            </a:pPr>
            <a:r>
              <a:rPr sz="1050" b="0" i="0">
                <a:solidFill>
                  <a:srgbClr val="1F2A3C"/>
                </a:solidFill>
                <a:latin typeface="Courier New"/>
                <a:cs typeface="Courier New"/>
                <a:ea typeface="Courier New"/>
              </a:rPr>
              <a:t>  "arch": "64:64:64:64:64",          # channels per layer</a:t>
            </a:r>
          </a:p>
          <a:p>
            <a:pPr algn="l">
              <a:lnSpc>
                <a:spcPct val="130000"/>
              </a:lnSpc>
              <a:spcAft>
                <a:spcPts val="0"/>
              </a:spcAft>
            </a:pPr>
            <a:r>
              <a:rPr sz="1050" b="0" i="0">
                <a:solidFill>
                  <a:srgbClr val="1F2A3C"/>
                </a:solidFill>
                <a:latin typeface="Courier New"/>
                <a:cs typeface="Courier New"/>
                <a:ea typeface="Courier New"/>
              </a:rPr>
              <a:t>  "cifar10":  {"valid":90.71,"test":93.40,"train_sec":511},</a:t>
            </a:r>
          </a:p>
          <a:p>
            <a:pPr algn="l">
              <a:lnSpc>
                <a:spcPct val="130000"/>
              </a:lnSpc>
              <a:spcAft>
                <a:spcPts val="0"/>
              </a:spcAft>
            </a:pPr>
            <a:r>
              <a:rPr sz="1050" b="0" i="0">
                <a:solidFill>
                  <a:srgbClr val="1F2A3C"/>
                </a:solidFill>
                <a:latin typeface="Courier New"/>
                <a:cs typeface="Courier New"/>
                <a:ea typeface="Courier New"/>
              </a:rPr>
              <a:t>  "cifar100": {"valid":70.30,"test":70.72,"train_sec":976},</a:t>
            </a:r>
          </a:p>
          <a:p>
            <a:pPr algn="l">
              <a:lnSpc>
                <a:spcPct val="130000"/>
              </a:lnSpc>
              <a:spcAft>
                <a:spcPts val="0"/>
              </a:spcAft>
            </a:pPr>
            <a:r>
              <a:rPr sz="1050" b="0" i="0">
                <a:solidFill>
                  <a:srgbClr val="1F2A3C"/>
                </a:solidFill>
                <a:latin typeface="Courier New"/>
                <a:cs typeface="Courier New"/>
                <a:ea typeface="Courier New"/>
              </a:rPr>
              <a:t>  "ImageNet16-120": {"valid":44.73,"test":47.17, ...},</a:t>
            </a:r>
          </a:p>
          <a:p>
            <a:pPr algn="l">
              <a:lnSpc>
                <a:spcPct val="130000"/>
              </a:lnSpc>
              <a:spcAft>
                <a:spcPts val="0"/>
              </a:spcAft>
            </a:pPr>
            <a:r>
              <a:rPr sz="1050" b="0" i="0">
                <a:solidFill>
                  <a:srgbClr val="1F2A3C"/>
                </a:solidFill>
                <a:latin typeface="Courier New"/>
                <a:cs typeface="Courier New"/>
                <a:ea typeface="Courier New"/>
              </a:rPr>
              <a:t>  "params": 0.714, "flops": 274.4    # millions</a:t>
            </a:r>
          </a:p>
          <a:p>
            <a:pPr algn="l">
              <a:lnSpc>
                <a:spcPct val="130000"/>
              </a:lnSpc>
              <a:spcAft>
                <a:spcPts val="0"/>
              </a:spcAft>
            </a:pPr>
            <a:r>
              <a:rPr sz="1050" b="0" i="0">
                <a:solidFill>
                  <a:srgbClr val="1F2A3C"/>
                </a:solidFill>
                <a:latin typeface="Courier New"/>
                <a:cs typeface="Courier New"/>
                <a:ea typeface="Courier New"/>
              </a:rPr>
              <a:t>}</a:t>
            </a:r>
          </a:p>
        </p:txBody>
      </p:sp>
      <p:sp>
        <p:nvSpPr>
          <p:cNvPr id="18" name="Rounded Rectangle 17"/>
          <p:cNvSpPr/>
          <p:nvPr/>
        </p:nvSpPr>
        <p:spPr>
          <a:xfrm>
            <a:off x="6199632" y="3840480"/>
            <a:ext cx="5440680" cy="2240280"/>
          </a:xfrm>
          <a:prstGeom prst="roundRect">
            <a:avLst>
              <a:gd name="adj" fmla="val 4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36792" y="3895344"/>
            <a:ext cx="5166360" cy="320040"/>
          </a:xfrm>
          <a:prstGeom prst="rect">
            <a:avLst/>
          </a:prstGeom>
          <a:noFill/>
        </p:spPr>
        <p:txBody>
          <a:bodyPr wrap="square" anchor="t" lIns="45720" rIns="45720" tIns="27432" bIns="27432"/>
          <a:lstStyle/>
          <a:p>
            <a:pPr algn="l">
              <a:spcAft>
                <a:spcPts val="400"/>
              </a:spcAft>
            </a:pPr>
            <a:r>
              <a:rPr sz="1400" b="1" i="0">
                <a:solidFill>
                  <a:srgbClr val="002060"/>
                </a:solidFill>
                <a:latin typeface="Times New Roman"/>
                <a:cs typeface="Times New Roman"/>
                <a:ea typeface="Times New Roman"/>
              </a:rPr>
              <a:t>HW-NAS-Bench [13]</a:t>
            </a:r>
            <a:r>
              <a:rPr sz="1100" b="0" i="1">
                <a:solidFill>
                  <a:srgbClr val="595959"/>
                </a:solidFill>
                <a:latin typeface="Times New Roman"/>
                <a:cs typeface="Times New Roman"/>
                <a:ea typeface="Times New Roman"/>
              </a:rPr>
              <a:t>   hw_table__cifar10.npz · 15,625 × 6</a:t>
            </a:r>
          </a:p>
        </p:txBody>
      </p:sp>
      <p:sp>
        <p:nvSpPr>
          <p:cNvPr id="20" name="Rounded Rectangle 19"/>
          <p:cNvSpPr/>
          <p:nvPr/>
        </p:nvSpPr>
        <p:spPr>
          <a:xfrm>
            <a:off x="6309360" y="4251960"/>
            <a:ext cx="5221224" cy="1719072"/>
          </a:xfrm>
          <a:prstGeom prst="roundRect">
            <a:avLst>
              <a:gd name="adj" fmla="val 3000"/>
            </a:avLst>
          </a:prstGeom>
          <a:solidFill>
            <a:srgbClr val="F3F5F8"/>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82512" y="4343400"/>
            <a:ext cx="5074920" cy="1600200"/>
          </a:xfrm>
          <a:prstGeom prst="rect">
            <a:avLst/>
          </a:prstGeom>
          <a:noFill/>
        </p:spPr>
        <p:txBody>
          <a:bodyPr wrap="square" anchor="t" lIns="45720" rIns="45720" tIns="27432" bIns="27432"/>
          <a:lstStyle/>
          <a:p>
            <a:pPr algn="l">
              <a:lnSpc>
                <a:spcPct val="130000"/>
              </a:lnSpc>
              <a:spcAft>
                <a:spcPts val="0"/>
              </a:spcAft>
            </a:pPr>
            <a:r>
              <a:rPr sz="1050" b="0" i="0">
                <a:solidFill>
                  <a:srgbClr val="1F2A3C"/>
                </a:solidFill>
                <a:latin typeface="Courier New"/>
                <a:cs typeface="Courier New"/>
                <a:ea typeface="Courier New"/>
              </a:rPr>
              <a:t># same architecture 11667, latency per device</a:t>
            </a:r>
          </a:p>
          <a:p>
            <a:pPr algn="l">
              <a:lnSpc>
                <a:spcPct val="130000"/>
              </a:lnSpc>
              <a:spcAft>
                <a:spcPts val="0"/>
              </a:spcAft>
            </a:pPr>
            <a:r>
              <a:rPr sz="1050" b="0" i="0">
                <a:solidFill>
                  <a:srgbClr val="1F2A3C"/>
                </a:solidFill>
                <a:latin typeface="Courier New"/>
                <a:cs typeface="Courier New"/>
                <a:ea typeface="Courier New"/>
              </a:rPr>
              <a:t>acc     : 91.61        # CIFAR-10 validation %</a:t>
            </a:r>
          </a:p>
          <a:p>
            <a:pPr algn="l">
              <a:lnSpc>
                <a:spcPct val="130000"/>
              </a:lnSpc>
              <a:spcAft>
                <a:spcPts val="0"/>
              </a:spcAft>
            </a:pPr>
            <a:r>
              <a:rPr sz="1050" b="0" i="0">
                <a:solidFill>
                  <a:srgbClr val="1F2A3C"/>
                </a:solidFill>
                <a:latin typeface="Courier New"/>
                <a:cs typeface="Courier New"/>
                <a:ea typeface="Courier New"/>
              </a:rPr>
              <a:t>edgegpu :  6.81 ms     raspi4 : 68.40 ms</a:t>
            </a:r>
          </a:p>
          <a:p>
            <a:pPr algn="l">
              <a:lnSpc>
                <a:spcPct val="130000"/>
              </a:lnSpc>
              <a:spcAft>
                <a:spcPts val="0"/>
              </a:spcAft>
            </a:pPr>
            <a:r>
              <a:rPr sz="1050" b="0" i="0">
                <a:solidFill>
                  <a:srgbClr val="1F2A3C"/>
                </a:solidFill>
                <a:latin typeface="Courier New"/>
                <a:cs typeface="Courier New"/>
                <a:ea typeface="Courier New"/>
              </a:rPr>
              <a:t>edgetpu :  1.38 ms     pixel3 : 23.59 ms</a:t>
            </a:r>
          </a:p>
          <a:p>
            <a:pPr algn="l">
              <a:lnSpc>
                <a:spcPct val="130000"/>
              </a:lnSpc>
              <a:spcAft>
                <a:spcPts val="0"/>
              </a:spcAft>
            </a:pPr>
            <a:r>
              <a:rPr sz="1050" b="0" i="0">
                <a:solidFill>
                  <a:srgbClr val="1F2A3C"/>
                </a:solidFill>
                <a:latin typeface="Courier New"/>
                <a:cs typeface="Courier New"/>
                <a:ea typeface="Courier New"/>
              </a:rPr>
              <a:t>eyeriss :  7.82 ms     fpga   :  6.68 ms</a:t>
            </a:r>
          </a:p>
          <a:p>
            <a:pPr algn="l">
              <a:lnSpc>
                <a:spcPct val="130000"/>
              </a:lnSpc>
              <a:spcAft>
                <a:spcPts val="0"/>
              </a:spcAft>
            </a:pPr>
            <a:r>
              <a:rPr sz="1050" b="0" i="0">
                <a:solidFill>
                  <a:srgbClr val="1F2A3C"/>
                </a:solidFill>
                <a:latin typeface="Courier New"/>
                <a:cs typeface="Courier New"/>
                <a:ea typeface="Courier New"/>
              </a:rPr>
              <a:t># true_pareto_front__edgegpu.json</a:t>
            </a:r>
          </a:p>
          <a:p>
            <a:pPr algn="l">
              <a:lnSpc>
                <a:spcPct val="130000"/>
              </a:lnSpc>
              <a:spcAft>
                <a:spcPts val="0"/>
              </a:spcAft>
            </a:pPr>
            <a:r>
              <a:rPr sz="1050" b="0" i="0">
                <a:solidFill>
                  <a:srgbClr val="1F2A3C"/>
                </a:solidFill>
                <a:latin typeface="Courier New"/>
                <a:cs typeface="Courier New"/>
                <a:ea typeface="Courier New"/>
              </a:rPr>
              <a:t>[[91.61, 6.81], [91.57, 4.75], [91.34, 3.65], ...]</a:t>
            </a:r>
          </a:p>
        </p:txBody>
      </p:sp>
      <p:sp>
        <p:nvSpPr>
          <p:cNvPr id="22" name="Figure 3 caption"/>
          <p:cNvSpPr txBox="1"/>
          <p:nvPr/>
        </p:nvSpPr>
        <p:spPr>
          <a:xfrm>
            <a:off x="548640" y="6144768"/>
            <a:ext cx="11064240"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3. </a:t>
            </a:r>
            <a:r>
              <a:rPr sz="1100" b="0" i="1">
                <a:solidFill>
                  <a:srgbClr val="262626"/>
                </a:solidFill>
                <a:latin typeface="Times New Roman"/>
                <a:cs typeface="Times New Roman"/>
                <a:ea typeface="Times New Roman"/>
              </a:rPr>
              <a:t>One real record from each cached dataset, as read by the code.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SYSTEM DESIGN</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Proposed Pipeline: Working Model</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7</a:t>
            </a:r>
          </a:p>
        </p:txBody>
      </p:sp>
      <p:pic>
        <p:nvPicPr>
          <p:cNvPr id="6" name="Picture 5" descr="pipeline_new.png"/>
          <p:cNvPicPr>
            <a:picLocks noChangeAspect="1"/>
          </p:cNvPicPr>
          <p:nvPr/>
        </p:nvPicPr>
        <p:blipFill>
          <a:blip r:embed="rId2"/>
          <a:stretch>
            <a:fillRect/>
          </a:stretch>
        </p:blipFill>
        <p:spPr>
          <a:xfrm>
            <a:off x="1865376" y="1371600"/>
            <a:ext cx="8449056" cy="4754880"/>
          </a:xfrm>
          <a:prstGeom prst="rect">
            <a:avLst/>
          </a:prstGeom>
          <a:ln w="12700">
            <a:solidFill>
              <a:srgbClr val="B8C2D0"/>
            </a:solidFill>
          </a:ln>
        </p:spPr>
      </p:pic>
      <p:sp>
        <p:nvSpPr>
          <p:cNvPr id="7" name="Figure 4 caption"/>
          <p:cNvSpPr txBox="1"/>
          <p:nvPr/>
        </p:nvSpPr>
        <p:spPr>
          <a:xfrm>
            <a:off x="548640" y="6163056"/>
            <a:ext cx="11064240"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4. </a:t>
            </a:r>
            <a:r>
              <a:rPr sz="1100" b="0" i="1">
                <a:solidFill>
                  <a:srgbClr val="262626"/>
                </a:solidFill>
                <a:latin typeface="Times New Roman"/>
                <a:cs typeface="Times New Roman"/>
                <a:ea typeface="Times New Roman"/>
              </a:rPr>
              <a:t>ArchTree-LLM pipeline: core search loop (UCB1 [10], zero-cost proxy gate [6]) and supporting infrastructure.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METHODOLOGY</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Mathematical Model</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8</a:t>
            </a:r>
          </a:p>
        </p:txBody>
      </p:sp>
      <p:sp>
        <p:nvSpPr>
          <p:cNvPr id="6" name="Rounded Rectangle 5"/>
          <p:cNvSpPr/>
          <p:nvPr/>
        </p:nvSpPr>
        <p:spPr>
          <a:xfrm>
            <a:off x="548640" y="1508760"/>
            <a:ext cx="5440680" cy="1097280"/>
          </a:xfrm>
          <a:prstGeom prst="roundRect">
            <a:avLst>
              <a:gd name="adj" fmla="val 6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13232" y="1563624"/>
            <a:ext cx="5111496" cy="310896"/>
          </a:xfrm>
          <a:prstGeom prst="rect">
            <a:avLst/>
          </a:prstGeom>
          <a:noFill/>
        </p:spPr>
        <p:txBody>
          <a:bodyPr wrap="square" anchor="ctr" lIns="45720" rIns="45720" tIns="27432" bIns="27432"/>
          <a:lstStyle/>
          <a:p>
            <a:pPr algn="l">
              <a:spcAft>
                <a:spcPts val="400"/>
              </a:spcAft>
            </a:pPr>
            <a:r>
              <a:rPr sz="1400" b="1" i="0">
                <a:solidFill>
                  <a:srgbClr val="002060"/>
                </a:solidFill>
                <a:latin typeface="Times New Roman"/>
                <a:cs typeface="Times New Roman"/>
                <a:ea typeface="Times New Roman"/>
              </a:rPr>
              <a:t>UCB1 branch selection [10], [25]</a:t>
            </a:r>
          </a:p>
        </p:txBody>
      </p:sp>
      <p:pic>
        <p:nvPicPr>
          <p:cNvPr id="8" name="Picture 7" descr="ucb.png"/>
          <p:cNvPicPr>
            <a:picLocks noChangeAspect="1"/>
          </p:cNvPicPr>
          <p:nvPr/>
        </p:nvPicPr>
        <p:blipFill>
          <a:blip r:embed="rId2"/>
          <a:stretch>
            <a:fillRect/>
          </a:stretch>
        </p:blipFill>
        <p:spPr>
          <a:xfrm>
            <a:off x="1089781" y="1884212"/>
            <a:ext cx="3809756" cy="538398"/>
          </a:xfrm>
          <a:prstGeom prst="rect">
            <a:avLst/>
          </a:prstGeom>
        </p:spPr>
      </p:pic>
      <p:sp>
        <p:nvSpPr>
          <p:cNvPr id="9" name="Eq 1 number"/>
          <p:cNvSpPr txBox="1"/>
          <p:nvPr/>
        </p:nvSpPr>
        <p:spPr>
          <a:xfrm>
            <a:off x="5303520" y="1883664"/>
            <a:ext cx="566928" cy="539496"/>
          </a:xfrm>
          <a:prstGeom prst="rect">
            <a:avLst/>
          </a:prstGeom>
          <a:noFill/>
        </p:spPr>
        <p:txBody>
          <a:bodyPr wrap="square" anchor="ctr" lIns="0" rIns="0" tIns="27432" bIns="27432"/>
          <a:lstStyle/>
          <a:p>
            <a:pPr algn="r">
              <a:spcAft>
                <a:spcPts val="400"/>
              </a:spcAft>
            </a:pPr>
            <a:r>
              <a:rPr sz="1400" b="1" i="0">
                <a:solidFill>
                  <a:srgbClr val="002060"/>
                </a:solidFill>
                <a:latin typeface="Times New Roman"/>
                <a:cs typeface="Times New Roman"/>
                <a:ea typeface="Times New Roman"/>
              </a:rPr>
              <a:t>(1)</a:t>
            </a:r>
          </a:p>
        </p:txBody>
      </p:sp>
      <p:sp>
        <p:nvSpPr>
          <p:cNvPr id="10" name="TextBox 9"/>
          <p:cNvSpPr txBox="1"/>
          <p:nvPr/>
        </p:nvSpPr>
        <p:spPr>
          <a:xfrm>
            <a:off x="731520" y="2404872"/>
            <a:ext cx="5074920" cy="201168"/>
          </a:xfrm>
          <a:prstGeom prst="rect">
            <a:avLst/>
          </a:prstGeom>
          <a:noFill/>
        </p:spPr>
        <p:txBody>
          <a:bodyPr wrap="square" anchor="t" lIns="0" rIns="0" tIns="27432" bIns="27432"/>
          <a:lstStyle/>
          <a:p>
            <a:pPr algn="ctr">
              <a:spcAft>
                <a:spcPts val="400"/>
              </a:spcAft>
            </a:pPr>
            <a:r>
              <a:rPr sz="1050" b="0" i="1">
                <a:solidFill>
                  <a:srgbClr val="595959"/>
                </a:solidFill>
                <a:latin typeface="Times New Roman"/>
                <a:cs typeface="Times New Roman"/>
                <a:ea typeface="Times New Roman"/>
              </a:rPr>
              <a:t>Balance good vs unexplored branches</a:t>
            </a:r>
          </a:p>
        </p:txBody>
      </p:sp>
      <p:sp>
        <p:nvSpPr>
          <p:cNvPr id="11" name="Rounded Rectangle 10"/>
          <p:cNvSpPr/>
          <p:nvPr/>
        </p:nvSpPr>
        <p:spPr>
          <a:xfrm>
            <a:off x="6172200" y="1508760"/>
            <a:ext cx="5440680" cy="1097280"/>
          </a:xfrm>
          <a:prstGeom prst="roundRect">
            <a:avLst>
              <a:gd name="adj" fmla="val 6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36792" y="1563624"/>
            <a:ext cx="5111496" cy="310896"/>
          </a:xfrm>
          <a:prstGeom prst="rect">
            <a:avLst/>
          </a:prstGeom>
          <a:noFill/>
        </p:spPr>
        <p:txBody>
          <a:bodyPr wrap="square" anchor="ctr" lIns="45720" rIns="45720" tIns="27432" bIns="27432"/>
          <a:lstStyle/>
          <a:p>
            <a:pPr algn="l">
              <a:spcAft>
                <a:spcPts val="400"/>
              </a:spcAft>
            </a:pPr>
            <a:r>
              <a:rPr sz="1400" b="1" i="0">
                <a:solidFill>
                  <a:srgbClr val="002060"/>
                </a:solidFill>
                <a:latin typeface="Times New Roman"/>
                <a:cs typeface="Times New Roman"/>
                <a:ea typeface="Times New Roman"/>
              </a:rPr>
              <a:t>Rank-normalised reward (proposed)</a:t>
            </a:r>
          </a:p>
        </p:txBody>
      </p:sp>
      <p:pic>
        <p:nvPicPr>
          <p:cNvPr id="13" name="Picture 12" descr="rank.png"/>
          <p:cNvPicPr>
            <a:picLocks noChangeAspect="1"/>
          </p:cNvPicPr>
          <p:nvPr/>
        </p:nvPicPr>
        <p:blipFill>
          <a:blip r:embed="rId3"/>
          <a:stretch>
            <a:fillRect/>
          </a:stretch>
        </p:blipFill>
        <p:spPr>
          <a:xfrm>
            <a:off x="7422428" y="1918350"/>
            <a:ext cx="2391582" cy="470123"/>
          </a:xfrm>
          <a:prstGeom prst="rect">
            <a:avLst/>
          </a:prstGeom>
        </p:spPr>
      </p:pic>
      <p:sp>
        <p:nvSpPr>
          <p:cNvPr id="14" name="Eq 2 number"/>
          <p:cNvSpPr txBox="1"/>
          <p:nvPr/>
        </p:nvSpPr>
        <p:spPr>
          <a:xfrm>
            <a:off x="10927080" y="1883664"/>
            <a:ext cx="566928" cy="539496"/>
          </a:xfrm>
          <a:prstGeom prst="rect">
            <a:avLst/>
          </a:prstGeom>
          <a:noFill/>
        </p:spPr>
        <p:txBody>
          <a:bodyPr wrap="square" anchor="ctr" lIns="0" rIns="0" tIns="27432" bIns="27432"/>
          <a:lstStyle/>
          <a:p>
            <a:pPr algn="r">
              <a:spcAft>
                <a:spcPts val="400"/>
              </a:spcAft>
            </a:pPr>
            <a:r>
              <a:rPr sz="1400" b="1" i="0">
                <a:solidFill>
                  <a:srgbClr val="002060"/>
                </a:solidFill>
                <a:latin typeface="Times New Roman"/>
                <a:cs typeface="Times New Roman"/>
                <a:ea typeface="Times New Roman"/>
              </a:rPr>
              <a:t>(2)</a:t>
            </a:r>
          </a:p>
        </p:txBody>
      </p:sp>
      <p:sp>
        <p:nvSpPr>
          <p:cNvPr id="15" name="TextBox 14"/>
          <p:cNvSpPr txBox="1"/>
          <p:nvPr/>
        </p:nvSpPr>
        <p:spPr>
          <a:xfrm>
            <a:off x="6355080" y="2404872"/>
            <a:ext cx="5074920" cy="201168"/>
          </a:xfrm>
          <a:prstGeom prst="rect">
            <a:avLst/>
          </a:prstGeom>
          <a:noFill/>
        </p:spPr>
        <p:txBody>
          <a:bodyPr wrap="square" anchor="t" lIns="0" rIns="0" tIns="27432" bIns="27432"/>
          <a:lstStyle/>
          <a:p>
            <a:pPr algn="ctr">
              <a:spcAft>
                <a:spcPts val="400"/>
              </a:spcAft>
            </a:pPr>
            <a:r>
              <a:rPr sz="1050" b="0" i="1">
                <a:solidFill>
                  <a:srgbClr val="595959"/>
                </a:solidFill>
                <a:latin typeface="Times New Roman"/>
                <a:cs typeface="Times New Roman"/>
                <a:ea typeface="Times New Roman"/>
              </a:rPr>
              <a:t>Spreads squashed accuracies over [0, 1]</a:t>
            </a:r>
          </a:p>
        </p:txBody>
      </p:sp>
      <p:sp>
        <p:nvSpPr>
          <p:cNvPr id="16" name="Rounded Rectangle 15"/>
          <p:cNvSpPr/>
          <p:nvPr/>
        </p:nvSpPr>
        <p:spPr>
          <a:xfrm>
            <a:off x="548640" y="2697480"/>
            <a:ext cx="5440680" cy="1097280"/>
          </a:xfrm>
          <a:prstGeom prst="roundRect">
            <a:avLst>
              <a:gd name="adj" fmla="val 6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13232" y="2752344"/>
            <a:ext cx="5111496" cy="310896"/>
          </a:xfrm>
          <a:prstGeom prst="rect">
            <a:avLst/>
          </a:prstGeom>
          <a:noFill/>
        </p:spPr>
        <p:txBody>
          <a:bodyPr wrap="square" anchor="ctr" lIns="45720" rIns="45720" tIns="27432" bIns="27432"/>
          <a:lstStyle/>
          <a:p>
            <a:pPr algn="l">
              <a:spcAft>
                <a:spcPts val="400"/>
              </a:spcAft>
            </a:pPr>
            <a:r>
              <a:rPr sz="1400" b="1" i="0">
                <a:solidFill>
                  <a:srgbClr val="002060"/>
                </a:solidFill>
                <a:latin typeface="Times New Roman"/>
                <a:cs typeface="Times New Roman"/>
                <a:ea typeface="Times New Roman"/>
              </a:rPr>
              <a:t>LLM warm-start prior [7]</a:t>
            </a:r>
          </a:p>
        </p:txBody>
      </p:sp>
      <p:pic>
        <p:nvPicPr>
          <p:cNvPr id="18" name="Picture 17" descr="llm.png"/>
          <p:cNvPicPr>
            <a:picLocks noChangeAspect="1"/>
          </p:cNvPicPr>
          <p:nvPr/>
        </p:nvPicPr>
        <p:blipFill>
          <a:blip r:embed="rId4"/>
          <a:stretch>
            <a:fillRect/>
          </a:stretch>
        </p:blipFill>
        <p:spPr>
          <a:xfrm>
            <a:off x="1436034" y="3229965"/>
            <a:ext cx="3117250" cy="224332"/>
          </a:xfrm>
          <a:prstGeom prst="rect">
            <a:avLst/>
          </a:prstGeom>
        </p:spPr>
      </p:pic>
      <p:sp>
        <p:nvSpPr>
          <p:cNvPr id="19" name="Eq 3 number"/>
          <p:cNvSpPr txBox="1"/>
          <p:nvPr/>
        </p:nvSpPr>
        <p:spPr>
          <a:xfrm>
            <a:off x="5303520" y="3072384"/>
            <a:ext cx="566928" cy="539496"/>
          </a:xfrm>
          <a:prstGeom prst="rect">
            <a:avLst/>
          </a:prstGeom>
          <a:noFill/>
        </p:spPr>
        <p:txBody>
          <a:bodyPr wrap="square" anchor="ctr" lIns="0" rIns="0" tIns="27432" bIns="27432"/>
          <a:lstStyle/>
          <a:p>
            <a:pPr algn="r">
              <a:spcAft>
                <a:spcPts val="400"/>
              </a:spcAft>
            </a:pPr>
            <a:r>
              <a:rPr sz="1400" b="1" i="0">
                <a:solidFill>
                  <a:srgbClr val="002060"/>
                </a:solidFill>
                <a:latin typeface="Times New Roman"/>
                <a:cs typeface="Times New Roman"/>
                <a:ea typeface="Times New Roman"/>
              </a:rPr>
              <a:t>(3)</a:t>
            </a:r>
          </a:p>
        </p:txBody>
      </p:sp>
      <p:sp>
        <p:nvSpPr>
          <p:cNvPr id="20" name="TextBox 19"/>
          <p:cNvSpPr txBox="1"/>
          <p:nvPr/>
        </p:nvSpPr>
        <p:spPr>
          <a:xfrm>
            <a:off x="731520" y="3593592"/>
            <a:ext cx="5074920" cy="201168"/>
          </a:xfrm>
          <a:prstGeom prst="rect">
            <a:avLst/>
          </a:prstGeom>
          <a:noFill/>
        </p:spPr>
        <p:txBody>
          <a:bodyPr wrap="square" anchor="t" lIns="0" rIns="0" tIns="27432" bIns="27432"/>
          <a:lstStyle/>
          <a:p>
            <a:pPr algn="ctr">
              <a:spcAft>
                <a:spcPts val="400"/>
              </a:spcAft>
            </a:pPr>
            <a:r>
              <a:rPr sz="1050" b="0" i="1">
                <a:solidFill>
                  <a:srgbClr val="595959"/>
                </a:solidFill>
                <a:latin typeface="Times New Roman"/>
                <a:cs typeface="Times New Roman"/>
                <a:ea typeface="Times New Roman"/>
              </a:rPr>
              <a:t>LLM guess, fades as data arrives</a:t>
            </a:r>
          </a:p>
        </p:txBody>
      </p:sp>
      <p:sp>
        <p:nvSpPr>
          <p:cNvPr id="21" name="Rounded Rectangle 20"/>
          <p:cNvSpPr/>
          <p:nvPr/>
        </p:nvSpPr>
        <p:spPr>
          <a:xfrm>
            <a:off x="6172200" y="2697480"/>
            <a:ext cx="5440680" cy="1097280"/>
          </a:xfrm>
          <a:prstGeom prst="roundRect">
            <a:avLst>
              <a:gd name="adj" fmla="val 6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36792" y="2752344"/>
            <a:ext cx="5111496" cy="310896"/>
          </a:xfrm>
          <a:prstGeom prst="rect">
            <a:avLst/>
          </a:prstGeom>
          <a:noFill/>
        </p:spPr>
        <p:txBody>
          <a:bodyPr wrap="square" anchor="ctr" lIns="45720" rIns="45720" tIns="27432" bIns="27432"/>
          <a:lstStyle/>
          <a:p>
            <a:pPr algn="l">
              <a:spcAft>
                <a:spcPts val="400"/>
              </a:spcAft>
            </a:pPr>
            <a:r>
              <a:rPr sz="1400" b="1" i="0">
                <a:solidFill>
                  <a:srgbClr val="002060"/>
                </a:solidFill>
                <a:latin typeface="Times New Roman"/>
                <a:cs typeface="Times New Roman"/>
                <a:ea typeface="Times New Roman"/>
              </a:rPr>
              <a:t>Label-free proxy ensemble [26], [27]</a:t>
            </a:r>
          </a:p>
        </p:txBody>
      </p:sp>
      <p:pic>
        <p:nvPicPr>
          <p:cNvPr id="23" name="Picture 22" descr="proxy.png"/>
          <p:cNvPicPr>
            <a:picLocks noChangeAspect="1"/>
          </p:cNvPicPr>
          <p:nvPr/>
        </p:nvPicPr>
        <p:blipFill>
          <a:blip r:embed="rId5"/>
          <a:stretch>
            <a:fillRect/>
          </a:stretch>
        </p:blipFill>
        <p:spPr>
          <a:xfrm>
            <a:off x="7460467" y="3121700"/>
            <a:ext cx="2315504" cy="440862"/>
          </a:xfrm>
          <a:prstGeom prst="rect">
            <a:avLst/>
          </a:prstGeom>
        </p:spPr>
      </p:pic>
      <p:sp>
        <p:nvSpPr>
          <p:cNvPr id="24" name="Eq 4 number"/>
          <p:cNvSpPr txBox="1"/>
          <p:nvPr/>
        </p:nvSpPr>
        <p:spPr>
          <a:xfrm>
            <a:off x="10927080" y="3072384"/>
            <a:ext cx="566928" cy="539496"/>
          </a:xfrm>
          <a:prstGeom prst="rect">
            <a:avLst/>
          </a:prstGeom>
          <a:noFill/>
        </p:spPr>
        <p:txBody>
          <a:bodyPr wrap="square" anchor="ctr" lIns="0" rIns="0" tIns="27432" bIns="27432"/>
          <a:lstStyle/>
          <a:p>
            <a:pPr algn="r">
              <a:spcAft>
                <a:spcPts val="400"/>
              </a:spcAft>
            </a:pPr>
            <a:r>
              <a:rPr sz="1400" b="1" i="0">
                <a:solidFill>
                  <a:srgbClr val="002060"/>
                </a:solidFill>
                <a:latin typeface="Times New Roman"/>
                <a:cs typeface="Times New Roman"/>
                <a:ea typeface="Times New Roman"/>
              </a:rPr>
              <a:t>(4)</a:t>
            </a:r>
          </a:p>
        </p:txBody>
      </p:sp>
      <p:sp>
        <p:nvSpPr>
          <p:cNvPr id="25" name="TextBox 24"/>
          <p:cNvSpPr txBox="1"/>
          <p:nvPr/>
        </p:nvSpPr>
        <p:spPr>
          <a:xfrm>
            <a:off x="6355080" y="3593592"/>
            <a:ext cx="5074920" cy="201168"/>
          </a:xfrm>
          <a:prstGeom prst="rect">
            <a:avLst/>
          </a:prstGeom>
          <a:noFill/>
        </p:spPr>
        <p:txBody>
          <a:bodyPr wrap="square" anchor="t" lIns="0" rIns="0" tIns="27432" bIns="27432"/>
          <a:lstStyle/>
          <a:p>
            <a:pPr algn="ctr">
              <a:spcAft>
                <a:spcPts val="400"/>
              </a:spcAft>
            </a:pPr>
            <a:r>
              <a:rPr sz="1050" b="0" i="1">
                <a:solidFill>
                  <a:srgbClr val="595959"/>
                </a:solidFill>
                <a:latin typeface="Times New Roman"/>
                <a:cs typeface="Times New Roman"/>
                <a:ea typeface="Times New Roman"/>
              </a:rPr>
              <a:t>Mean of 3 z-scored proxies, 0 labels</a:t>
            </a:r>
          </a:p>
        </p:txBody>
      </p:sp>
      <p:sp>
        <p:nvSpPr>
          <p:cNvPr id="26" name="Rounded Rectangle 25"/>
          <p:cNvSpPr/>
          <p:nvPr/>
        </p:nvSpPr>
        <p:spPr>
          <a:xfrm>
            <a:off x="548640" y="3886200"/>
            <a:ext cx="5440680" cy="1097280"/>
          </a:xfrm>
          <a:prstGeom prst="roundRect">
            <a:avLst>
              <a:gd name="adj" fmla="val 6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13232" y="3941063"/>
            <a:ext cx="5111496" cy="310896"/>
          </a:xfrm>
          <a:prstGeom prst="rect">
            <a:avLst/>
          </a:prstGeom>
          <a:noFill/>
        </p:spPr>
        <p:txBody>
          <a:bodyPr wrap="square" anchor="ctr" lIns="45720" rIns="45720" tIns="27432" bIns="27432"/>
          <a:lstStyle/>
          <a:p>
            <a:pPr algn="l">
              <a:spcAft>
                <a:spcPts val="400"/>
              </a:spcAft>
            </a:pPr>
            <a:r>
              <a:rPr sz="1400" b="1" i="0">
                <a:solidFill>
                  <a:srgbClr val="002060"/>
                </a:solidFill>
                <a:latin typeface="Times New Roman"/>
                <a:cs typeface="Times New Roman"/>
                <a:ea typeface="Times New Roman"/>
              </a:rPr>
              <a:t>Zero-cost gate [6]</a:t>
            </a:r>
          </a:p>
        </p:txBody>
      </p:sp>
      <p:pic>
        <p:nvPicPr>
          <p:cNvPr id="28" name="Picture 27" descr="gate.png"/>
          <p:cNvPicPr>
            <a:picLocks noChangeAspect="1"/>
          </p:cNvPicPr>
          <p:nvPr/>
        </p:nvPicPr>
        <p:blipFill>
          <a:blip r:embed="rId6"/>
          <a:stretch>
            <a:fillRect/>
          </a:stretch>
        </p:blipFill>
        <p:spPr>
          <a:xfrm>
            <a:off x="1285829" y="4418685"/>
            <a:ext cx="3417661" cy="224332"/>
          </a:xfrm>
          <a:prstGeom prst="rect">
            <a:avLst/>
          </a:prstGeom>
        </p:spPr>
      </p:pic>
      <p:sp>
        <p:nvSpPr>
          <p:cNvPr id="29" name="Eq 5 number"/>
          <p:cNvSpPr txBox="1"/>
          <p:nvPr/>
        </p:nvSpPr>
        <p:spPr>
          <a:xfrm>
            <a:off x="5303520" y="4261104"/>
            <a:ext cx="566928" cy="539496"/>
          </a:xfrm>
          <a:prstGeom prst="rect">
            <a:avLst/>
          </a:prstGeom>
          <a:noFill/>
        </p:spPr>
        <p:txBody>
          <a:bodyPr wrap="square" anchor="ctr" lIns="0" rIns="0" tIns="27432" bIns="27432"/>
          <a:lstStyle/>
          <a:p>
            <a:pPr algn="r">
              <a:spcAft>
                <a:spcPts val="400"/>
              </a:spcAft>
            </a:pPr>
            <a:r>
              <a:rPr sz="1400" b="1" i="0">
                <a:solidFill>
                  <a:srgbClr val="002060"/>
                </a:solidFill>
                <a:latin typeface="Times New Roman"/>
                <a:cs typeface="Times New Roman"/>
                <a:ea typeface="Times New Roman"/>
              </a:rPr>
              <a:t>(5)</a:t>
            </a:r>
          </a:p>
        </p:txBody>
      </p:sp>
      <p:sp>
        <p:nvSpPr>
          <p:cNvPr id="30" name="TextBox 29"/>
          <p:cNvSpPr txBox="1"/>
          <p:nvPr/>
        </p:nvSpPr>
        <p:spPr>
          <a:xfrm>
            <a:off x="731520" y="4782312"/>
            <a:ext cx="5074920" cy="201168"/>
          </a:xfrm>
          <a:prstGeom prst="rect">
            <a:avLst/>
          </a:prstGeom>
          <a:noFill/>
        </p:spPr>
        <p:txBody>
          <a:bodyPr wrap="square" anchor="t" lIns="0" rIns="0" tIns="27432" bIns="27432"/>
          <a:lstStyle/>
          <a:p>
            <a:pPr algn="ctr">
              <a:spcAft>
                <a:spcPts val="400"/>
              </a:spcAft>
            </a:pPr>
            <a:r>
              <a:rPr sz="1050" b="0" i="1">
                <a:solidFill>
                  <a:srgbClr val="595959"/>
                </a:solidFill>
                <a:latin typeface="Times New Roman"/>
                <a:cs typeface="Times New Roman"/>
                <a:ea typeface="Times New Roman"/>
              </a:rPr>
              <a:t>Only the top 35% are evaluated</a:t>
            </a:r>
          </a:p>
        </p:txBody>
      </p:sp>
      <p:sp>
        <p:nvSpPr>
          <p:cNvPr id="31" name="Rounded Rectangle 30"/>
          <p:cNvSpPr/>
          <p:nvPr/>
        </p:nvSpPr>
        <p:spPr>
          <a:xfrm>
            <a:off x="6172200" y="3886200"/>
            <a:ext cx="5440680" cy="1097280"/>
          </a:xfrm>
          <a:prstGeom prst="roundRect">
            <a:avLst>
              <a:gd name="adj" fmla="val 6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336792" y="3941063"/>
            <a:ext cx="5111496" cy="310896"/>
          </a:xfrm>
          <a:prstGeom prst="rect">
            <a:avLst/>
          </a:prstGeom>
          <a:noFill/>
        </p:spPr>
        <p:txBody>
          <a:bodyPr wrap="square" anchor="ctr" lIns="45720" rIns="45720" tIns="27432" bIns="27432"/>
          <a:lstStyle/>
          <a:p>
            <a:pPr algn="l">
              <a:spcAft>
                <a:spcPts val="400"/>
              </a:spcAft>
            </a:pPr>
            <a:r>
              <a:rPr sz="1400" b="1" i="0">
                <a:solidFill>
                  <a:srgbClr val="002060"/>
                </a:solidFill>
                <a:latin typeface="Times New Roman"/>
                <a:cs typeface="Times New Roman"/>
                <a:ea typeface="Times New Roman"/>
              </a:rPr>
              <a:t>Equal GPU-hour budget [9]</a:t>
            </a:r>
          </a:p>
        </p:txBody>
      </p:sp>
      <p:pic>
        <p:nvPicPr>
          <p:cNvPr id="33" name="Picture 32" descr="budget.png"/>
          <p:cNvPicPr>
            <a:picLocks noChangeAspect="1"/>
          </p:cNvPicPr>
          <p:nvPr/>
        </p:nvPicPr>
        <p:blipFill>
          <a:blip r:embed="rId7"/>
          <a:stretch>
            <a:fillRect/>
          </a:stretch>
        </p:blipFill>
        <p:spPr>
          <a:xfrm>
            <a:off x="6724070" y="4355287"/>
            <a:ext cx="3788298" cy="351129"/>
          </a:xfrm>
          <a:prstGeom prst="rect">
            <a:avLst/>
          </a:prstGeom>
        </p:spPr>
      </p:pic>
      <p:sp>
        <p:nvSpPr>
          <p:cNvPr id="34" name="Eq 6 number"/>
          <p:cNvSpPr txBox="1"/>
          <p:nvPr/>
        </p:nvSpPr>
        <p:spPr>
          <a:xfrm>
            <a:off x="10927080" y="4261104"/>
            <a:ext cx="566928" cy="539496"/>
          </a:xfrm>
          <a:prstGeom prst="rect">
            <a:avLst/>
          </a:prstGeom>
          <a:noFill/>
        </p:spPr>
        <p:txBody>
          <a:bodyPr wrap="square" anchor="ctr" lIns="0" rIns="0" tIns="27432" bIns="27432"/>
          <a:lstStyle/>
          <a:p>
            <a:pPr algn="r">
              <a:spcAft>
                <a:spcPts val="400"/>
              </a:spcAft>
            </a:pPr>
            <a:r>
              <a:rPr sz="1400" b="1" i="0">
                <a:solidFill>
                  <a:srgbClr val="002060"/>
                </a:solidFill>
                <a:latin typeface="Times New Roman"/>
                <a:cs typeface="Times New Roman"/>
                <a:ea typeface="Times New Roman"/>
              </a:rPr>
              <a:t>(6)</a:t>
            </a:r>
          </a:p>
        </p:txBody>
      </p:sp>
      <p:sp>
        <p:nvSpPr>
          <p:cNvPr id="35" name="TextBox 34"/>
          <p:cNvSpPr txBox="1"/>
          <p:nvPr/>
        </p:nvSpPr>
        <p:spPr>
          <a:xfrm>
            <a:off x="6355080" y="4782312"/>
            <a:ext cx="5074920" cy="201168"/>
          </a:xfrm>
          <a:prstGeom prst="rect">
            <a:avLst/>
          </a:prstGeom>
          <a:noFill/>
        </p:spPr>
        <p:txBody>
          <a:bodyPr wrap="square" anchor="t" lIns="0" rIns="0" tIns="27432" bIns="27432"/>
          <a:lstStyle/>
          <a:p>
            <a:pPr algn="ctr">
              <a:spcAft>
                <a:spcPts val="400"/>
              </a:spcAft>
            </a:pPr>
            <a:r>
              <a:rPr sz="1050" b="0" i="1">
                <a:solidFill>
                  <a:srgbClr val="595959"/>
                </a:solidFill>
                <a:latin typeface="Times New Roman"/>
                <a:cs typeface="Times New Roman"/>
                <a:ea typeface="Times New Roman"/>
              </a:rPr>
              <a:t>Same training time H for all methods</a:t>
            </a:r>
          </a:p>
        </p:txBody>
      </p:sp>
      <p:sp>
        <p:nvSpPr>
          <p:cNvPr id="36" name="Rounded Rectangle 35"/>
          <p:cNvSpPr/>
          <p:nvPr/>
        </p:nvSpPr>
        <p:spPr>
          <a:xfrm>
            <a:off x="548640" y="5074920"/>
            <a:ext cx="5440680" cy="1097280"/>
          </a:xfrm>
          <a:prstGeom prst="roundRect">
            <a:avLst>
              <a:gd name="adj" fmla="val 6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13232" y="5129784"/>
            <a:ext cx="5111496" cy="310896"/>
          </a:xfrm>
          <a:prstGeom prst="rect">
            <a:avLst/>
          </a:prstGeom>
          <a:noFill/>
        </p:spPr>
        <p:txBody>
          <a:bodyPr wrap="square" anchor="ctr" lIns="45720" rIns="45720" tIns="27432" bIns="27432"/>
          <a:lstStyle/>
          <a:p>
            <a:pPr algn="l">
              <a:spcAft>
                <a:spcPts val="400"/>
              </a:spcAft>
            </a:pPr>
            <a:r>
              <a:rPr sz="1400" b="1" i="0">
                <a:solidFill>
                  <a:srgbClr val="002060"/>
                </a:solidFill>
                <a:latin typeface="Times New Roman"/>
                <a:cs typeface="Times New Roman"/>
                <a:ea typeface="Times New Roman"/>
              </a:rPr>
              <a:t>Gate-cost criterion (proposed)</a:t>
            </a:r>
          </a:p>
        </p:txBody>
      </p:sp>
      <p:pic>
        <p:nvPicPr>
          <p:cNvPr id="38" name="Picture 37" descr="cost.png"/>
          <p:cNvPicPr>
            <a:picLocks noChangeAspect="1"/>
          </p:cNvPicPr>
          <p:nvPr/>
        </p:nvPicPr>
        <p:blipFill>
          <a:blip r:embed="rId8"/>
          <a:stretch>
            <a:fillRect/>
          </a:stretch>
        </p:blipFill>
        <p:spPr>
          <a:xfrm>
            <a:off x="1078077" y="5494263"/>
            <a:ext cx="3833164" cy="450616"/>
          </a:xfrm>
          <a:prstGeom prst="rect">
            <a:avLst/>
          </a:prstGeom>
        </p:spPr>
      </p:pic>
      <p:sp>
        <p:nvSpPr>
          <p:cNvPr id="39" name="Eq 7 number"/>
          <p:cNvSpPr txBox="1"/>
          <p:nvPr/>
        </p:nvSpPr>
        <p:spPr>
          <a:xfrm>
            <a:off x="5303520" y="5449824"/>
            <a:ext cx="566928" cy="539496"/>
          </a:xfrm>
          <a:prstGeom prst="rect">
            <a:avLst/>
          </a:prstGeom>
          <a:noFill/>
        </p:spPr>
        <p:txBody>
          <a:bodyPr wrap="square" anchor="ctr" lIns="0" rIns="0" tIns="27432" bIns="27432"/>
          <a:lstStyle/>
          <a:p>
            <a:pPr algn="r">
              <a:spcAft>
                <a:spcPts val="400"/>
              </a:spcAft>
            </a:pPr>
            <a:r>
              <a:rPr sz="1400" b="1" i="0">
                <a:solidFill>
                  <a:srgbClr val="002060"/>
                </a:solidFill>
                <a:latin typeface="Times New Roman"/>
                <a:cs typeface="Times New Roman"/>
                <a:ea typeface="Times New Roman"/>
              </a:rPr>
              <a:t>(7)</a:t>
            </a:r>
          </a:p>
        </p:txBody>
      </p:sp>
      <p:sp>
        <p:nvSpPr>
          <p:cNvPr id="40" name="TextBox 39"/>
          <p:cNvSpPr txBox="1"/>
          <p:nvPr/>
        </p:nvSpPr>
        <p:spPr>
          <a:xfrm>
            <a:off x="731520" y="5971032"/>
            <a:ext cx="5074920" cy="201168"/>
          </a:xfrm>
          <a:prstGeom prst="rect">
            <a:avLst/>
          </a:prstGeom>
          <a:noFill/>
        </p:spPr>
        <p:txBody>
          <a:bodyPr wrap="square" anchor="t" lIns="0" rIns="0" tIns="27432" bIns="27432"/>
          <a:lstStyle/>
          <a:p>
            <a:pPr algn="ctr">
              <a:spcAft>
                <a:spcPts val="400"/>
              </a:spcAft>
            </a:pPr>
            <a:r>
              <a:rPr sz="1050" b="0" i="1">
                <a:solidFill>
                  <a:srgbClr val="595959"/>
                </a:solidFill>
                <a:latin typeface="Times New Roman"/>
                <a:cs typeface="Times New Roman"/>
                <a:ea typeface="Times New Roman"/>
              </a:rPr>
              <a:t>&lt; 0 ⇒ a cost penalty will hurt</a:t>
            </a:r>
          </a:p>
        </p:txBody>
      </p:sp>
      <p:sp>
        <p:nvSpPr>
          <p:cNvPr id="41" name="Rounded Rectangle 40"/>
          <p:cNvSpPr/>
          <p:nvPr/>
        </p:nvSpPr>
        <p:spPr>
          <a:xfrm>
            <a:off x="6172200" y="5074920"/>
            <a:ext cx="5440680" cy="1097280"/>
          </a:xfrm>
          <a:prstGeom prst="roundRect">
            <a:avLst>
              <a:gd name="adj" fmla="val 6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355080" y="5120640"/>
            <a:ext cx="5074920" cy="1005839"/>
          </a:xfrm>
          <a:prstGeom prst="rect">
            <a:avLst/>
          </a:prstGeom>
          <a:noFill/>
        </p:spPr>
        <p:txBody>
          <a:bodyPr wrap="square" anchor="ctr" lIns="45720" rIns="45720" tIns="27432" bIns="27432"/>
          <a:lstStyle/>
          <a:p>
            <a:pPr algn="l">
              <a:spcAft>
                <a:spcPts val="400"/>
              </a:spcAft>
            </a:pPr>
            <a:r>
              <a:rPr sz="1100" b="1" i="0">
                <a:solidFill>
                  <a:srgbClr val="002060"/>
                </a:solidFill>
                <a:latin typeface="Times New Roman"/>
                <a:cs typeface="Times New Roman"/>
                <a:ea typeface="Times New Roman"/>
              </a:rPr>
              <a:t>Notation  </a:t>
            </a:r>
            <a:r>
              <a:rPr sz="1100" b="0" i="0">
                <a:solidFill>
                  <a:srgbClr val="262626"/>
                </a:solidFill>
                <a:latin typeface="Times New Roman"/>
                <a:cs typeface="Times New Roman"/>
                <a:ea typeface="Times New Roman"/>
              </a:rPr>
              <a:t>c, p: child / parent node · N, n: visits · E, S, T: proxies · z: z-score · τ: training time · ℰ: evaluated set · A: accuracy · D: cost · ρ, r: correlation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EXPERIMENTAL SETUP</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Baselines Compared</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9</a:t>
            </a:r>
          </a:p>
        </p:txBody>
      </p:sp>
      <p:sp>
        <p:nvSpPr>
          <p:cNvPr id="6" name="Rounded Rectangle 5"/>
          <p:cNvSpPr/>
          <p:nvPr/>
        </p:nvSpPr>
        <p:spPr>
          <a:xfrm>
            <a:off x="548640" y="1536192"/>
            <a:ext cx="2651760" cy="420624"/>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400" b="1" i="0">
                <a:solidFill>
                  <a:srgbClr val="FFFFFF"/>
                </a:solidFill>
                <a:latin typeface="Times New Roman"/>
                <a:cs typeface="Times New Roman"/>
                <a:ea typeface="Times New Roman"/>
              </a:rPr>
              <a:t>Sampling &amp; evolution</a:t>
            </a:r>
          </a:p>
        </p:txBody>
      </p:sp>
      <p:sp>
        <p:nvSpPr>
          <p:cNvPr id="7" name="Rounded Rectangle 6"/>
          <p:cNvSpPr/>
          <p:nvPr/>
        </p:nvSpPr>
        <p:spPr>
          <a:xfrm>
            <a:off x="548640" y="2103120"/>
            <a:ext cx="2651760" cy="896112"/>
          </a:xfrm>
          <a:prstGeom prst="roundRect">
            <a:avLst>
              <a:gd name="adj" fmla="val 10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5800" y="2139696"/>
            <a:ext cx="2377440" cy="292608"/>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RS</a:t>
            </a:r>
          </a:p>
        </p:txBody>
      </p:sp>
      <p:sp>
        <p:nvSpPr>
          <p:cNvPr id="9" name="TextBox 8"/>
          <p:cNvSpPr txBox="1"/>
          <p:nvPr/>
        </p:nvSpPr>
        <p:spPr>
          <a:xfrm>
            <a:off x="685800" y="2423160"/>
            <a:ext cx="2377440" cy="274320"/>
          </a:xfrm>
          <a:prstGeom prst="rect">
            <a:avLst/>
          </a:prstGeom>
          <a:noFill/>
        </p:spPr>
        <p:txBody>
          <a:bodyPr wrap="square" anchor="t" lIns="45720" rIns="45720" tIns="27432" bIns="27432"/>
          <a:lstStyle/>
          <a:p>
            <a:pPr algn="l">
              <a:spcAft>
                <a:spcPts val="400"/>
              </a:spcAft>
            </a:pPr>
            <a:r>
              <a:rPr sz="1250" b="1" i="0">
                <a:solidFill>
                  <a:srgbClr val="002060"/>
                </a:solidFill>
                <a:latin typeface="Times New Roman"/>
                <a:cs typeface="Times New Roman"/>
                <a:ea typeface="Times New Roman"/>
              </a:rPr>
              <a:t>Random Search</a:t>
            </a:r>
          </a:p>
        </p:txBody>
      </p:sp>
      <p:sp>
        <p:nvSpPr>
          <p:cNvPr id="10" name="TextBox 9"/>
          <p:cNvSpPr txBox="1"/>
          <p:nvPr/>
        </p:nvSpPr>
        <p:spPr>
          <a:xfrm>
            <a:off x="685800" y="2688336"/>
            <a:ext cx="2377440" cy="274320"/>
          </a:xfrm>
          <a:prstGeom prst="rect">
            <a:avLst/>
          </a:prstGeom>
          <a:noFill/>
        </p:spPr>
        <p:txBody>
          <a:bodyPr wrap="square" anchor="t" lIns="45720" rIns="45720" tIns="27432" bIns="27432"/>
          <a:lstStyle/>
          <a:p>
            <a:pPr algn="l">
              <a:spcAft>
                <a:spcPts val="400"/>
              </a:spcAft>
            </a:pPr>
            <a:r>
              <a:rPr sz="1100" b="0" i="1">
                <a:solidFill>
                  <a:srgbClr val="595959"/>
                </a:solidFill>
                <a:latin typeface="Times New Roman"/>
                <a:cs typeface="Times New Roman"/>
                <a:ea typeface="Times New Roman"/>
              </a:rPr>
              <a:t>uniform sampling [8]</a:t>
            </a:r>
          </a:p>
        </p:txBody>
      </p:sp>
      <p:sp>
        <p:nvSpPr>
          <p:cNvPr id="11" name="Rounded Rectangle 10"/>
          <p:cNvSpPr/>
          <p:nvPr/>
        </p:nvSpPr>
        <p:spPr>
          <a:xfrm>
            <a:off x="548640" y="3063239"/>
            <a:ext cx="2651760" cy="896112"/>
          </a:xfrm>
          <a:prstGeom prst="roundRect">
            <a:avLst>
              <a:gd name="adj" fmla="val 10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5800" y="3099815"/>
            <a:ext cx="2377440" cy="292608"/>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RE</a:t>
            </a:r>
          </a:p>
        </p:txBody>
      </p:sp>
      <p:sp>
        <p:nvSpPr>
          <p:cNvPr id="13" name="TextBox 12"/>
          <p:cNvSpPr txBox="1"/>
          <p:nvPr/>
        </p:nvSpPr>
        <p:spPr>
          <a:xfrm>
            <a:off x="685800" y="3383279"/>
            <a:ext cx="2377440" cy="274320"/>
          </a:xfrm>
          <a:prstGeom prst="rect">
            <a:avLst/>
          </a:prstGeom>
          <a:noFill/>
        </p:spPr>
        <p:txBody>
          <a:bodyPr wrap="square" anchor="t" lIns="45720" rIns="45720" tIns="27432" bIns="27432"/>
          <a:lstStyle/>
          <a:p>
            <a:pPr algn="l">
              <a:spcAft>
                <a:spcPts val="400"/>
              </a:spcAft>
            </a:pPr>
            <a:r>
              <a:rPr sz="1250" b="1" i="0">
                <a:solidFill>
                  <a:srgbClr val="002060"/>
                </a:solidFill>
                <a:latin typeface="Times New Roman"/>
                <a:cs typeface="Times New Roman"/>
                <a:ea typeface="Times New Roman"/>
              </a:rPr>
              <a:t>Regularized Evolution</a:t>
            </a:r>
          </a:p>
        </p:txBody>
      </p:sp>
      <p:sp>
        <p:nvSpPr>
          <p:cNvPr id="14" name="TextBox 13"/>
          <p:cNvSpPr txBox="1"/>
          <p:nvPr/>
        </p:nvSpPr>
        <p:spPr>
          <a:xfrm>
            <a:off x="685800" y="3648456"/>
            <a:ext cx="2377440" cy="274320"/>
          </a:xfrm>
          <a:prstGeom prst="rect">
            <a:avLst/>
          </a:prstGeom>
          <a:noFill/>
        </p:spPr>
        <p:txBody>
          <a:bodyPr wrap="square" anchor="t" lIns="45720" rIns="45720" tIns="27432" bIns="27432"/>
          <a:lstStyle/>
          <a:p>
            <a:pPr algn="l">
              <a:spcAft>
                <a:spcPts val="400"/>
              </a:spcAft>
            </a:pPr>
            <a:r>
              <a:rPr sz="1100" b="0" i="1">
                <a:solidFill>
                  <a:srgbClr val="595959"/>
                </a:solidFill>
                <a:latin typeface="Times New Roman"/>
                <a:cs typeface="Times New Roman"/>
                <a:ea typeface="Times New Roman"/>
              </a:rPr>
              <a:t>Real et al., AAAI 2019 [28]</a:t>
            </a:r>
          </a:p>
        </p:txBody>
      </p:sp>
      <p:sp>
        <p:nvSpPr>
          <p:cNvPr id="15" name="Rounded Rectangle 14"/>
          <p:cNvSpPr/>
          <p:nvPr/>
        </p:nvSpPr>
        <p:spPr>
          <a:xfrm>
            <a:off x="548640" y="4023360"/>
            <a:ext cx="2651760" cy="896112"/>
          </a:xfrm>
          <a:prstGeom prst="roundRect">
            <a:avLst>
              <a:gd name="adj" fmla="val 10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4059936"/>
            <a:ext cx="2377440" cy="292608"/>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RE + ZC</a:t>
            </a:r>
          </a:p>
        </p:txBody>
      </p:sp>
      <p:sp>
        <p:nvSpPr>
          <p:cNvPr id="17" name="TextBox 16"/>
          <p:cNvSpPr txBox="1"/>
          <p:nvPr/>
        </p:nvSpPr>
        <p:spPr>
          <a:xfrm>
            <a:off x="685800" y="4343400"/>
            <a:ext cx="2377440" cy="274320"/>
          </a:xfrm>
          <a:prstGeom prst="rect">
            <a:avLst/>
          </a:prstGeom>
          <a:noFill/>
        </p:spPr>
        <p:txBody>
          <a:bodyPr wrap="square" anchor="t" lIns="45720" rIns="45720" tIns="27432" bIns="27432"/>
          <a:lstStyle/>
          <a:p>
            <a:pPr algn="l">
              <a:spcAft>
                <a:spcPts val="400"/>
              </a:spcAft>
            </a:pPr>
            <a:r>
              <a:rPr sz="1250" b="1" i="0">
                <a:solidFill>
                  <a:srgbClr val="002060"/>
                </a:solidFill>
                <a:latin typeface="Times New Roman"/>
                <a:cs typeface="Times New Roman"/>
                <a:ea typeface="Times New Roman"/>
              </a:rPr>
              <a:t>RE with zero-cost warm-up</a:t>
            </a:r>
          </a:p>
        </p:txBody>
      </p:sp>
      <p:sp>
        <p:nvSpPr>
          <p:cNvPr id="18" name="TextBox 17"/>
          <p:cNvSpPr txBox="1"/>
          <p:nvPr/>
        </p:nvSpPr>
        <p:spPr>
          <a:xfrm>
            <a:off x="685800" y="4608576"/>
            <a:ext cx="2377440" cy="274320"/>
          </a:xfrm>
          <a:prstGeom prst="rect">
            <a:avLst/>
          </a:prstGeom>
          <a:noFill/>
        </p:spPr>
        <p:txBody>
          <a:bodyPr wrap="square" anchor="t" lIns="45720" rIns="45720" tIns="27432" bIns="27432"/>
          <a:lstStyle/>
          <a:p>
            <a:pPr algn="l">
              <a:spcAft>
                <a:spcPts val="400"/>
              </a:spcAft>
            </a:pPr>
            <a:r>
              <a:rPr sz="1100" b="0" i="1">
                <a:solidFill>
                  <a:srgbClr val="595959"/>
                </a:solidFill>
                <a:latin typeface="Times New Roman"/>
                <a:cs typeface="Times New Roman"/>
                <a:ea typeface="Times New Roman"/>
              </a:rPr>
              <a:t>Abdelfattah et al., ICLR 2021 [6]</a:t>
            </a:r>
          </a:p>
        </p:txBody>
      </p:sp>
      <p:sp>
        <p:nvSpPr>
          <p:cNvPr id="19" name="Rounded Rectangle 18"/>
          <p:cNvSpPr/>
          <p:nvPr/>
        </p:nvSpPr>
        <p:spPr>
          <a:xfrm>
            <a:off x="548640" y="4983480"/>
            <a:ext cx="2651760" cy="896112"/>
          </a:xfrm>
          <a:prstGeom prst="roundRect">
            <a:avLst>
              <a:gd name="adj" fmla="val 10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 y="5020056"/>
            <a:ext cx="2377440" cy="292608"/>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LS</a:t>
            </a:r>
          </a:p>
        </p:txBody>
      </p:sp>
      <p:sp>
        <p:nvSpPr>
          <p:cNvPr id="21" name="TextBox 20"/>
          <p:cNvSpPr txBox="1"/>
          <p:nvPr/>
        </p:nvSpPr>
        <p:spPr>
          <a:xfrm>
            <a:off x="685800" y="5303520"/>
            <a:ext cx="2377440" cy="274320"/>
          </a:xfrm>
          <a:prstGeom prst="rect">
            <a:avLst/>
          </a:prstGeom>
          <a:noFill/>
        </p:spPr>
        <p:txBody>
          <a:bodyPr wrap="square" anchor="t" lIns="45720" rIns="45720" tIns="27432" bIns="27432"/>
          <a:lstStyle/>
          <a:p>
            <a:pPr algn="l">
              <a:spcAft>
                <a:spcPts val="400"/>
              </a:spcAft>
            </a:pPr>
            <a:r>
              <a:rPr sz="1250" b="1" i="0">
                <a:solidFill>
                  <a:srgbClr val="002060"/>
                </a:solidFill>
                <a:latin typeface="Times New Roman"/>
                <a:cs typeface="Times New Roman"/>
                <a:ea typeface="Times New Roman"/>
              </a:rPr>
              <a:t>Local Search</a:t>
            </a:r>
          </a:p>
        </p:txBody>
      </p:sp>
      <p:sp>
        <p:nvSpPr>
          <p:cNvPr id="22" name="TextBox 21"/>
          <p:cNvSpPr txBox="1"/>
          <p:nvPr/>
        </p:nvSpPr>
        <p:spPr>
          <a:xfrm>
            <a:off x="685800" y="5568696"/>
            <a:ext cx="2377440" cy="274320"/>
          </a:xfrm>
          <a:prstGeom prst="rect">
            <a:avLst/>
          </a:prstGeom>
          <a:noFill/>
        </p:spPr>
        <p:txBody>
          <a:bodyPr wrap="square" anchor="t" lIns="45720" rIns="45720" tIns="27432" bIns="27432"/>
          <a:lstStyle/>
          <a:p>
            <a:pPr algn="l">
              <a:spcAft>
                <a:spcPts val="400"/>
              </a:spcAft>
            </a:pPr>
            <a:r>
              <a:rPr sz="1100" b="0" i="1">
                <a:solidFill>
                  <a:srgbClr val="595959"/>
                </a:solidFill>
                <a:latin typeface="Times New Roman"/>
                <a:cs typeface="Times New Roman"/>
                <a:ea typeface="Times New Roman"/>
              </a:rPr>
              <a:t>White et al., UAI 2021 [29]</a:t>
            </a:r>
          </a:p>
        </p:txBody>
      </p:sp>
      <p:sp>
        <p:nvSpPr>
          <p:cNvPr id="23" name="Rounded Rectangle 22"/>
          <p:cNvSpPr/>
          <p:nvPr/>
        </p:nvSpPr>
        <p:spPr>
          <a:xfrm>
            <a:off x="3355848" y="1536192"/>
            <a:ext cx="2651760" cy="420624"/>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400" b="1" i="0">
                <a:solidFill>
                  <a:srgbClr val="FFFFFF"/>
                </a:solidFill>
                <a:latin typeface="Times New Roman"/>
                <a:cs typeface="Times New Roman"/>
                <a:ea typeface="Times New Roman"/>
              </a:rPr>
              <a:t>RL &amp; tree search</a:t>
            </a:r>
          </a:p>
        </p:txBody>
      </p:sp>
      <p:sp>
        <p:nvSpPr>
          <p:cNvPr id="24" name="Rounded Rectangle 23"/>
          <p:cNvSpPr/>
          <p:nvPr/>
        </p:nvSpPr>
        <p:spPr>
          <a:xfrm>
            <a:off x="3355848" y="2103120"/>
            <a:ext cx="2651760" cy="896112"/>
          </a:xfrm>
          <a:prstGeom prst="roundRect">
            <a:avLst>
              <a:gd name="adj" fmla="val 10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493008" y="2139696"/>
            <a:ext cx="2377440" cy="292608"/>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ENAS</a:t>
            </a:r>
          </a:p>
        </p:txBody>
      </p:sp>
      <p:sp>
        <p:nvSpPr>
          <p:cNvPr id="26" name="TextBox 25"/>
          <p:cNvSpPr txBox="1"/>
          <p:nvPr/>
        </p:nvSpPr>
        <p:spPr>
          <a:xfrm>
            <a:off x="3493008" y="2423160"/>
            <a:ext cx="2377440" cy="274320"/>
          </a:xfrm>
          <a:prstGeom prst="rect">
            <a:avLst/>
          </a:prstGeom>
          <a:noFill/>
        </p:spPr>
        <p:txBody>
          <a:bodyPr wrap="square" anchor="t" lIns="45720" rIns="45720" tIns="27432" bIns="27432"/>
          <a:lstStyle/>
          <a:p>
            <a:pPr algn="l">
              <a:spcAft>
                <a:spcPts val="400"/>
              </a:spcAft>
            </a:pPr>
            <a:r>
              <a:rPr sz="1250" b="1" i="0">
                <a:solidFill>
                  <a:srgbClr val="002060"/>
                </a:solidFill>
                <a:latin typeface="Times New Roman"/>
                <a:cs typeface="Times New Roman"/>
                <a:ea typeface="Times New Roman"/>
              </a:rPr>
              <a:t>Efficient NAS (policy)</a:t>
            </a:r>
          </a:p>
        </p:txBody>
      </p:sp>
      <p:sp>
        <p:nvSpPr>
          <p:cNvPr id="27" name="TextBox 26"/>
          <p:cNvSpPr txBox="1"/>
          <p:nvPr/>
        </p:nvSpPr>
        <p:spPr>
          <a:xfrm>
            <a:off x="3493008" y="2688336"/>
            <a:ext cx="2377440" cy="274320"/>
          </a:xfrm>
          <a:prstGeom prst="rect">
            <a:avLst/>
          </a:prstGeom>
          <a:noFill/>
        </p:spPr>
        <p:txBody>
          <a:bodyPr wrap="square" anchor="t" lIns="45720" rIns="45720" tIns="27432" bIns="27432"/>
          <a:lstStyle/>
          <a:p>
            <a:pPr algn="l">
              <a:spcAft>
                <a:spcPts val="400"/>
              </a:spcAft>
            </a:pPr>
            <a:r>
              <a:rPr sz="1100" b="0" i="1">
                <a:solidFill>
                  <a:srgbClr val="595959"/>
                </a:solidFill>
                <a:latin typeface="Times New Roman"/>
                <a:cs typeface="Times New Roman"/>
                <a:ea typeface="Times New Roman"/>
              </a:rPr>
              <a:t>Pham et al., ICML 2018 [30]</a:t>
            </a:r>
          </a:p>
        </p:txBody>
      </p:sp>
      <p:sp>
        <p:nvSpPr>
          <p:cNvPr id="28" name="Rounded Rectangle 27"/>
          <p:cNvSpPr/>
          <p:nvPr/>
        </p:nvSpPr>
        <p:spPr>
          <a:xfrm>
            <a:off x="3355848" y="3063239"/>
            <a:ext cx="2651760" cy="896112"/>
          </a:xfrm>
          <a:prstGeom prst="roundRect">
            <a:avLst>
              <a:gd name="adj" fmla="val 10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3493008" y="3099815"/>
            <a:ext cx="2377440" cy="292608"/>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MCTS</a:t>
            </a:r>
          </a:p>
        </p:txBody>
      </p:sp>
      <p:sp>
        <p:nvSpPr>
          <p:cNvPr id="30" name="TextBox 29"/>
          <p:cNvSpPr txBox="1"/>
          <p:nvPr/>
        </p:nvSpPr>
        <p:spPr>
          <a:xfrm>
            <a:off x="3493008" y="3383279"/>
            <a:ext cx="2377440" cy="274320"/>
          </a:xfrm>
          <a:prstGeom prst="rect">
            <a:avLst/>
          </a:prstGeom>
          <a:noFill/>
        </p:spPr>
        <p:txBody>
          <a:bodyPr wrap="square" anchor="t" lIns="45720" rIns="45720" tIns="27432" bIns="27432"/>
          <a:lstStyle/>
          <a:p>
            <a:pPr algn="l">
              <a:spcAft>
                <a:spcPts val="400"/>
              </a:spcAft>
            </a:pPr>
            <a:r>
              <a:rPr sz="1250" b="1" i="0">
                <a:solidFill>
                  <a:srgbClr val="002060"/>
                </a:solidFill>
                <a:latin typeface="Times New Roman"/>
                <a:cs typeface="Times New Roman"/>
                <a:ea typeface="Times New Roman"/>
              </a:rPr>
              <a:t>Monte-Carlo Tree Search</a:t>
            </a:r>
          </a:p>
        </p:txBody>
      </p:sp>
      <p:sp>
        <p:nvSpPr>
          <p:cNvPr id="31" name="TextBox 30"/>
          <p:cNvSpPr txBox="1"/>
          <p:nvPr/>
        </p:nvSpPr>
        <p:spPr>
          <a:xfrm>
            <a:off x="3493008" y="3648456"/>
            <a:ext cx="2377440" cy="274320"/>
          </a:xfrm>
          <a:prstGeom prst="rect">
            <a:avLst/>
          </a:prstGeom>
          <a:noFill/>
        </p:spPr>
        <p:txBody>
          <a:bodyPr wrap="square" anchor="t" lIns="45720" rIns="45720" tIns="27432" bIns="27432"/>
          <a:lstStyle/>
          <a:p>
            <a:pPr algn="l">
              <a:spcAft>
                <a:spcPts val="400"/>
              </a:spcAft>
            </a:pPr>
            <a:r>
              <a:rPr sz="1100" b="0" i="1">
                <a:solidFill>
                  <a:srgbClr val="595959"/>
                </a:solidFill>
                <a:latin typeface="Times New Roman"/>
                <a:cs typeface="Times New Roman"/>
                <a:ea typeface="Times New Roman"/>
              </a:rPr>
              <a:t>AlphaX, Wang et al., 2019 [17]</a:t>
            </a:r>
          </a:p>
        </p:txBody>
      </p:sp>
      <p:sp>
        <p:nvSpPr>
          <p:cNvPr id="32" name="Rounded Rectangle 31"/>
          <p:cNvSpPr/>
          <p:nvPr/>
        </p:nvSpPr>
        <p:spPr>
          <a:xfrm>
            <a:off x="6163055" y="1536192"/>
            <a:ext cx="2651760" cy="420624"/>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400" b="1" i="0">
                <a:solidFill>
                  <a:srgbClr val="FFFFFF"/>
                </a:solidFill>
                <a:latin typeface="Times New Roman"/>
                <a:cs typeface="Times New Roman"/>
                <a:ea typeface="Times New Roman"/>
              </a:rPr>
              <a:t>Proxy-guided</a:t>
            </a:r>
          </a:p>
        </p:txBody>
      </p:sp>
      <p:sp>
        <p:nvSpPr>
          <p:cNvPr id="33" name="Rounded Rectangle 32"/>
          <p:cNvSpPr/>
          <p:nvPr/>
        </p:nvSpPr>
        <p:spPr>
          <a:xfrm>
            <a:off x="6163055" y="2103120"/>
            <a:ext cx="2651760" cy="896112"/>
          </a:xfrm>
          <a:prstGeom prst="roundRect">
            <a:avLst>
              <a:gd name="adj" fmla="val 10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00216" y="2139696"/>
            <a:ext cx="2377440" cy="292608"/>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ZiCo</a:t>
            </a:r>
          </a:p>
        </p:txBody>
      </p:sp>
      <p:sp>
        <p:nvSpPr>
          <p:cNvPr id="35" name="TextBox 34"/>
          <p:cNvSpPr txBox="1"/>
          <p:nvPr/>
        </p:nvSpPr>
        <p:spPr>
          <a:xfrm>
            <a:off x="6300216" y="2423160"/>
            <a:ext cx="2377440" cy="274320"/>
          </a:xfrm>
          <a:prstGeom prst="rect">
            <a:avLst/>
          </a:prstGeom>
          <a:noFill/>
        </p:spPr>
        <p:txBody>
          <a:bodyPr wrap="square" anchor="t" lIns="45720" rIns="45720" tIns="27432" bIns="27432"/>
          <a:lstStyle/>
          <a:p>
            <a:pPr algn="l">
              <a:spcAft>
                <a:spcPts val="400"/>
              </a:spcAft>
            </a:pPr>
            <a:r>
              <a:rPr sz="1250" b="1" i="0">
                <a:solidFill>
                  <a:srgbClr val="002060"/>
                </a:solidFill>
                <a:latin typeface="Times New Roman"/>
                <a:cs typeface="Times New Roman"/>
                <a:ea typeface="Times New Roman"/>
              </a:rPr>
              <a:t>Zero-shot proxy search</a:t>
            </a:r>
          </a:p>
        </p:txBody>
      </p:sp>
      <p:sp>
        <p:nvSpPr>
          <p:cNvPr id="36" name="TextBox 35"/>
          <p:cNvSpPr txBox="1"/>
          <p:nvPr/>
        </p:nvSpPr>
        <p:spPr>
          <a:xfrm>
            <a:off x="6300216" y="2688336"/>
            <a:ext cx="2377440" cy="274320"/>
          </a:xfrm>
          <a:prstGeom prst="rect">
            <a:avLst/>
          </a:prstGeom>
          <a:noFill/>
        </p:spPr>
        <p:txBody>
          <a:bodyPr wrap="square" anchor="t" lIns="45720" rIns="45720" tIns="27432" bIns="27432"/>
          <a:lstStyle/>
          <a:p>
            <a:pPr algn="l">
              <a:spcAft>
                <a:spcPts val="400"/>
              </a:spcAft>
            </a:pPr>
            <a:r>
              <a:rPr sz="1100" b="0" i="1">
                <a:solidFill>
                  <a:srgbClr val="595959"/>
                </a:solidFill>
                <a:latin typeface="Times New Roman"/>
                <a:cs typeface="Times New Roman"/>
                <a:ea typeface="Times New Roman"/>
              </a:rPr>
              <a:t>Li et al., ICLR 2023 [31]</a:t>
            </a:r>
          </a:p>
        </p:txBody>
      </p:sp>
      <p:sp>
        <p:nvSpPr>
          <p:cNvPr id="37" name="Rounded Rectangle 36"/>
          <p:cNvSpPr/>
          <p:nvPr/>
        </p:nvSpPr>
        <p:spPr>
          <a:xfrm>
            <a:off x="6163055" y="3063239"/>
            <a:ext cx="2651760" cy="896112"/>
          </a:xfrm>
          <a:prstGeom prst="roundRect">
            <a:avLst>
              <a:gd name="adj" fmla="val 10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00216" y="3099815"/>
            <a:ext cx="2377440" cy="292608"/>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RZ</a:t>
            </a:r>
          </a:p>
        </p:txBody>
      </p:sp>
      <p:sp>
        <p:nvSpPr>
          <p:cNvPr id="39" name="TextBox 38"/>
          <p:cNvSpPr txBox="1"/>
          <p:nvPr/>
        </p:nvSpPr>
        <p:spPr>
          <a:xfrm>
            <a:off x="6300216" y="3383279"/>
            <a:ext cx="2377440" cy="274320"/>
          </a:xfrm>
          <a:prstGeom prst="rect">
            <a:avLst/>
          </a:prstGeom>
          <a:noFill/>
        </p:spPr>
        <p:txBody>
          <a:bodyPr wrap="square" anchor="t" lIns="45720" rIns="45720" tIns="27432" bIns="27432"/>
          <a:lstStyle/>
          <a:p>
            <a:pPr algn="l">
              <a:spcAft>
                <a:spcPts val="400"/>
              </a:spcAft>
            </a:pPr>
            <a:r>
              <a:rPr sz="1250" b="1" i="0">
                <a:solidFill>
                  <a:srgbClr val="002060"/>
                </a:solidFill>
                <a:latin typeface="Times New Roman"/>
                <a:cs typeface="Times New Roman"/>
                <a:ea typeface="Times New Roman"/>
              </a:rPr>
              <a:t>Zero-cost mutation walk</a:t>
            </a:r>
          </a:p>
        </p:txBody>
      </p:sp>
      <p:sp>
        <p:nvSpPr>
          <p:cNvPr id="40" name="TextBox 39"/>
          <p:cNvSpPr txBox="1"/>
          <p:nvPr/>
        </p:nvSpPr>
        <p:spPr>
          <a:xfrm>
            <a:off x="6300216" y="3648456"/>
            <a:ext cx="2377440" cy="274320"/>
          </a:xfrm>
          <a:prstGeom prst="rect">
            <a:avLst/>
          </a:prstGeom>
          <a:noFill/>
        </p:spPr>
        <p:txBody>
          <a:bodyPr wrap="square" anchor="t" lIns="45720" rIns="45720" tIns="27432" bIns="27432"/>
          <a:lstStyle/>
          <a:p>
            <a:pPr algn="l">
              <a:spcAft>
                <a:spcPts val="400"/>
              </a:spcAft>
            </a:pPr>
            <a:r>
              <a:rPr sz="1100" b="0" i="1">
                <a:solidFill>
                  <a:srgbClr val="595959"/>
                </a:solidFill>
                <a:latin typeface="Times New Roman"/>
                <a:cs typeface="Times New Roman"/>
                <a:ea typeface="Times New Roman"/>
              </a:rPr>
              <a:t>RZ-NAS style</a:t>
            </a:r>
          </a:p>
        </p:txBody>
      </p:sp>
      <p:sp>
        <p:nvSpPr>
          <p:cNvPr id="41" name="Rounded Rectangle 40"/>
          <p:cNvSpPr/>
          <p:nvPr/>
        </p:nvSpPr>
        <p:spPr>
          <a:xfrm>
            <a:off x="8970263" y="1536192"/>
            <a:ext cx="2651760" cy="420624"/>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400" b="1" i="0">
                <a:solidFill>
                  <a:srgbClr val="FFFFFF"/>
                </a:solidFill>
                <a:latin typeface="Times New Roman"/>
                <a:cs typeface="Times New Roman"/>
                <a:ea typeface="Times New Roman"/>
              </a:rPr>
              <a:t>LLM &amp; multi-objective</a:t>
            </a:r>
          </a:p>
        </p:txBody>
      </p:sp>
      <p:sp>
        <p:nvSpPr>
          <p:cNvPr id="42" name="Rounded Rectangle 41"/>
          <p:cNvSpPr/>
          <p:nvPr/>
        </p:nvSpPr>
        <p:spPr>
          <a:xfrm>
            <a:off x="8970263" y="2103120"/>
            <a:ext cx="2651760" cy="896112"/>
          </a:xfrm>
          <a:prstGeom prst="roundRect">
            <a:avLst>
              <a:gd name="adj" fmla="val 10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07424" y="2139696"/>
            <a:ext cx="2377440" cy="292608"/>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LLM-NAS</a:t>
            </a:r>
          </a:p>
        </p:txBody>
      </p:sp>
      <p:sp>
        <p:nvSpPr>
          <p:cNvPr id="44" name="TextBox 43"/>
          <p:cNvSpPr txBox="1"/>
          <p:nvPr/>
        </p:nvSpPr>
        <p:spPr>
          <a:xfrm>
            <a:off x="9107424" y="2423160"/>
            <a:ext cx="2377440" cy="274320"/>
          </a:xfrm>
          <a:prstGeom prst="rect">
            <a:avLst/>
          </a:prstGeom>
          <a:noFill/>
        </p:spPr>
        <p:txBody>
          <a:bodyPr wrap="square" anchor="t" lIns="45720" rIns="45720" tIns="27432" bIns="27432"/>
          <a:lstStyle/>
          <a:p>
            <a:pPr algn="l">
              <a:spcAft>
                <a:spcPts val="400"/>
              </a:spcAft>
            </a:pPr>
            <a:r>
              <a:rPr sz="1250" b="1" i="0">
                <a:solidFill>
                  <a:srgbClr val="002060"/>
                </a:solidFill>
                <a:latin typeface="Times New Roman"/>
                <a:cs typeface="Times New Roman"/>
                <a:ea typeface="Times New Roman"/>
              </a:rPr>
              <a:t>LLM proposes designs</a:t>
            </a:r>
          </a:p>
        </p:txBody>
      </p:sp>
      <p:sp>
        <p:nvSpPr>
          <p:cNvPr id="45" name="TextBox 44"/>
          <p:cNvSpPr txBox="1"/>
          <p:nvPr/>
        </p:nvSpPr>
        <p:spPr>
          <a:xfrm>
            <a:off x="9107424" y="2688336"/>
            <a:ext cx="2377440" cy="274320"/>
          </a:xfrm>
          <a:prstGeom prst="rect">
            <a:avLst/>
          </a:prstGeom>
          <a:noFill/>
        </p:spPr>
        <p:txBody>
          <a:bodyPr wrap="square" anchor="t" lIns="45720" rIns="45720" tIns="27432" bIns="27432"/>
          <a:lstStyle/>
          <a:p>
            <a:pPr algn="l">
              <a:spcAft>
                <a:spcPts val="400"/>
              </a:spcAft>
            </a:pPr>
            <a:r>
              <a:rPr sz="1100" b="0" i="1">
                <a:solidFill>
                  <a:srgbClr val="595959"/>
                </a:solidFill>
                <a:latin typeface="Times New Roman"/>
                <a:cs typeface="Times New Roman"/>
                <a:ea typeface="Times New Roman"/>
              </a:rPr>
              <a:t>gpt-oss-20b via Groq [12]</a:t>
            </a:r>
          </a:p>
        </p:txBody>
      </p:sp>
      <p:sp>
        <p:nvSpPr>
          <p:cNvPr id="46" name="Rounded Rectangle 45"/>
          <p:cNvSpPr/>
          <p:nvPr/>
        </p:nvSpPr>
        <p:spPr>
          <a:xfrm>
            <a:off x="8970263" y="3063239"/>
            <a:ext cx="2651760" cy="896112"/>
          </a:xfrm>
          <a:prstGeom prst="roundRect">
            <a:avLst>
              <a:gd name="adj" fmla="val 10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107424" y="3099815"/>
            <a:ext cx="2377440" cy="292608"/>
          </a:xfrm>
          <a:prstGeom prst="rect">
            <a:avLst/>
          </a:prstGeom>
          <a:noFill/>
        </p:spPr>
        <p:txBody>
          <a:bodyPr wrap="square" anchor="t" lIns="45720" rIns="45720" tIns="27432" bIns="27432"/>
          <a:lstStyle/>
          <a:p>
            <a:pPr algn="l">
              <a:spcAft>
                <a:spcPts val="400"/>
              </a:spcAft>
            </a:pPr>
            <a:r>
              <a:rPr sz="1500" b="1" i="0">
                <a:solidFill>
                  <a:srgbClr val="002060"/>
                </a:solidFill>
                <a:latin typeface="Times New Roman"/>
                <a:cs typeface="Times New Roman"/>
                <a:ea typeface="Times New Roman"/>
              </a:rPr>
              <a:t>NSGA-II</a:t>
            </a:r>
          </a:p>
        </p:txBody>
      </p:sp>
      <p:sp>
        <p:nvSpPr>
          <p:cNvPr id="48" name="TextBox 47"/>
          <p:cNvSpPr txBox="1"/>
          <p:nvPr/>
        </p:nvSpPr>
        <p:spPr>
          <a:xfrm>
            <a:off x="9107424" y="3383279"/>
            <a:ext cx="2377440" cy="274320"/>
          </a:xfrm>
          <a:prstGeom prst="rect">
            <a:avLst/>
          </a:prstGeom>
          <a:noFill/>
        </p:spPr>
        <p:txBody>
          <a:bodyPr wrap="square" anchor="t" lIns="45720" rIns="45720" tIns="27432" bIns="27432"/>
          <a:lstStyle/>
          <a:p>
            <a:pPr algn="l">
              <a:spcAft>
                <a:spcPts val="400"/>
              </a:spcAft>
            </a:pPr>
            <a:r>
              <a:rPr sz="1250" b="1" i="0">
                <a:solidFill>
                  <a:srgbClr val="002060"/>
                </a:solidFill>
                <a:latin typeface="Times New Roman"/>
                <a:cs typeface="Times New Roman"/>
                <a:ea typeface="Times New Roman"/>
              </a:rPr>
              <a:t>Multi-objective evolution</a:t>
            </a:r>
          </a:p>
        </p:txBody>
      </p:sp>
      <p:sp>
        <p:nvSpPr>
          <p:cNvPr id="49" name="TextBox 48"/>
          <p:cNvSpPr txBox="1"/>
          <p:nvPr/>
        </p:nvSpPr>
        <p:spPr>
          <a:xfrm>
            <a:off x="9107424" y="3648456"/>
            <a:ext cx="2377440" cy="274320"/>
          </a:xfrm>
          <a:prstGeom prst="rect">
            <a:avLst/>
          </a:prstGeom>
          <a:noFill/>
        </p:spPr>
        <p:txBody>
          <a:bodyPr wrap="square" anchor="t" lIns="45720" rIns="45720" tIns="27432" bIns="27432"/>
          <a:lstStyle/>
          <a:p>
            <a:pPr algn="l">
              <a:spcAft>
                <a:spcPts val="400"/>
              </a:spcAft>
            </a:pPr>
            <a:r>
              <a:rPr sz="1100" b="0" i="1">
                <a:solidFill>
                  <a:srgbClr val="595959"/>
                </a:solidFill>
                <a:latin typeface="Times New Roman"/>
                <a:cs typeface="Times New Roman"/>
                <a:ea typeface="Times New Roman"/>
              </a:rPr>
              <a:t>Deb et al., 2002 [32] · hardware study</a:t>
            </a:r>
          </a:p>
        </p:txBody>
      </p:sp>
      <p:sp>
        <p:nvSpPr>
          <p:cNvPr id="50" name="Rounded Rectangle 49"/>
          <p:cNvSpPr/>
          <p:nvPr/>
        </p:nvSpPr>
        <p:spPr>
          <a:xfrm>
            <a:off x="548640" y="5989320"/>
            <a:ext cx="11064240" cy="384048"/>
          </a:xfrm>
          <a:prstGeom prst="roundRect">
            <a:avLst>
              <a:gd name="adj" fmla="val 3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85800" y="6007608"/>
            <a:ext cx="10789920" cy="347472"/>
          </a:xfrm>
          <a:prstGeom prst="rect">
            <a:avLst/>
          </a:prstGeom>
          <a:noFill/>
        </p:spPr>
        <p:txBody>
          <a:bodyPr wrap="square" anchor="ctr" lIns="45720" rIns="45720" tIns="27432" bIns="27432"/>
          <a:lstStyle/>
          <a:p>
            <a:pPr algn="l">
              <a:spcAft>
                <a:spcPts val="400"/>
              </a:spcAft>
            </a:pPr>
            <a:r>
              <a:rPr sz="1200" b="1" i="0">
                <a:solidFill>
                  <a:srgbClr val="262626"/>
                </a:solidFill>
                <a:latin typeface="Times New Roman"/>
                <a:cs typeface="Times New Roman"/>
                <a:ea typeface="Times New Roman"/>
              </a:rPr>
              <a:t>Internal arms: </a:t>
            </a:r>
            <a:r>
              <a:rPr sz="1200" b="0" i="0">
                <a:solidFill>
                  <a:srgbClr val="262626"/>
                </a:solidFill>
                <a:latin typeface="Times New Roman"/>
                <a:cs typeface="Times New Roman"/>
                <a:ea typeface="Times New Roman"/>
              </a:rPr>
              <a:t>ArchTree v1 · no gate · #params gate · supervised gate · cost-penalised gate · flat UCB (no trie)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EXPERIMENTAL SETUP</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Evaluation Metrics</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10</a:t>
            </a:r>
          </a:p>
        </p:txBody>
      </p:sp>
      <p:sp>
        <p:nvSpPr>
          <p:cNvPr id="6" name="Rounded Rectangle 5"/>
          <p:cNvSpPr/>
          <p:nvPr/>
        </p:nvSpPr>
        <p:spPr>
          <a:xfrm>
            <a:off x="548640" y="1536192"/>
            <a:ext cx="2103120" cy="420624"/>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500" b="1" i="0">
                <a:solidFill>
                  <a:srgbClr val="FFFFFF"/>
                </a:solidFill>
                <a:latin typeface="Times New Roman"/>
                <a:cs typeface="Times New Roman"/>
                <a:ea typeface="Times New Roman"/>
              </a:rPr>
              <a:t>Accuracy</a:t>
            </a:r>
          </a:p>
        </p:txBody>
      </p:sp>
      <p:sp>
        <p:nvSpPr>
          <p:cNvPr id="7" name="Rounded Rectangle 6"/>
          <p:cNvSpPr/>
          <p:nvPr/>
        </p:nvSpPr>
        <p:spPr>
          <a:xfrm>
            <a:off x="548640" y="2084831"/>
            <a:ext cx="2103120" cy="1984248"/>
          </a:xfrm>
          <a:prstGeom prst="roundRect">
            <a:avLst>
              <a:gd name="adj" fmla="val 7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8368" y="2148839"/>
            <a:ext cx="1883663" cy="384048"/>
          </a:xfrm>
          <a:prstGeom prst="rect">
            <a:avLst/>
          </a:prstGeom>
          <a:noFill/>
        </p:spPr>
        <p:txBody>
          <a:bodyPr wrap="square" anchor="t" lIns="45720" rIns="45720" tIns="27432" bIns="27432"/>
          <a:lstStyle/>
          <a:p>
            <a:pPr algn="l">
              <a:spcAft>
                <a:spcPts val="400"/>
              </a:spcAft>
            </a:pPr>
            <a:r>
              <a:rPr sz="1450" b="1" i="0">
                <a:solidFill>
                  <a:srgbClr val="002060"/>
                </a:solidFill>
                <a:latin typeface="Times New Roman"/>
                <a:cs typeface="Times New Roman"/>
                <a:ea typeface="Times New Roman"/>
              </a:rPr>
              <a:t>Test accuracy (%)</a:t>
            </a:r>
          </a:p>
        </p:txBody>
      </p:sp>
      <p:sp>
        <p:nvSpPr>
          <p:cNvPr id="9" name="TextBox 8"/>
          <p:cNvSpPr txBox="1"/>
          <p:nvPr/>
        </p:nvSpPr>
        <p:spPr>
          <a:xfrm>
            <a:off x="658368" y="2542032"/>
            <a:ext cx="1883663" cy="603504"/>
          </a:xfrm>
          <a:prstGeom prst="rect">
            <a:avLst/>
          </a:prstGeom>
          <a:noFill/>
        </p:spPr>
        <p:txBody>
          <a:bodyPr wrap="square" anchor="t" lIns="45720" rIns="45720" tIns="27432" bIns="27432"/>
          <a:lstStyle/>
          <a:p>
            <a:pPr algn="l">
              <a:spcAft>
                <a:spcPts val="400"/>
              </a:spcAft>
            </a:pPr>
            <a:r>
              <a:rPr sz="1150" b="0" i="0">
                <a:solidFill>
                  <a:srgbClr val="262626"/>
                </a:solidFill>
                <a:latin typeface="Times New Roman"/>
                <a:cs typeface="Times New Roman"/>
                <a:ea typeface="Times New Roman"/>
              </a:rPr>
              <a:t>Best design found, CIFAR-10, budget 200</a:t>
            </a:r>
          </a:p>
        </p:txBody>
      </p:sp>
      <p:sp>
        <p:nvSpPr>
          <p:cNvPr id="10" name="Rounded Rectangle 9"/>
          <p:cNvSpPr/>
          <p:nvPr/>
        </p:nvSpPr>
        <p:spPr>
          <a:xfrm>
            <a:off x="658368" y="3182111"/>
            <a:ext cx="1883663" cy="347472"/>
          </a:xfrm>
          <a:prstGeom prst="roundRect">
            <a:avLst>
              <a:gd name="adj" fmla="val 5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200"/>
              </a:spcAft>
            </a:pPr>
            <a:r>
              <a:rPr sz="1100" b="1" i="0">
                <a:solidFill>
                  <a:srgbClr val="002060"/>
                </a:solidFill>
                <a:latin typeface="Times New Roman"/>
                <a:cs typeface="Times New Roman"/>
                <a:ea typeface="Times New Roman"/>
              </a:rPr>
              <a:t>↑ High: ≥ 94.2%</a:t>
            </a:r>
          </a:p>
        </p:txBody>
      </p:sp>
      <p:sp>
        <p:nvSpPr>
          <p:cNvPr id="11" name="TextBox 10"/>
          <p:cNvSpPr txBox="1"/>
          <p:nvPr/>
        </p:nvSpPr>
        <p:spPr>
          <a:xfrm>
            <a:off x="658368" y="3602735"/>
            <a:ext cx="1883663" cy="384048"/>
          </a:xfrm>
          <a:prstGeom prst="rect">
            <a:avLst/>
          </a:prstGeom>
          <a:noFill/>
        </p:spPr>
        <p:txBody>
          <a:bodyPr wrap="square" anchor="t" lIns="45720" rIns="45720" tIns="27432" bIns="27432"/>
          <a:lstStyle/>
          <a:p>
            <a:pPr algn="ctr">
              <a:spcAft>
                <a:spcPts val="400"/>
              </a:spcAft>
            </a:pPr>
            <a:r>
              <a:rPr sz="1150" b="1" i="0">
                <a:solidFill>
                  <a:srgbClr val="2E7D32"/>
                </a:solidFill>
                <a:latin typeface="Times New Roman"/>
                <a:cs typeface="Times New Roman"/>
                <a:ea typeface="Times New Roman"/>
              </a:rPr>
              <a:t>Ours: 94.28% ✓</a:t>
            </a:r>
          </a:p>
        </p:txBody>
      </p:sp>
      <p:sp>
        <p:nvSpPr>
          <p:cNvPr id="12" name="Rounded Rectangle 11"/>
          <p:cNvSpPr/>
          <p:nvPr/>
        </p:nvSpPr>
        <p:spPr>
          <a:xfrm>
            <a:off x="548640" y="4187952"/>
            <a:ext cx="2103120" cy="1984248"/>
          </a:xfrm>
          <a:prstGeom prst="roundRect">
            <a:avLst>
              <a:gd name="adj" fmla="val 7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8368" y="4251960"/>
            <a:ext cx="1883663" cy="384048"/>
          </a:xfrm>
          <a:prstGeom prst="rect">
            <a:avLst/>
          </a:prstGeom>
          <a:noFill/>
        </p:spPr>
        <p:txBody>
          <a:bodyPr wrap="square" anchor="t" lIns="45720" rIns="45720" tIns="27432" bIns="27432"/>
          <a:lstStyle/>
          <a:p>
            <a:pPr algn="l">
              <a:spcAft>
                <a:spcPts val="400"/>
              </a:spcAft>
            </a:pPr>
            <a:r>
              <a:rPr sz="1450" b="1" i="0">
                <a:solidFill>
                  <a:srgbClr val="002060"/>
                </a:solidFill>
                <a:latin typeface="Times New Roman"/>
                <a:cs typeface="Times New Roman"/>
                <a:ea typeface="Times New Roman"/>
              </a:rPr>
              <a:t>Kendall τ</a:t>
            </a:r>
          </a:p>
        </p:txBody>
      </p:sp>
      <p:sp>
        <p:nvSpPr>
          <p:cNvPr id="14" name="TextBox 13"/>
          <p:cNvSpPr txBox="1"/>
          <p:nvPr/>
        </p:nvSpPr>
        <p:spPr>
          <a:xfrm>
            <a:off x="658368" y="4645152"/>
            <a:ext cx="1883663" cy="603504"/>
          </a:xfrm>
          <a:prstGeom prst="rect">
            <a:avLst/>
          </a:prstGeom>
          <a:noFill/>
        </p:spPr>
        <p:txBody>
          <a:bodyPr wrap="square" anchor="t" lIns="45720" rIns="45720" tIns="27432" bIns="27432"/>
          <a:lstStyle/>
          <a:p>
            <a:pPr algn="l">
              <a:spcAft>
                <a:spcPts val="400"/>
              </a:spcAft>
            </a:pPr>
            <a:r>
              <a:rPr sz="1150" b="0" i="0">
                <a:solidFill>
                  <a:srgbClr val="262626"/>
                </a:solidFill>
                <a:latin typeface="Times New Roman"/>
                <a:cs typeface="Times New Roman"/>
                <a:ea typeface="Times New Roman"/>
              </a:rPr>
              <a:t>Proxy vs true ranking [33]</a:t>
            </a:r>
          </a:p>
        </p:txBody>
      </p:sp>
      <p:sp>
        <p:nvSpPr>
          <p:cNvPr id="15" name="Rounded Rectangle 14"/>
          <p:cNvSpPr/>
          <p:nvPr/>
        </p:nvSpPr>
        <p:spPr>
          <a:xfrm>
            <a:off x="658368" y="5285232"/>
            <a:ext cx="1883663" cy="347472"/>
          </a:xfrm>
          <a:prstGeom prst="roundRect">
            <a:avLst>
              <a:gd name="adj" fmla="val 5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200"/>
              </a:spcAft>
            </a:pPr>
            <a:r>
              <a:rPr sz="1100" b="1" i="0">
                <a:solidFill>
                  <a:srgbClr val="002060"/>
                </a:solidFill>
                <a:latin typeface="Times New Roman"/>
                <a:cs typeface="Times New Roman"/>
                <a:ea typeface="Times New Roman"/>
              </a:rPr>
              <a:t>↑ High: τ ≥ 0.60</a:t>
            </a:r>
          </a:p>
        </p:txBody>
      </p:sp>
      <p:sp>
        <p:nvSpPr>
          <p:cNvPr id="16" name="TextBox 15"/>
          <p:cNvSpPr txBox="1"/>
          <p:nvPr/>
        </p:nvSpPr>
        <p:spPr>
          <a:xfrm>
            <a:off x="658368" y="5705856"/>
            <a:ext cx="1883663" cy="384048"/>
          </a:xfrm>
          <a:prstGeom prst="rect">
            <a:avLst/>
          </a:prstGeom>
          <a:noFill/>
        </p:spPr>
        <p:txBody>
          <a:bodyPr wrap="square" anchor="t" lIns="45720" rIns="45720" tIns="27432" bIns="27432"/>
          <a:lstStyle/>
          <a:p>
            <a:pPr algn="ctr">
              <a:spcAft>
                <a:spcPts val="400"/>
              </a:spcAft>
            </a:pPr>
            <a:r>
              <a:rPr sz="1150" b="1" i="0">
                <a:solidFill>
                  <a:srgbClr val="2E7D32"/>
                </a:solidFill>
                <a:latin typeface="Times New Roman"/>
                <a:cs typeface="Times New Roman"/>
                <a:ea typeface="Times New Roman"/>
              </a:rPr>
              <a:t>Ours: 0.63–0.68 ✓</a:t>
            </a:r>
          </a:p>
        </p:txBody>
      </p:sp>
      <p:sp>
        <p:nvSpPr>
          <p:cNvPr id="17" name="Rounded Rectangle 16"/>
          <p:cNvSpPr/>
          <p:nvPr/>
        </p:nvSpPr>
        <p:spPr>
          <a:xfrm>
            <a:off x="2788920" y="1536192"/>
            <a:ext cx="2103120" cy="420624"/>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500" b="1" i="0">
                <a:solidFill>
                  <a:srgbClr val="FFFFFF"/>
                </a:solidFill>
                <a:latin typeface="Times New Roman"/>
                <a:cs typeface="Times New Roman"/>
                <a:ea typeface="Times New Roman"/>
              </a:rPr>
              <a:t>Cost</a:t>
            </a:r>
          </a:p>
        </p:txBody>
      </p:sp>
      <p:sp>
        <p:nvSpPr>
          <p:cNvPr id="18" name="Rounded Rectangle 17"/>
          <p:cNvSpPr/>
          <p:nvPr/>
        </p:nvSpPr>
        <p:spPr>
          <a:xfrm>
            <a:off x="2788920" y="2084831"/>
            <a:ext cx="2103120" cy="1984248"/>
          </a:xfrm>
          <a:prstGeom prst="roundRect">
            <a:avLst>
              <a:gd name="adj" fmla="val 7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898648" y="2148839"/>
            <a:ext cx="1883663" cy="384048"/>
          </a:xfrm>
          <a:prstGeom prst="rect">
            <a:avLst/>
          </a:prstGeom>
          <a:noFill/>
        </p:spPr>
        <p:txBody>
          <a:bodyPr wrap="square" anchor="t" lIns="45720" rIns="45720" tIns="27432" bIns="27432"/>
          <a:lstStyle/>
          <a:p>
            <a:pPr algn="l">
              <a:spcAft>
                <a:spcPts val="400"/>
              </a:spcAft>
            </a:pPr>
            <a:r>
              <a:rPr sz="1450" b="1" i="0">
                <a:solidFill>
                  <a:srgbClr val="002060"/>
                </a:solidFill>
                <a:latin typeface="Times New Roman"/>
                <a:cs typeface="Times New Roman"/>
                <a:ea typeface="Times New Roman"/>
              </a:rPr>
              <a:t>Real evaluations</a:t>
            </a:r>
          </a:p>
        </p:txBody>
      </p:sp>
      <p:sp>
        <p:nvSpPr>
          <p:cNvPr id="20" name="TextBox 19"/>
          <p:cNvSpPr txBox="1"/>
          <p:nvPr/>
        </p:nvSpPr>
        <p:spPr>
          <a:xfrm>
            <a:off x="2898648" y="2542032"/>
            <a:ext cx="1883663" cy="603504"/>
          </a:xfrm>
          <a:prstGeom prst="rect">
            <a:avLst/>
          </a:prstGeom>
          <a:noFill/>
        </p:spPr>
        <p:txBody>
          <a:bodyPr wrap="square" anchor="t" lIns="45720" rIns="45720" tIns="27432" bIns="27432"/>
          <a:lstStyle/>
          <a:p>
            <a:pPr algn="l">
              <a:spcAft>
                <a:spcPts val="400"/>
              </a:spcAft>
            </a:pPr>
            <a:r>
              <a:rPr sz="1150" b="0" i="0">
                <a:solidFill>
                  <a:srgbClr val="262626"/>
                </a:solidFill>
                <a:latin typeface="Times New Roman"/>
                <a:cs typeface="Times New Roman"/>
                <a:ea typeface="Times New Roman"/>
              </a:rPr>
              <a:t>Designs actually trained, budget 200</a:t>
            </a:r>
          </a:p>
        </p:txBody>
      </p:sp>
      <p:sp>
        <p:nvSpPr>
          <p:cNvPr id="21" name="Rounded Rectangle 20"/>
          <p:cNvSpPr/>
          <p:nvPr/>
        </p:nvSpPr>
        <p:spPr>
          <a:xfrm>
            <a:off x="2898648" y="3182111"/>
            <a:ext cx="1883663" cy="347472"/>
          </a:xfrm>
          <a:prstGeom prst="roundRect">
            <a:avLst>
              <a:gd name="adj" fmla="val 5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200"/>
              </a:spcAft>
            </a:pPr>
            <a:r>
              <a:rPr sz="1100" b="1" i="0">
                <a:solidFill>
                  <a:srgbClr val="002060"/>
                </a:solidFill>
                <a:latin typeface="Times New Roman"/>
                <a:cs typeface="Times New Roman"/>
                <a:ea typeface="Times New Roman"/>
              </a:rPr>
              <a:t>↓ Low: ≤ 100 of 200</a:t>
            </a:r>
          </a:p>
        </p:txBody>
      </p:sp>
      <p:sp>
        <p:nvSpPr>
          <p:cNvPr id="22" name="TextBox 21"/>
          <p:cNvSpPr txBox="1"/>
          <p:nvPr/>
        </p:nvSpPr>
        <p:spPr>
          <a:xfrm>
            <a:off x="2898648" y="3602735"/>
            <a:ext cx="1883663" cy="384048"/>
          </a:xfrm>
          <a:prstGeom prst="rect">
            <a:avLst/>
          </a:prstGeom>
          <a:noFill/>
        </p:spPr>
        <p:txBody>
          <a:bodyPr wrap="square" anchor="t" lIns="45720" rIns="45720" tIns="27432" bIns="27432"/>
          <a:lstStyle/>
          <a:p>
            <a:pPr algn="ctr">
              <a:spcAft>
                <a:spcPts val="400"/>
              </a:spcAft>
            </a:pPr>
            <a:r>
              <a:rPr sz="1150" b="1" i="0">
                <a:solidFill>
                  <a:srgbClr val="2E7D32"/>
                </a:solidFill>
                <a:latin typeface="Times New Roman"/>
                <a:cs typeface="Times New Roman"/>
                <a:ea typeface="Times New Roman"/>
              </a:rPr>
              <a:t>Ours: ~82 ✓</a:t>
            </a:r>
          </a:p>
        </p:txBody>
      </p:sp>
      <p:sp>
        <p:nvSpPr>
          <p:cNvPr id="23" name="Rounded Rectangle 22"/>
          <p:cNvSpPr/>
          <p:nvPr/>
        </p:nvSpPr>
        <p:spPr>
          <a:xfrm>
            <a:off x="2788920" y="4187952"/>
            <a:ext cx="2103120" cy="1984248"/>
          </a:xfrm>
          <a:prstGeom prst="roundRect">
            <a:avLst>
              <a:gd name="adj" fmla="val 7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898648" y="4251960"/>
            <a:ext cx="1883663" cy="384048"/>
          </a:xfrm>
          <a:prstGeom prst="rect">
            <a:avLst/>
          </a:prstGeom>
          <a:noFill/>
        </p:spPr>
        <p:txBody>
          <a:bodyPr wrap="square" anchor="t" lIns="45720" rIns="45720" tIns="27432" bIns="27432"/>
          <a:lstStyle/>
          <a:p>
            <a:pPr algn="l">
              <a:spcAft>
                <a:spcPts val="400"/>
              </a:spcAft>
            </a:pPr>
            <a:r>
              <a:rPr sz="1450" b="1" i="0">
                <a:solidFill>
                  <a:srgbClr val="002060"/>
                </a:solidFill>
                <a:latin typeface="Times New Roman"/>
                <a:cs typeface="Times New Roman"/>
                <a:ea typeface="Times New Roman"/>
              </a:rPr>
              <a:t>GPU-hours</a:t>
            </a:r>
          </a:p>
        </p:txBody>
      </p:sp>
      <p:sp>
        <p:nvSpPr>
          <p:cNvPr id="25" name="TextBox 24"/>
          <p:cNvSpPr txBox="1"/>
          <p:nvPr/>
        </p:nvSpPr>
        <p:spPr>
          <a:xfrm>
            <a:off x="2898648" y="4645152"/>
            <a:ext cx="1883663" cy="603504"/>
          </a:xfrm>
          <a:prstGeom prst="rect">
            <a:avLst/>
          </a:prstGeom>
          <a:noFill/>
        </p:spPr>
        <p:txBody>
          <a:bodyPr wrap="square" anchor="t" lIns="45720" rIns="45720" tIns="27432" bIns="27432"/>
          <a:lstStyle/>
          <a:p>
            <a:pPr algn="l">
              <a:spcAft>
                <a:spcPts val="400"/>
              </a:spcAft>
            </a:pPr>
            <a:r>
              <a:rPr sz="1150" b="0" i="0">
                <a:solidFill>
                  <a:srgbClr val="262626"/>
                </a:solidFill>
                <a:latin typeface="Times New Roman"/>
                <a:cs typeface="Times New Roman"/>
                <a:ea typeface="Times New Roman"/>
              </a:rPr>
              <a:t>Training time, CIFAR-100, budget 200</a:t>
            </a:r>
          </a:p>
        </p:txBody>
      </p:sp>
      <p:sp>
        <p:nvSpPr>
          <p:cNvPr id="26" name="Rounded Rectangle 25"/>
          <p:cNvSpPr/>
          <p:nvPr/>
        </p:nvSpPr>
        <p:spPr>
          <a:xfrm>
            <a:off x="2898648" y="5285232"/>
            <a:ext cx="1883663" cy="347472"/>
          </a:xfrm>
          <a:prstGeom prst="roundRect">
            <a:avLst>
              <a:gd name="adj" fmla="val 5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200"/>
              </a:spcAft>
            </a:pPr>
            <a:r>
              <a:rPr sz="1100" b="1" i="0">
                <a:solidFill>
                  <a:srgbClr val="002060"/>
                </a:solidFill>
                <a:latin typeface="Times New Roman"/>
                <a:cs typeface="Times New Roman"/>
                <a:ea typeface="Times New Roman"/>
              </a:rPr>
              <a:t>↓ Low: ≤ 50% of no-gate</a:t>
            </a:r>
          </a:p>
        </p:txBody>
      </p:sp>
      <p:sp>
        <p:nvSpPr>
          <p:cNvPr id="27" name="TextBox 26"/>
          <p:cNvSpPr txBox="1"/>
          <p:nvPr/>
        </p:nvSpPr>
        <p:spPr>
          <a:xfrm>
            <a:off x="2898648" y="5705856"/>
            <a:ext cx="1883663" cy="384048"/>
          </a:xfrm>
          <a:prstGeom prst="rect">
            <a:avLst/>
          </a:prstGeom>
          <a:noFill/>
        </p:spPr>
        <p:txBody>
          <a:bodyPr wrap="square" anchor="t" lIns="45720" rIns="45720" tIns="27432" bIns="27432"/>
          <a:lstStyle/>
          <a:p>
            <a:pPr algn="ctr">
              <a:spcAft>
                <a:spcPts val="400"/>
              </a:spcAft>
            </a:pPr>
            <a:r>
              <a:rPr sz="1150" b="1" i="0">
                <a:solidFill>
                  <a:srgbClr val="2E7D32"/>
                </a:solidFill>
                <a:latin typeface="Times New Roman"/>
                <a:cs typeface="Times New Roman"/>
                <a:ea typeface="Times New Roman"/>
              </a:rPr>
              <a:t>Ours: 47% (115 / 243 h) ✓</a:t>
            </a:r>
          </a:p>
        </p:txBody>
      </p:sp>
      <p:sp>
        <p:nvSpPr>
          <p:cNvPr id="28" name="Rounded Rectangle 27"/>
          <p:cNvSpPr/>
          <p:nvPr/>
        </p:nvSpPr>
        <p:spPr>
          <a:xfrm>
            <a:off x="5029199" y="1536192"/>
            <a:ext cx="2103120" cy="420624"/>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500" b="1" i="0">
                <a:solidFill>
                  <a:srgbClr val="FFFFFF"/>
                </a:solidFill>
                <a:latin typeface="Times New Roman"/>
                <a:cs typeface="Times New Roman"/>
                <a:ea typeface="Times New Roman"/>
              </a:rPr>
              <a:t>Efficiency</a:t>
            </a:r>
          </a:p>
        </p:txBody>
      </p:sp>
      <p:sp>
        <p:nvSpPr>
          <p:cNvPr id="29" name="Rounded Rectangle 28"/>
          <p:cNvSpPr/>
          <p:nvPr/>
        </p:nvSpPr>
        <p:spPr>
          <a:xfrm>
            <a:off x="5029199" y="2084831"/>
            <a:ext cx="2103120" cy="1984248"/>
          </a:xfrm>
          <a:prstGeom prst="roundRect">
            <a:avLst>
              <a:gd name="adj" fmla="val 7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38927" y="2148839"/>
            <a:ext cx="1883663" cy="384048"/>
          </a:xfrm>
          <a:prstGeom prst="rect">
            <a:avLst/>
          </a:prstGeom>
          <a:noFill/>
        </p:spPr>
        <p:txBody>
          <a:bodyPr wrap="square" anchor="t" lIns="45720" rIns="45720" tIns="27432" bIns="27432"/>
          <a:lstStyle/>
          <a:p>
            <a:pPr algn="l">
              <a:spcAft>
                <a:spcPts val="400"/>
              </a:spcAft>
            </a:pPr>
            <a:r>
              <a:rPr sz="1450" b="1" i="0">
                <a:solidFill>
                  <a:srgbClr val="002060"/>
                </a:solidFill>
                <a:latin typeface="Times New Roman"/>
                <a:cs typeface="Times New Roman"/>
                <a:ea typeface="Times New Roman"/>
              </a:rPr>
              <a:t>Savings (%)</a:t>
            </a:r>
          </a:p>
        </p:txBody>
      </p:sp>
      <p:sp>
        <p:nvSpPr>
          <p:cNvPr id="31" name="TextBox 30"/>
          <p:cNvSpPr txBox="1"/>
          <p:nvPr/>
        </p:nvSpPr>
        <p:spPr>
          <a:xfrm>
            <a:off x="5138927" y="2542032"/>
            <a:ext cx="1883663" cy="603504"/>
          </a:xfrm>
          <a:prstGeom prst="rect">
            <a:avLst/>
          </a:prstGeom>
          <a:noFill/>
        </p:spPr>
        <p:txBody>
          <a:bodyPr wrap="square" anchor="t" lIns="45720" rIns="45720" tIns="27432" bIns="27432"/>
          <a:lstStyle/>
          <a:p>
            <a:pPr algn="l">
              <a:spcAft>
                <a:spcPts val="400"/>
              </a:spcAft>
            </a:pPr>
            <a:r>
              <a:rPr sz="1150" b="0" i="0">
                <a:solidFill>
                  <a:srgbClr val="262626"/>
                </a:solidFill>
                <a:latin typeface="Times New Roman"/>
                <a:cs typeface="Times New Roman"/>
                <a:ea typeface="Times New Roman"/>
              </a:rPr>
              <a:t>GPU-hours saved vs no gate, budget 200</a:t>
            </a:r>
          </a:p>
        </p:txBody>
      </p:sp>
      <p:sp>
        <p:nvSpPr>
          <p:cNvPr id="32" name="Rounded Rectangle 31"/>
          <p:cNvSpPr/>
          <p:nvPr/>
        </p:nvSpPr>
        <p:spPr>
          <a:xfrm>
            <a:off x="5138927" y="3182111"/>
            <a:ext cx="1883663" cy="347472"/>
          </a:xfrm>
          <a:prstGeom prst="roundRect">
            <a:avLst>
              <a:gd name="adj" fmla="val 5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200"/>
              </a:spcAft>
            </a:pPr>
            <a:r>
              <a:rPr sz="1100" b="1" i="0">
                <a:solidFill>
                  <a:srgbClr val="002060"/>
                </a:solidFill>
                <a:latin typeface="Times New Roman"/>
                <a:cs typeface="Times New Roman"/>
                <a:ea typeface="Times New Roman"/>
              </a:rPr>
              <a:t>↑ High: ≥ 50%</a:t>
            </a:r>
          </a:p>
        </p:txBody>
      </p:sp>
      <p:sp>
        <p:nvSpPr>
          <p:cNvPr id="33" name="TextBox 32"/>
          <p:cNvSpPr txBox="1"/>
          <p:nvPr/>
        </p:nvSpPr>
        <p:spPr>
          <a:xfrm>
            <a:off x="5138927" y="3602735"/>
            <a:ext cx="1883663" cy="384048"/>
          </a:xfrm>
          <a:prstGeom prst="rect">
            <a:avLst/>
          </a:prstGeom>
          <a:noFill/>
        </p:spPr>
        <p:txBody>
          <a:bodyPr wrap="square" anchor="t" lIns="45720" rIns="45720" tIns="27432" bIns="27432"/>
          <a:lstStyle/>
          <a:p>
            <a:pPr algn="ctr">
              <a:spcAft>
                <a:spcPts val="400"/>
              </a:spcAft>
            </a:pPr>
            <a:r>
              <a:rPr sz="1150" b="1" i="0">
                <a:solidFill>
                  <a:srgbClr val="2E7D32"/>
                </a:solidFill>
                <a:latin typeface="Times New Roman"/>
                <a:cs typeface="Times New Roman"/>
                <a:ea typeface="Times New Roman"/>
              </a:rPr>
              <a:t>Ours: 53% ✓</a:t>
            </a:r>
          </a:p>
        </p:txBody>
      </p:sp>
      <p:sp>
        <p:nvSpPr>
          <p:cNvPr id="34" name="Rounded Rectangle 33"/>
          <p:cNvSpPr/>
          <p:nvPr/>
        </p:nvSpPr>
        <p:spPr>
          <a:xfrm>
            <a:off x="5029199" y="4187952"/>
            <a:ext cx="2103120" cy="1984248"/>
          </a:xfrm>
          <a:prstGeom prst="roundRect">
            <a:avLst>
              <a:gd name="adj" fmla="val 7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38927" y="4251960"/>
            <a:ext cx="1883663" cy="384048"/>
          </a:xfrm>
          <a:prstGeom prst="rect">
            <a:avLst/>
          </a:prstGeom>
          <a:noFill/>
        </p:spPr>
        <p:txBody>
          <a:bodyPr wrap="square" anchor="t" lIns="45720" rIns="45720" tIns="27432" bIns="27432"/>
          <a:lstStyle/>
          <a:p>
            <a:pPr algn="l">
              <a:spcAft>
                <a:spcPts val="400"/>
              </a:spcAft>
            </a:pPr>
            <a:r>
              <a:rPr sz="1450" b="1" i="0">
                <a:solidFill>
                  <a:srgbClr val="002060"/>
                </a:solidFill>
                <a:latin typeface="Times New Roman"/>
                <a:cs typeface="Times New Roman"/>
                <a:ea typeface="Times New Roman"/>
              </a:rPr>
              <a:t>Evals to within 1 pt</a:t>
            </a:r>
          </a:p>
        </p:txBody>
      </p:sp>
      <p:sp>
        <p:nvSpPr>
          <p:cNvPr id="36" name="TextBox 35"/>
          <p:cNvSpPr txBox="1"/>
          <p:nvPr/>
        </p:nvSpPr>
        <p:spPr>
          <a:xfrm>
            <a:off x="5138927" y="4645152"/>
            <a:ext cx="1883663" cy="603504"/>
          </a:xfrm>
          <a:prstGeom prst="rect">
            <a:avLst/>
          </a:prstGeom>
          <a:noFill/>
        </p:spPr>
        <p:txBody>
          <a:bodyPr wrap="square" anchor="t" lIns="45720" rIns="45720" tIns="27432" bIns="27432"/>
          <a:lstStyle/>
          <a:p>
            <a:pPr algn="l">
              <a:spcAft>
                <a:spcPts val="400"/>
              </a:spcAft>
            </a:pPr>
            <a:r>
              <a:rPr sz="1150" b="0" i="0">
                <a:solidFill>
                  <a:srgbClr val="262626"/>
                </a:solidFill>
                <a:latin typeface="Times New Roman"/>
                <a:cs typeface="Times New Roman"/>
                <a:ea typeface="Times New Roman"/>
              </a:rPr>
              <a:t>Speed to near-final result, CIFAR-10</a:t>
            </a:r>
          </a:p>
        </p:txBody>
      </p:sp>
      <p:sp>
        <p:nvSpPr>
          <p:cNvPr id="37" name="Rounded Rectangle 36"/>
          <p:cNvSpPr/>
          <p:nvPr/>
        </p:nvSpPr>
        <p:spPr>
          <a:xfrm>
            <a:off x="5138927" y="5285232"/>
            <a:ext cx="1883663" cy="347472"/>
          </a:xfrm>
          <a:prstGeom prst="roundRect">
            <a:avLst>
              <a:gd name="adj" fmla="val 5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200"/>
              </a:spcAft>
            </a:pPr>
            <a:r>
              <a:rPr sz="1100" b="1" i="0">
                <a:solidFill>
                  <a:srgbClr val="002060"/>
                </a:solidFill>
                <a:latin typeface="Times New Roman"/>
                <a:cs typeface="Times New Roman"/>
                <a:ea typeface="Times New Roman"/>
              </a:rPr>
              <a:t>↓ Low: ≤ 10 evals</a:t>
            </a:r>
          </a:p>
        </p:txBody>
      </p:sp>
      <p:sp>
        <p:nvSpPr>
          <p:cNvPr id="38" name="TextBox 37"/>
          <p:cNvSpPr txBox="1"/>
          <p:nvPr/>
        </p:nvSpPr>
        <p:spPr>
          <a:xfrm>
            <a:off x="5138927" y="5705856"/>
            <a:ext cx="1883663" cy="384048"/>
          </a:xfrm>
          <a:prstGeom prst="rect">
            <a:avLst/>
          </a:prstGeom>
          <a:noFill/>
        </p:spPr>
        <p:txBody>
          <a:bodyPr wrap="square" anchor="t" lIns="45720" rIns="45720" tIns="27432" bIns="27432"/>
          <a:lstStyle/>
          <a:p>
            <a:pPr algn="ctr">
              <a:spcAft>
                <a:spcPts val="400"/>
              </a:spcAft>
            </a:pPr>
            <a:r>
              <a:rPr sz="1150" b="1" i="0">
                <a:solidFill>
                  <a:srgbClr val="2E7D32"/>
                </a:solidFill>
                <a:latin typeface="Times New Roman"/>
                <a:cs typeface="Times New Roman"/>
                <a:ea typeface="Times New Roman"/>
              </a:rPr>
              <a:t>Ours: 5 evals ✓</a:t>
            </a:r>
          </a:p>
        </p:txBody>
      </p:sp>
      <p:sp>
        <p:nvSpPr>
          <p:cNvPr id="39" name="Rounded Rectangle 38"/>
          <p:cNvSpPr/>
          <p:nvPr/>
        </p:nvSpPr>
        <p:spPr>
          <a:xfrm>
            <a:off x="7269479" y="1536192"/>
            <a:ext cx="2103120" cy="420624"/>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500" b="1" i="0">
                <a:solidFill>
                  <a:srgbClr val="FFFFFF"/>
                </a:solidFill>
                <a:latin typeface="Times New Roman"/>
                <a:cs typeface="Times New Roman"/>
                <a:ea typeface="Times New Roman"/>
              </a:rPr>
              <a:t>Statistics</a:t>
            </a:r>
          </a:p>
        </p:txBody>
      </p:sp>
      <p:sp>
        <p:nvSpPr>
          <p:cNvPr id="40" name="Rounded Rectangle 39"/>
          <p:cNvSpPr/>
          <p:nvPr/>
        </p:nvSpPr>
        <p:spPr>
          <a:xfrm>
            <a:off x="7269479" y="2084831"/>
            <a:ext cx="2103120" cy="1984248"/>
          </a:xfrm>
          <a:prstGeom prst="roundRect">
            <a:avLst>
              <a:gd name="adj" fmla="val 7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379207" y="2148839"/>
            <a:ext cx="1883663" cy="384048"/>
          </a:xfrm>
          <a:prstGeom prst="rect">
            <a:avLst/>
          </a:prstGeom>
          <a:noFill/>
        </p:spPr>
        <p:txBody>
          <a:bodyPr wrap="square" anchor="t" lIns="45720" rIns="45720" tIns="27432" bIns="27432"/>
          <a:lstStyle/>
          <a:p>
            <a:pPr algn="l">
              <a:spcAft>
                <a:spcPts val="400"/>
              </a:spcAft>
            </a:pPr>
            <a:r>
              <a:rPr sz="1450" b="1" i="0">
                <a:solidFill>
                  <a:srgbClr val="002060"/>
                </a:solidFill>
                <a:latin typeface="Times New Roman"/>
                <a:cs typeface="Times New Roman"/>
                <a:ea typeface="Times New Roman"/>
              </a:rPr>
              <a:t>Avg rank + CD</a:t>
            </a:r>
          </a:p>
        </p:txBody>
      </p:sp>
      <p:sp>
        <p:nvSpPr>
          <p:cNvPr id="42" name="TextBox 41"/>
          <p:cNvSpPr txBox="1"/>
          <p:nvPr/>
        </p:nvSpPr>
        <p:spPr>
          <a:xfrm>
            <a:off x="7379207" y="2542032"/>
            <a:ext cx="1883663" cy="603504"/>
          </a:xfrm>
          <a:prstGeom prst="rect">
            <a:avLst/>
          </a:prstGeom>
          <a:noFill/>
        </p:spPr>
        <p:txBody>
          <a:bodyPr wrap="square" anchor="t" lIns="45720" rIns="45720" tIns="27432" bIns="27432"/>
          <a:lstStyle/>
          <a:p>
            <a:pPr algn="l">
              <a:spcAft>
                <a:spcPts val="400"/>
              </a:spcAft>
            </a:pPr>
            <a:r>
              <a:rPr sz="1150" b="0" i="0">
                <a:solidFill>
                  <a:srgbClr val="262626"/>
                </a:solidFill>
                <a:latin typeface="Times New Roman"/>
                <a:cs typeface="Times New Roman"/>
                <a:ea typeface="Times New Roman"/>
              </a:rPr>
              <a:t>Friedman rank at equal GPU-hours [16]</a:t>
            </a:r>
          </a:p>
        </p:txBody>
      </p:sp>
      <p:sp>
        <p:nvSpPr>
          <p:cNvPr id="43" name="Rounded Rectangle 42"/>
          <p:cNvSpPr/>
          <p:nvPr/>
        </p:nvSpPr>
        <p:spPr>
          <a:xfrm>
            <a:off x="7379207" y="3182111"/>
            <a:ext cx="1883663" cy="347472"/>
          </a:xfrm>
          <a:prstGeom prst="roundRect">
            <a:avLst>
              <a:gd name="adj" fmla="val 5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200"/>
              </a:spcAft>
            </a:pPr>
            <a:r>
              <a:rPr sz="1100" b="1" i="0">
                <a:solidFill>
                  <a:srgbClr val="002060"/>
                </a:solidFill>
                <a:latin typeface="Times New Roman"/>
                <a:cs typeface="Times New Roman"/>
                <a:ea typeface="Times New Roman"/>
              </a:rPr>
              <a:t>↓ Good: gap &lt; CD (1.91)</a:t>
            </a:r>
          </a:p>
        </p:txBody>
      </p:sp>
      <p:sp>
        <p:nvSpPr>
          <p:cNvPr id="44" name="TextBox 43"/>
          <p:cNvSpPr txBox="1"/>
          <p:nvPr/>
        </p:nvSpPr>
        <p:spPr>
          <a:xfrm>
            <a:off x="7379207" y="3602735"/>
            <a:ext cx="1883663" cy="384048"/>
          </a:xfrm>
          <a:prstGeom prst="rect">
            <a:avLst/>
          </a:prstGeom>
          <a:noFill/>
        </p:spPr>
        <p:txBody>
          <a:bodyPr wrap="square" anchor="t" lIns="45720" rIns="45720" tIns="27432" bIns="27432"/>
          <a:lstStyle/>
          <a:p>
            <a:pPr algn="ctr">
              <a:spcAft>
                <a:spcPts val="400"/>
              </a:spcAft>
            </a:pPr>
            <a:r>
              <a:rPr sz="1150" b="1" i="0">
                <a:solidFill>
                  <a:srgbClr val="2E7D32"/>
                </a:solidFill>
                <a:latin typeface="Times New Roman"/>
                <a:cs typeface="Times New Roman"/>
                <a:ea typeface="Times New Roman"/>
              </a:rPr>
              <a:t>Ours: tied-best of 14 ✓</a:t>
            </a:r>
          </a:p>
        </p:txBody>
      </p:sp>
      <p:sp>
        <p:nvSpPr>
          <p:cNvPr id="45" name="Rounded Rectangle 44"/>
          <p:cNvSpPr/>
          <p:nvPr/>
        </p:nvSpPr>
        <p:spPr>
          <a:xfrm>
            <a:off x="7269479" y="4187952"/>
            <a:ext cx="2103120" cy="1984248"/>
          </a:xfrm>
          <a:prstGeom prst="roundRect">
            <a:avLst>
              <a:gd name="adj" fmla="val 7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379207" y="4251960"/>
            <a:ext cx="1883663" cy="384048"/>
          </a:xfrm>
          <a:prstGeom prst="rect">
            <a:avLst/>
          </a:prstGeom>
          <a:noFill/>
        </p:spPr>
        <p:txBody>
          <a:bodyPr wrap="square" anchor="t" lIns="45720" rIns="45720" tIns="27432" bIns="27432"/>
          <a:lstStyle/>
          <a:p>
            <a:pPr algn="l">
              <a:spcAft>
                <a:spcPts val="400"/>
              </a:spcAft>
            </a:pPr>
            <a:r>
              <a:rPr sz="1450" b="1" i="0">
                <a:solidFill>
                  <a:srgbClr val="002060"/>
                </a:solidFill>
                <a:latin typeface="Times New Roman"/>
                <a:cs typeface="Times New Roman"/>
                <a:ea typeface="Times New Roman"/>
              </a:rPr>
              <a:t>Wins / ties / losses</a:t>
            </a:r>
          </a:p>
        </p:txBody>
      </p:sp>
      <p:sp>
        <p:nvSpPr>
          <p:cNvPr id="47" name="TextBox 46"/>
          <p:cNvSpPr txBox="1"/>
          <p:nvPr/>
        </p:nvSpPr>
        <p:spPr>
          <a:xfrm>
            <a:off x="7379207" y="4645152"/>
            <a:ext cx="1883663" cy="603504"/>
          </a:xfrm>
          <a:prstGeom prst="rect">
            <a:avLst/>
          </a:prstGeom>
          <a:noFill/>
        </p:spPr>
        <p:txBody>
          <a:bodyPr wrap="square" anchor="t" lIns="45720" rIns="45720" tIns="27432" bIns="27432"/>
          <a:lstStyle/>
          <a:p>
            <a:pPr algn="l">
              <a:spcAft>
                <a:spcPts val="400"/>
              </a:spcAft>
            </a:pPr>
            <a:r>
              <a:rPr sz="1150" b="0" i="0">
                <a:solidFill>
                  <a:srgbClr val="262626"/>
                </a:solidFill>
                <a:latin typeface="Times New Roman"/>
                <a:cs typeface="Times New Roman"/>
                <a:ea typeface="Times New Roman"/>
              </a:rPr>
              <a:t>Paired Wilcoxon + Holm [14], [15]</a:t>
            </a:r>
          </a:p>
        </p:txBody>
      </p:sp>
      <p:sp>
        <p:nvSpPr>
          <p:cNvPr id="48" name="Rounded Rectangle 47"/>
          <p:cNvSpPr/>
          <p:nvPr/>
        </p:nvSpPr>
        <p:spPr>
          <a:xfrm>
            <a:off x="7379207" y="5285232"/>
            <a:ext cx="1883663" cy="347472"/>
          </a:xfrm>
          <a:prstGeom prst="roundRect">
            <a:avLst>
              <a:gd name="adj" fmla="val 5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200"/>
              </a:spcAft>
            </a:pPr>
            <a:r>
              <a:rPr sz="1100" b="1" i="0">
                <a:solidFill>
                  <a:srgbClr val="002060"/>
                </a:solidFill>
                <a:latin typeface="Times New Roman"/>
                <a:cs typeface="Times New Roman"/>
                <a:ea typeface="Times New Roman"/>
              </a:rPr>
              <a:t>Good: 0 losses (p &lt; 0.05)</a:t>
            </a:r>
          </a:p>
        </p:txBody>
      </p:sp>
      <p:sp>
        <p:nvSpPr>
          <p:cNvPr id="49" name="TextBox 48"/>
          <p:cNvSpPr txBox="1"/>
          <p:nvPr/>
        </p:nvSpPr>
        <p:spPr>
          <a:xfrm>
            <a:off x="7379207" y="5705856"/>
            <a:ext cx="1883663" cy="384048"/>
          </a:xfrm>
          <a:prstGeom prst="rect">
            <a:avLst/>
          </a:prstGeom>
          <a:noFill/>
        </p:spPr>
        <p:txBody>
          <a:bodyPr wrap="square" anchor="t" lIns="45720" rIns="45720" tIns="27432" bIns="27432"/>
          <a:lstStyle/>
          <a:p>
            <a:pPr algn="ctr">
              <a:spcAft>
                <a:spcPts val="400"/>
              </a:spcAft>
            </a:pPr>
            <a:r>
              <a:rPr sz="1150" b="1" i="0">
                <a:solidFill>
                  <a:srgbClr val="2E7D32"/>
                </a:solidFill>
                <a:latin typeface="Times New Roman"/>
                <a:cs typeface="Times New Roman"/>
                <a:ea typeface="Times New Roman"/>
              </a:rPr>
              <a:t>Ours: 17 / 55 / 0 ✓</a:t>
            </a:r>
          </a:p>
        </p:txBody>
      </p:sp>
      <p:sp>
        <p:nvSpPr>
          <p:cNvPr id="50" name="Rounded Rectangle 49"/>
          <p:cNvSpPr/>
          <p:nvPr/>
        </p:nvSpPr>
        <p:spPr>
          <a:xfrm>
            <a:off x="9509759" y="1536192"/>
            <a:ext cx="2103120" cy="420624"/>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500" b="1" i="0">
                <a:solidFill>
                  <a:srgbClr val="FFFFFF"/>
                </a:solidFill>
                <a:latin typeface="Times New Roman"/>
                <a:cs typeface="Times New Roman"/>
                <a:ea typeface="Times New Roman"/>
              </a:rPr>
              <a:t>Hardware</a:t>
            </a:r>
          </a:p>
        </p:txBody>
      </p:sp>
      <p:sp>
        <p:nvSpPr>
          <p:cNvPr id="51" name="Rounded Rectangle 50"/>
          <p:cNvSpPr/>
          <p:nvPr/>
        </p:nvSpPr>
        <p:spPr>
          <a:xfrm>
            <a:off x="9509759" y="2084831"/>
            <a:ext cx="2103120" cy="1984248"/>
          </a:xfrm>
          <a:prstGeom prst="roundRect">
            <a:avLst>
              <a:gd name="adj" fmla="val 7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619487" y="2148839"/>
            <a:ext cx="1883663" cy="384048"/>
          </a:xfrm>
          <a:prstGeom prst="rect">
            <a:avLst/>
          </a:prstGeom>
          <a:noFill/>
        </p:spPr>
        <p:txBody>
          <a:bodyPr wrap="square" anchor="t" lIns="45720" rIns="45720" tIns="27432" bIns="27432"/>
          <a:lstStyle/>
          <a:p>
            <a:pPr algn="l">
              <a:spcAft>
                <a:spcPts val="400"/>
              </a:spcAft>
            </a:pPr>
            <a:r>
              <a:rPr sz="1450" b="1" i="0">
                <a:solidFill>
                  <a:srgbClr val="002060"/>
                </a:solidFill>
                <a:latin typeface="Times New Roman"/>
                <a:cs typeface="Times New Roman"/>
                <a:ea typeface="Times New Roman"/>
              </a:rPr>
              <a:t>Hypervolume (HV)</a:t>
            </a:r>
          </a:p>
        </p:txBody>
      </p:sp>
      <p:sp>
        <p:nvSpPr>
          <p:cNvPr id="53" name="TextBox 52"/>
          <p:cNvSpPr txBox="1"/>
          <p:nvPr/>
        </p:nvSpPr>
        <p:spPr>
          <a:xfrm>
            <a:off x="9619487" y="2542032"/>
            <a:ext cx="1883663" cy="603504"/>
          </a:xfrm>
          <a:prstGeom prst="rect">
            <a:avLst/>
          </a:prstGeom>
          <a:noFill/>
        </p:spPr>
        <p:txBody>
          <a:bodyPr wrap="square" anchor="t" lIns="45720" rIns="45720" tIns="27432" bIns="27432"/>
          <a:lstStyle/>
          <a:p>
            <a:pPr algn="l">
              <a:spcAft>
                <a:spcPts val="400"/>
              </a:spcAft>
            </a:pPr>
            <a:r>
              <a:rPr sz="1150" b="0" i="0">
                <a:solidFill>
                  <a:srgbClr val="262626"/>
                </a:solidFill>
                <a:latin typeface="Times New Roman"/>
                <a:cs typeface="Times New Roman"/>
                <a:ea typeface="Times New Roman"/>
              </a:rPr>
              <a:t>Accuracy–latency front (×10³), budget 200</a:t>
            </a:r>
          </a:p>
        </p:txBody>
      </p:sp>
      <p:sp>
        <p:nvSpPr>
          <p:cNvPr id="54" name="Rounded Rectangle 53"/>
          <p:cNvSpPr/>
          <p:nvPr/>
        </p:nvSpPr>
        <p:spPr>
          <a:xfrm>
            <a:off x="9619487" y="3182111"/>
            <a:ext cx="1883663" cy="347472"/>
          </a:xfrm>
          <a:prstGeom prst="roundRect">
            <a:avLst>
              <a:gd name="adj" fmla="val 5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200"/>
              </a:spcAft>
            </a:pPr>
            <a:r>
              <a:rPr sz="1100" b="1" i="0">
                <a:solidFill>
                  <a:srgbClr val="002060"/>
                </a:solidFill>
                <a:latin typeface="Times New Roman"/>
                <a:cs typeface="Times New Roman"/>
                <a:ea typeface="Times New Roman"/>
              </a:rPr>
              <a:t>↑ High: ≥ 91.0</a:t>
            </a:r>
          </a:p>
        </p:txBody>
      </p:sp>
      <p:sp>
        <p:nvSpPr>
          <p:cNvPr id="55" name="TextBox 54"/>
          <p:cNvSpPr txBox="1"/>
          <p:nvPr/>
        </p:nvSpPr>
        <p:spPr>
          <a:xfrm>
            <a:off x="9619487" y="3602735"/>
            <a:ext cx="1883663" cy="384048"/>
          </a:xfrm>
          <a:prstGeom prst="rect">
            <a:avLst/>
          </a:prstGeom>
          <a:noFill/>
        </p:spPr>
        <p:txBody>
          <a:bodyPr wrap="square" anchor="t" lIns="45720" rIns="45720" tIns="27432" bIns="27432"/>
          <a:lstStyle/>
          <a:p>
            <a:pPr algn="ctr">
              <a:spcAft>
                <a:spcPts val="400"/>
              </a:spcAft>
            </a:pPr>
            <a:r>
              <a:rPr sz="1150" b="1" i="0">
                <a:solidFill>
                  <a:srgbClr val="2E7D32"/>
                </a:solidFill>
                <a:latin typeface="Times New Roman"/>
                <a:cs typeface="Times New Roman"/>
                <a:ea typeface="Times New Roman"/>
              </a:rPr>
              <a:t>Ours: 91.00–91.41 ✓</a:t>
            </a:r>
          </a:p>
        </p:txBody>
      </p:sp>
      <p:sp>
        <p:nvSpPr>
          <p:cNvPr id="56" name="Rounded Rectangle 55"/>
          <p:cNvSpPr/>
          <p:nvPr/>
        </p:nvSpPr>
        <p:spPr>
          <a:xfrm>
            <a:off x="9509759" y="4187952"/>
            <a:ext cx="2103120" cy="1984248"/>
          </a:xfrm>
          <a:prstGeom prst="roundRect">
            <a:avLst>
              <a:gd name="adj" fmla="val 7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9619487" y="4251960"/>
            <a:ext cx="1883663" cy="384048"/>
          </a:xfrm>
          <a:prstGeom prst="rect">
            <a:avLst/>
          </a:prstGeom>
          <a:noFill/>
        </p:spPr>
        <p:txBody>
          <a:bodyPr wrap="square" anchor="t" lIns="45720" rIns="45720" tIns="27432" bIns="27432"/>
          <a:lstStyle/>
          <a:p>
            <a:pPr algn="l">
              <a:spcAft>
                <a:spcPts val="400"/>
              </a:spcAft>
            </a:pPr>
            <a:r>
              <a:rPr sz="1450" b="1" i="0">
                <a:solidFill>
                  <a:srgbClr val="002060"/>
                </a:solidFill>
                <a:latin typeface="Times New Roman"/>
                <a:cs typeface="Times New Roman"/>
                <a:ea typeface="Times New Roman"/>
              </a:rPr>
              <a:t>HV transfer</a:t>
            </a:r>
          </a:p>
        </p:txBody>
      </p:sp>
      <p:sp>
        <p:nvSpPr>
          <p:cNvPr id="58" name="TextBox 57"/>
          <p:cNvSpPr txBox="1"/>
          <p:nvPr/>
        </p:nvSpPr>
        <p:spPr>
          <a:xfrm>
            <a:off x="9619487" y="4645152"/>
            <a:ext cx="1883663" cy="603504"/>
          </a:xfrm>
          <a:prstGeom prst="rect">
            <a:avLst/>
          </a:prstGeom>
          <a:noFill/>
        </p:spPr>
        <p:txBody>
          <a:bodyPr wrap="square" anchor="t" lIns="45720" rIns="45720" tIns="27432" bIns="27432"/>
          <a:lstStyle/>
          <a:p>
            <a:pPr algn="l">
              <a:spcAft>
                <a:spcPts val="400"/>
              </a:spcAft>
            </a:pPr>
            <a:r>
              <a:rPr sz="1150" b="0" i="0">
                <a:solidFill>
                  <a:srgbClr val="262626"/>
                </a:solidFill>
                <a:latin typeface="Times New Roman"/>
                <a:cs typeface="Times New Roman"/>
                <a:ea typeface="Times New Roman"/>
              </a:rPr>
              <a:t>HV kept when a front is reused on another device</a:t>
            </a:r>
          </a:p>
        </p:txBody>
      </p:sp>
      <p:sp>
        <p:nvSpPr>
          <p:cNvPr id="59" name="Rounded Rectangle 58"/>
          <p:cNvSpPr/>
          <p:nvPr/>
        </p:nvSpPr>
        <p:spPr>
          <a:xfrm>
            <a:off x="9619487" y="5285232"/>
            <a:ext cx="1883663" cy="347472"/>
          </a:xfrm>
          <a:prstGeom prst="roundRect">
            <a:avLst>
              <a:gd name="adj" fmla="val 5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200"/>
              </a:spcAft>
            </a:pPr>
            <a:r>
              <a:rPr sz="1100" b="1" i="0">
                <a:solidFill>
                  <a:srgbClr val="002060"/>
                </a:solidFill>
                <a:latin typeface="Times New Roman"/>
                <a:cs typeface="Times New Roman"/>
                <a:ea typeface="Times New Roman"/>
              </a:rPr>
              <a:t>↑ High: ≥ 90%</a:t>
            </a:r>
          </a:p>
        </p:txBody>
      </p:sp>
      <p:sp>
        <p:nvSpPr>
          <p:cNvPr id="60" name="TextBox 59"/>
          <p:cNvSpPr txBox="1"/>
          <p:nvPr/>
        </p:nvSpPr>
        <p:spPr>
          <a:xfrm>
            <a:off x="9619487" y="5705856"/>
            <a:ext cx="1883663" cy="384048"/>
          </a:xfrm>
          <a:prstGeom prst="rect">
            <a:avLst/>
          </a:prstGeom>
          <a:noFill/>
        </p:spPr>
        <p:txBody>
          <a:bodyPr wrap="square" anchor="t" lIns="45720" rIns="45720" tIns="27432" bIns="27432"/>
          <a:lstStyle/>
          <a:p>
            <a:pPr algn="ctr">
              <a:spcAft>
                <a:spcPts val="400"/>
              </a:spcAft>
            </a:pPr>
            <a:r>
              <a:rPr sz="1150" b="1" i="0">
                <a:solidFill>
                  <a:srgbClr val="2E7D32"/>
                </a:solidFill>
                <a:latin typeface="Times New Roman"/>
                <a:cs typeface="Times New Roman"/>
                <a:ea typeface="Times New Roman"/>
              </a:rPr>
              <a:t>Ours: ~98%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RESULTS · PROXIES</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Result 1: Proxy Quality &amp; Cost Bias</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11</a:t>
            </a:r>
          </a:p>
        </p:txBody>
      </p:sp>
      <p:pic>
        <p:nvPicPr>
          <p:cNvPr id="13" name="Chart image 5" descr="chart_11_0.png"/>
          <p:cNvPicPr>
            <a:picLocks noChangeAspect="1"/>
          </p:cNvPicPr>
          <p:nvPr/>
        </p:nvPicPr>
        <p:blipFill>
          <a:blip r:embed="rId5"/>
          <a:stretch>
            <a:fillRect/>
          </a:stretch>
        </p:blipFill>
        <p:spPr>
          <a:xfrm>
            <a:off x="457200" y="1444752"/>
            <a:ext cx="5669280" cy="3246120"/>
          </a:xfrm>
          <a:prstGeom prst="rect">
            <a:avLst/>
          </a:prstGeom>
          <a:ln w="12700">
            <a:solidFill>
              <a:srgbClr val="B8C2D0"/>
            </a:solidFill>
          </a:ln>
        </p:spPr>
      </p:pic>
      <p:pic>
        <p:nvPicPr>
          <p:cNvPr id="14" name="Chart image 6" descr="chart_11_1.png"/>
          <p:cNvPicPr>
            <a:picLocks noChangeAspect="1"/>
          </p:cNvPicPr>
          <p:nvPr/>
        </p:nvPicPr>
        <p:blipFill>
          <a:blip r:embed="rId2"/>
          <a:stretch>
            <a:fillRect/>
          </a:stretch>
        </p:blipFill>
        <p:spPr>
          <a:xfrm>
            <a:off x="6263640" y="1444752"/>
            <a:ext cx="5440680" cy="3246120"/>
          </a:xfrm>
          <a:prstGeom prst="rect">
            <a:avLst/>
          </a:prstGeom>
          <a:ln w="12700">
            <a:solidFill>
              <a:srgbClr val="B8C2D0"/>
            </a:solidFill>
          </a:ln>
        </p:spPr>
      </p:pic>
      <p:sp>
        <p:nvSpPr>
          <p:cNvPr id="8" name="Rounded Rectangle 7"/>
          <p:cNvSpPr/>
          <p:nvPr/>
        </p:nvSpPr>
        <p:spPr>
          <a:xfrm>
            <a:off x="548640" y="5029200"/>
            <a:ext cx="11064240" cy="1325880"/>
          </a:xfrm>
          <a:prstGeom prst="roundRect">
            <a:avLst>
              <a:gd name="adj" fmla="val 6000"/>
            </a:avLst>
          </a:prstGeom>
          <a:solidFill>
            <a:srgbClr val="F4F7FB"/>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31520" y="5193792"/>
            <a:ext cx="1325880"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300" b="1" i="0">
                <a:solidFill>
                  <a:srgbClr val="FFFFFF"/>
                </a:solidFill>
                <a:latin typeface="Times New Roman"/>
                <a:cs typeface="Times New Roman"/>
                <a:ea typeface="Times New Roman"/>
              </a:rPr>
              <a:t>Inference</a:t>
            </a:r>
          </a:p>
        </p:txBody>
      </p:sp>
      <p:sp>
        <p:nvSpPr>
          <p:cNvPr id="10" name="TextBox 9"/>
          <p:cNvSpPr txBox="1"/>
          <p:nvPr/>
        </p:nvSpPr>
        <p:spPr>
          <a:xfrm>
            <a:off x="2240280" y="5102352"/>
            <a:ext cx="9235440" cy="1179576"/>
          </a:xfrm>
          <a:prstGeom prst="rect">
            <a:avLst/>
          </a:prstGeom>
          <a:noFill/>
        </p:spPr>
        <p:txBody>
          <a:bodyPr wrap="square" anchor="ctr" lIns="45720" rIns="45720" tIns="27432" bIns="27432"/>
          <a:lstStyle/>
          <a:p>
            <a:pPr algn="l" marL="228600" indent="-201168">
              <a:spcAft>
                <a:spcPts val="300"/>
              </a:spcAft>
              <a:buFont typeface="Arial"/>
              <a:buChar char="•"/>
            </a:pPr>
            <a:r>
              <a:rPr sz="1500" b="0" i="0">
                <a:solidFill>
                  <a:srgbClr val="262626"/>
                </a:solidFill>
                <a:latin typeface="Times New Roman"/>
                <a:cs typeface="Times New Roman"/>
                <a:ea typeface="Times New Roman"/>
              </a:rPr>
              <a:t>Label-free ensemble (0 labels) ≈ supervised (1,500 labels): used as the gate [26], [27].</a:t>
            </a:r>
          </a:p>
          <a:p>
            <a:pPr algn="l" marL="228600" indent="-201168">
              <a:spcAft>
                <a:spcPts val="300"/>
              </a:spcAft>
              <a:buFont typeface="Arial"/>
              <a:buChar char="•"/>
            </a:pPr>
            <a:r>
              <a:rPr sz="1500" b="0" i="0">
                <a:solidFill>
                  <a:srgbClr val="262626"/>
                </a:solidFill>
                <a:latin typeface="Times New Roman"/>
                <a:cs typeface="Times New Roman"/>
                <a:ea typeface="Times New Roman"/>
              </a:rPr>
              <a:t>Proxies favour costly networks (ρ 0.78 with training time).</a:t>
            </a:r>
          </a:p>
          <a:p>
            <a:pPr algn="l" marL="228600" indent="-201168">
              <a:spcAft>
                <a:spcPts val="300"/>
              </a:spcAft>
              <a:buFont typeface="Arial"/>
              <a:buChar char="•"/>
            </a:pPr>
            <a:r>
              <a:rPr sz="1500" b="0" i="0">
                <a:solidFill>
                  <a:srgbClr val="262626"/>
                </a:solidFill>
                <a:latin typeface="Times New Roman"/>
                <a:cs typeface="Times New Roman"/>
                <a:ea typeface="Times New Roman"/>
              </a:rPr>
              <a:t>A cost penalty hurts (16 losses, 0 wins), as our criterion predicted on 7/7 pairs.</a:t>
            </a:r>
          </a:p>
        </p:txBody>
      </p:sp>
      <p:sp>
        <p:nvSpPr>
          <p:cNvPr id="11" name="Figure 5 caption"/>
          <p:cNvSpPr txBox="1"/>
          <p:nvPr/>
        </p:nvSpPr>
        <p:spPr>
          <a:xfrm>
            <a:off x="457200" y="4709160"/>
            <a:ext cx="5669280"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5. </a:t>
            </a:r>
            <a:r>
              <a:rPr sz="1100" b="0" i="1">
                <a:solidFill>
                  <a:srgbClr val="262626"/>
                </a:solidFill>
                <a:latin typeface="Times New Roman"/>
                <a:cs typeface="Times New Roman"/>
                <a:ea typeface="Times New Roman"/>
              </a:rPr>
              <a:t>Proxy quality: Kendall τ with validation accuracy.</a:t>
            </a:r>
          </a:p>
        </p:txBody>
      </p:sp>
      <p:sp>
        <p:nvSpPr>
          <p:cNvPr id="12" name="Figure 6 caption"/>
          <p:cNvSpPr txBox="1"/>
          <p:nvPr/>
        </p:nvSpPr>
        <p:spPr>
          <a:xfrm>
            <a:off x="6263640" y="4709160"/>
            <a:ext cx="5440680"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6. </a:t>
            </a:r>
            <a:r>
              <a:rPr sz="1100" b="0" i="1">
                <a:solidFill>
                  <a:srgbClr val="262626"/>
                </a:solidFill>
                <a:latin typeface="Times New Roman"/>
                <a:cs typeface="Times New Roman"/>
                <a:ea typeface="Times New Roman"/>
              </a:rPr>
              <a:t>Cost bias: correlation with training 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RESULTS · NAS-BENCH-201</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Result 2: Cost Saved by the Gate</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12</a:t>
            </a:r>
          </a:p>
        </p:txBody>
      </p:sp>
      <p:pic>
        <p:nvPicPr>
          <p:cNvPr id="15" name="Chart image 5" descr="chart_12_2.png"/>
          <p:cNvPicPr>
            <a:picLocks noChangeAspect="1"/>
          </p:cNvPicPr>
          <p:nvPr/>
        </p:nvPicPr>
        <p:blipFill>
          <a:blip r:embed="rId5"/>
          <a:stretch>
            <a:fillRect/>
          </a:stretch>
        </p:blipFill>
        <p:spPr>
          <a:xfrm>
            <a:off x="457200" y="1444752"/>
            <a:ext cx="5486400" cy="2743200"/>
          </a:xfrm>
          <a:prstGeom prst="rect">
            <a:avLst/>
          </a:prstGeom>
          <a:ln w="12700">
            <a:solidFill>
              <a:srgbClr val="B8C2D0"/>
            </a:solidFill>
          </a:ln>
        </p:spPr>
      </p:pic>
      <p:pic>
        <p:nvPicPr>
          <p:cNvPr id="16" name="Chart image 6" descr="chart_12_3.png"/>
          <p:cNvPicPr>
            <a:picLocks noChangeAspect="1"/>
          </p:cNvPicPr>
          <p:nvPr/>
        </p:nvPicPr>
        <p:blipFill>
          <a:blip r:embed="rId2"/>
          <a:stretch>
            <a:fillRect/>
          </a:stretch>
        </p:blipFill>
        <p:spPr>
          <a:xfrm>
            <a:off x="6172200" y="1444752"/>
            <a:ext cx="5486400" cy="2743200"/>
          </a:xfrm>
          <a:prstGeom prst="rect">
            <a:avLst/>
          </a:prstGeom>
          <a:ln w="12700">
            <a:solidFill>
              <a:srgbClr val="B8C2D0"/>
            </a:solidFill>
          </a:ln>
        </p:spPr>
      </p:pic>
      <p:sp>
        <p:nvSpPr>
          <p:cNvPr id="8" name="Figure 7 caption"/>
          <p:cNvSpPr txBox="1"/>
          <p:nvPr/>
        </p:nvSpPr>
        <p:spPr>
          <a:xfrm>
            <a:off x="457200" y="4206240"/>
            <a:ext cx="5486400"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7. </a:t>
            </a:r>
            <a:r>
              <a:rPr sz="1100" b="0" i="1">
                <a:solidFill>
                  <a:srgbClr val="262626"/>
                </a:solidFill>
                <a:latin typeface="Times New Roman"/>
                <a:cs typeface="Times New Roman"/>
                <a:ea typeface="Times New Roman"/>
              </a:rPr>
              <a:t>Real evaluations saved by the zero-cost gate [6], per dataset.</a:t>
            </a:r>
          </a:p>
        </p:txBody>
      </p:sp>
      <p:sp>
        <p:nvSpPr>
          <p:cNvPr id="9" name="Figure 8 caption"/>
          <p:cNvSpPr txBox="1"/>
          <p:nvPr/>
        </p:nvSpPr>
        <p:spPr>
          <a:xfrm>
            <a:off x="6172200" y="4206240"/>
            <a:ext cx="5486400"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8. </a:t>
            </a:r>
            <a:r>
              <a:rPr sz="1100" b="0" i="1">
                <a:solidFill>
                  <a:srgbClr val="262626"/>
                </a:solidFill>
                <a:latin typeface="Times New Roman"/>
                <a:cs typeface="Times New Roman"/>
                <a:ea typeface="Times New Roman"/>
              </a:rPr>
              <a:t>GPU-hours saved by the gate, per dataset.</a:t>
            </a:r>
          </a:p>
        </p:txBody>
      </p:sp>
      <p:sp>
        <p:nvSpPr>
          <p:cNvPr id="10" name="Table 3 caption"/>
          <p:cNvSpPr txBox="1"/>
          <p:nvPr/>
        </p:nvSpPr>
        <p:spPr>
          <a:xfrm>
            <a:off x="548640" y="4553712"/>
            <a:ext cx="4480560" cy="256032"/>
          </a:xfrm>
          <a:prstGeom prst="rect">
            <a:avLst/>
          </a:prstGeom>
          <a:noFill/>
        </p:spPr>
        <p:txBody>
          <a:bodyPr wrap="square" anchor="t" lIns="0" rIns="0" tIns="27432" bIns="27432"/>
          <a:lstStyle/>
          <a:p>
            <a:pPr algn="ctr">
              <a:spcAft>
                <a:spcPts val="400"/>
              </a:spcAft>
            </a:pPr>
            <a:r>
              <a:rPr sz="1150" b="1" i="0">
                <a:solidFill>
                  <a:srgbClr val="002060"/>
                </a:solidFill>
                <a:latin typeface="Times New Roman"/>
                <a:cs typeface="Times New Roman"/>
                <a:ea typeface="Times New Roman"/>
              </a:rPr>
              <a:t>Table 3. </a:t>
            </a:r>
            <a:r>
              <a:rPr sz="1150" b="0" i="0">
                <a:solidFill>
                  <a:srgbClr val="002060"/>
                </a:solidFill>
                <a:latin typeface="Times New Roman"/>
                <a:cs typeface="Times New Roman"/>
                <a:ea typeface="Times New Roman"/>
              </a:rPr>
              <a:t>Test-accuracy change with the gate (pts)</a:t>
            </a:r>
          </a:p>
        </p:txBody>
      </p:sp>
      <p:graphicFrame>
        <p:nvGraphicFramePr>
          <p:cNvPr id="11" name="Table 10"/>
          <p:cNvGraphicFramePr>
            <a:graphicFrameLocks noGrp="1"/>
          </p:cNvGraphicFramePr>
          <p:nvPr/>
        </p:nvGraphicFramePr>
        <p:xfrm>
          <a:off x="548640" y="4828032"/>
          <a:ext cx="4480560" cy="1508760"/>
        </p:xfrm>
        <a:graphic>
          <a:graphicData uri="http://schemas.openxmlformats.org/drawingml/2006/table">
            <a:tbl>
              <a:tblPr firstRow="1" bandRow="0">
                <a:tableStyleId>{5C22544A-7EE6-4342-B048-85BDC9FD1C3A}</a:tableStyleId>
              </a:tblPr>
              <a:tblGrid>
                <a:gridCol w="914400"/>
                <a:gridCol w="1188720"/>
                <a:gridCol w="1188720"/>
                <a:gridCol w="1188720"/>
              </a:tblGrid>
              <a:tr h="301752">
                <a:tc>
                  <a:txBody>
                    <a:bodyPr wrap="square"/>
                    <a:lstStyle/>
                    <a:p>
                      <a:r>
                        <a:rPr sz="1200" b="1" i="0">
                          <a:solidFill>
                            <a:srgbClr val="FFFFFF"/>
                          </a:solidFill>
                          <a:latin typeface="Times New Roman"/>
                          <a:cs typeface="Times New Roman"/>
                          <a:ea typeface="Times New Roman"/>
                        </a:rPr>
                        <a:t>Budget</a:t>
                      </a:r>
                    </a:p>
                  </a:txBody>
                  <a:tcPr marL="54864" marR="54864" marT="18288" marB="18288" anchor="ctr">
                    <a:lnL w="15875" cap="flat" cmpd="sng" algn="ctr">
                      <a:solidFill>
                        <a:srgbClr val="1F3864"/>
                      </a:solidFill>
                      <a:prstDash val="solid"/>
                    </a:lnL>
                    <a:lnT w="15875" cap="flat" cmpd="sng" algn="ctr">
                      <a:solidFill>
                        <a:srgbClr val="1F3864"/>
                      </a:solidFill>
                      <a:prstDash val="solid"/>
                    </a:lnT>
                    <a:solidFill>
                      <a:srgbClr val="1F3864"/>
                    </a:solidFill>
                  </a:tcPr>
                </a:tc>
                <a:tc>
                  <a:txBody>
                    <a:bodyPr wrap="square"/>
                    <a:lstStyle/>
                    <a:p>
                      <a:pPr algn="ctr"/>
                      <a:r>
                        <a:rPr sz="1200" b="1" i="0">
                          <a:solidFill>
                            <a:srgbClr val="FFFFFF"/>
                          </a:solidFill>
                          <a:latin typeface="Times New Roman"/>
                          <a:cs typeface="Times New Roman"/>
                          <a:ea typeface="Times New Roman"/>
                        </a:rPr>
                        <a:t>CIFAR-10</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200" b="1" i="0">
                          <a:solidFill>
                            <a:srgbClr val="FFFFFF"/>
                          </a:solidFill>
                          <a:latin typeface="Times New Roman"/>
                          <a:cs typeface="Times New Roman"/>
                          <a:ea typeface="Times New Roman"/>
                        </a:rPr>
                        <a:t>CIFAR-100</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200" b="1" i="0">
                          <a:solidFill>
                            <a:srgbClr val="FFFFFF"/>
                          </a:solidFill>
                          <a:latin typeface="Times New Roman"/>
                          <a:cs typeface="Times New Roman"/>
                          <a:ea typeface="Times New Roman"/>
                        </a:rPr>
                        <a:t>IN16-120</a:t>
                      </a:r>
                    </a:p>
                  </a:txBody>
                  <a:tcPr marL="54864" marR="54864" marT="18288" marB="18288" anchor="ctr">
                    <a:lnR w="15875" cap="flat" cmpd="sng" algn="ctr">
                      <a:solidFill>
                        <a:srgbClr val="1F3864"/>
                      </a:solidFill>
                      <a:prstDash val="solid"/>
                    </a:lnR>
                    <a:lnT w="15875" cap="flat" cmpd="sng" algn="ctr">
                      <a:solidFill>
                        <a:srgbClr val="1F3864"/>
                      </a:solidFill>
                      <a:prstDash val="solid"/>
                    </a:lnT>
                    <a:solidFill>
                      <a:srgbClr val="1F3864"/>
                    </a:solidFill>
                  </a:tcPr>
                </a:tc>
              </a:tr>
              <a:tr h="301752">
                <a:tc>
                  <a:txBody>
                    <a:bodyPr wrap="square"/>
                    <a:lstStyle/>
                    <a:p>
                      <a:r>
                        <a:rPr sz="1200" b="1" i="0">
                          <a:solidFill>
                            <a:srgbClr val="262626"/>
                          </a:solidFill>
                          <a:latin typeface="Times New Roman"/>
                          <a:cs typeface="Times New Roman"/>
                          <a:ea typeface="Times New Roman"/>
                        </a:rPr>
                        <a:t>25</a:t>
                      </a:r>
                    </a:p>
                  </a:txBody>
                  <a:tcPr marL="54864" marR="54864" marT="18288" marB="18288" anchor="ctr">
                    <a:lnL w="15875" cap="flat" cmpd="sng" algn="ctr">
                      <a:solidFill>
                        <a:srgbClr val="1F3864"/>
                      </a:solidFill>
                      <a:prstDash val="solid"/>
                    </a:lnL>
                    <a:solidFill>
                      <a:srgbClr val="FFFFFF"/>
                    </a:solidFill>
                  </a:tcPr>
                </a:tc>
                <a:tc>
                  <a:txBody>
                    <a:bodyPr wrap="square"/>
                    <a:lstStyle/>
                    <a:p>
                      <a:pPr algn="ctr"/>
                      <a:r>
                        <a:rPr sz="1200" b="0" i="0">
                          <a:solidFill>
                            <a:srgbClr val="262626"/>
                          </a:solidFill>
                          <a:latin typeface="Times New Roman"/>
                          <a:cs typeface="Times New Roman"/>
                          <a:ea typeface="Times New Roman"/>
                        </a:rPr>
                        <a:t>−0.08</a:t>
                      </a:r>
                    </a:p>
                  </a:txBody>
                  <a:tcPr marL="54864" marR="54864" marT="18288" marB="18288" anchor="ctr">
                    <a:solidFill>
                      <a:srgbClr val="FFFFFF"/>
                    </a:solidFill>
                  </a:tcPr>
                </a:tc>
                <a:tc>
                  <a:txBody>
                    <a:bodyPr wrap="square"/>
                    <a:lstStyle/>
                    <a:p>
                      <a:pPr algn="ctr"/>
                      <a:r>
                        <a:rPr sz="1200" b="0" i="0">
                          <a:solidFill>
                            <a:srgbClr val="262626"/>
                          </a:solidFill>
                          <a:latin typeface="Times New Roman"/>
                          <a:cs typeface="Times New Roman"/>
                          <a:ea typeface="Times New Roman"/>
                        </a:rPr>
                        <a:t>+0.06</a:t>
                      </a:r>
                    </a:p>
                  </a:txBody>
                  <a:tcPr marL="54864" marR="54864" marT="18288" marB="18288" anchor="ctr">
                    <a:solidFill>
                      <a:srgbClr val="FFFFFF"/>
                    </a:solidFill>
                  </a:tcPr>
                </a:tc>
                <a:tc>
                  <a:txBody>
                    <a:bodyPr wrap="square"/>
                    <a:lstStyle/>
                    <a:p>
                      <a:pPr algn="ctr"/>
                      <a:r>
                        <a:rPr sz="1200" b="0" i="0">
                          <a:solidFill>
                            <a:srgbClr val="262626"/>
                          </a:solidFill>
                          <a:latin typeface="Times New Roman"/>
                          <a:cs typeface="Times New Roman"/>
                          <a:ea typeface="Times New Roman"/>
                        </a:rPr>
                        <a:t>+0.04</a:t>
                      </a:r>
                    </a:p>
                  </a:txBody>
                  <a:tcPr marL="54864" marR="54864" marT="18288" marB="18288" anchor="ctr">
                    <a:lnR w="15875" cap="flat" cmpd="sng" algn="ctr">
                      <a:solidFill>
                        <a:srgbClr val="1F3864"/>
                      </a:solidFill>
                      <a:prstDash val="solid"/>
                    </a:lnR>
                    <a:solidFill>
                      <a:srgbClr val="FFFFFF"/>
                    </a:solidFill>
                  </a:tcPr>
                </a:tc>
              </a:tr>
              <a:tr h="301752">
                <a:tc>
                  <a:txBody>
                    <a:bodyPr wrap="square"/>
                    <a:lstStyle/>
                    <a:p>
                      <a:r>
                        <a:rPr sz="1200" b="1" i="0">
                          <a:solidFill>
                            <a:srgbClr val="262626"/>
                          </a:solidFill>
                          <a:latin typeface="Times New Roman"/>
                          <a:cs typeface="Times New Roman"/>
                          <a:ea typeface="Times New Roman"/>
                        </a:rPr>
                        <a:t>50</a:t>
                      </a:r>
                    </a:p>
                  </a:txBody>
                  <a:tcPr marL="54864" marR="54864" marT="18288" marB="18288" anchor="ctr">
                    <a:lnL w="15875" cap="flat" cmpd="sng" algn="ctr">
                      <a:solidFill>
                        <a:srgbClr val="1F3864"/>
                      </a:solidFill>
                      <a:prstDash val="solid"/>
                    </a:lnL>
                    <a:solidFill>
                      <a:srgbClr val="F4F7FB"/>
                    </a:solidFill>
                  </a:tcPr>
                </a:tc>
                <a:tc>
                  <a:txBody>
                    <a:bodyPr wrap="square"/>
                    <a:lstStyle/>
                    <a:p>
                      <a:pPr algn="ctr"/>
                      <a:r>
                        <a:rPr sz="1200" b="0" i="0">
                          <a:solidFill>
                            <a:srgbClr val="262626"/>
                          </a:solidFill>
                          <a:latin typeface="Times New Roman"/>
                          <a:cs typeface="Times New Roman"/>
                          <a:ea typeface="Times New Roman"/>
                        </a:rPr>
                        <a:t>+0.05</a:t>
                      </a:r>
                    </a:p>
                  </a:txBody>
                  <a:tcPr marL="54864" marR="54864" marT="18288" marB="18288" anchor="ctr">
                    <a:solidFill>
                      <a:srgbClr val="F4F7FB"/>
                    </a:solidFill>
                  </a:tcPr>
                </a:tc>
                <a:tc>
                  <a:txBody>
                    <a:bodyPr wrap="square"/>
                    <a:lstStyle/>
                    <a:p>
                      <a:pPr algn="ctr"/>
                      <a:r>
                        <a:rPr sz="1200" b="0" i="0">
                          <a:solidFill>
                            <a:srgbClr val="262626"/>
                          </a:solidFill>
                          <a:latin typeface="Times New Roman"/>
                          <a:cs typeface="Times New Roman"/>
                          <a:ea typeface="Times New Roman"/>
                        </a:rPr>
                        <a:t>−0.16</a:t>
                      </a:r>
                    </a:p>
                  </a:txBody>
                  <a:tcPr marL="54864" marR="54864" marT="18288" marB="18288" anchor="ctr">
                    <a:solidFill>
                      <a:srgbClr val="F4F7FB"/>
                    </a:solidFill>
                  </a:tcPr>
                </a:tc>
                <a:tc>
                  <a:txBody>
                    <a:bodyPr wrap="square"/>
                    <a:lstStyle/>
                    <a:p>
                      <a:pPr algn="ctr"/>
                      <a:r>
                        <a:rPr sz="1200" b="0" i="0">
                          <a:solidFill>
                            <a:srgbClr val="262626"/>
                          </a:solidFill>
                          <a:latin typeface="Times New Roman"/>
                          <a:cs typeface="Times New Roman"/>
                          <a:ea typeface="Times New Roman"/>
                        </a:rPr>
                        <a:t>+0.36</a:t>
                      </a:r>
                    </a:p>
                  </a:txBody>
                  <a:tcPr marL="54864" marR="54864" marT="18288" marB="18288" anchor="ctr">
                    <a:lnR w="15875" cap="flat" cmpd="sng" algn="ctr">
                      <a:solidFill>
                        <a:srgbClr val="1F3864"/>
                      </a:solidFill>
                      <a:prstDash val="solid"/>
                    </a:lnR>
                    <a:solidFill>
                      <a:srgbClr val="F4F7FB"/>
                    </a:solidFill>
                  </a:tcPr>
                </a:tc>
              </a:tr>
              <a:tr h="301752">
                <a:tc>
                  <a:txBody>
                    <a:bodyPr wrap="square"/>
                    <a:lstStyle/>
                    <a:p>
                      <a:r>
                        <a:rPr sz="1200" b="1" i="0">
                          <a:solidFill>
                            <a:srgbClr val="262626"/>
                          </a:solidFill>
                          <a:latin typeface="Times New Roman"/>
                          <a:cs typeface="Times New Roman"/>
                          <a:ea typeface="Times New Roman"/>
                        </a:rPr>
                        <a:t>100</a:t>
                      </a:r>
                    </a:p>
                  </a:txBody>
                  <a:tcPr marL="54864" marR="54864" marT="18288" marB="18288" anchor="ctr">
                    <a:lnL w="15875" cap="flat" cmpd="sng" algn="ctr">
                      <a:solidFill>
                        <a:srgbClr val="1F3864"/>
                      </a:solidFill>
                      <a:prstDash val="solid"/>
                    </a:lnL>
                    <a:solidFill>
                      <a:srgbClr val="FFFFFF"/>
                    </a:solidFill>
                  </a:tcPr>
                </a:tc>
                <a:tc>
                  <a:txBody>
                    <a:bodyPr wrap="square"/>
                    <a:lstStyle/>
                    <a:p>
                      <a:pPr algn="ctr"/>
                      <a:r>
                        <a:rPr sz="1200" b="0" i="0">
                          <a:solidFill>
                            <a:srgbClr val="262626"/>
                          </a:solidFill>
                          <a:latin typeface="Times New Roman"/>
                          <a:cs typeface="Times New Roman"/>
                          <a:ea typeface="Times New Roman"/>
                        </a:rPr>
                        <a:t>+0.11</a:t>
                      </a:r>
                    </a:p>
                  </a:txBody>
                  <a:tcPr marL="54864" marR="54864" marT="18288" marB="18288" anchor="ctr">
                    <a:solidFill>
                      <a:srgbClr val="FFFFFF"/>
                    </a:solidFill>
                  </a:tcPr>
                </a:tc>
                <a:tc>
                  <a:txBody>
                    <a:bodyPr wrap="square"/>
                    <a:lstStyle/>
                    <a:p>
                      <a:pPr algn="ctr"/>
                      <a:r>
                        <a:rPr sz="1200" b="0" i="0">
                          <a:solidFill>
                            <a:srgbClr val="262626"/>
                          </a:solidFill>
                          <a:latin typeface="Times New Roman"/>
                          <a:cs typeface="Times New Roman"/>
                          <a:ea typeface="Times New Roman"/>
                        </a:rPr>
                        <a:t>+0.11</a:t>
                      </a:r>
                    </a:p>
                  </a:txBody>
                  <a:tcPr marL="54864" marR="54864" marT="18288" marB="18288" anchor="ctr">
                    <a:solidFill>
                      <a:srgbClr val="FFFFFF"/>
                    </a:solidFill>
                  </a:tcPr>
                </a:tc>
                <a:tc>
                  <a:txBody>
                    <a:bodyPr wrap="square"/>
                    <a:lstStyle/>
                    <a:p>
                      <a:pPr algn="ctr"/>
                      <a:r>
                        <a:rPr sz="1200" b="0" i="0">
                          <a:solidFill>
                            <a:srgbClr val="262626"/>
                          </a:solidFill>
                          <a:latin typeface="Times New Roman"/>
                          <a:cs typeface="Times New Roman"/>
                          <a:ea typeface="Times New Roman"/>
                        </a:rPr>
                        <a:t>+0.27</a:t>
                      </a:r>
                    </a:p>
                  </a:txBody>
                  <a:tcPr marL="54864" marR="54864" marT="18288" marB="18288" anchor="ctr">
                    <a:lnR w="15875" cap="flat" cmpd="sng" algn="ctr">
                      <a:solidFill>
                        <a:srgbClr val="1F3864"/>
                      </a:solidFill>
                      <a:prstDash val="solid"/>
                    </a:lnR>
                    <a:solidFill>
                      <a:srgbClr val="FFFFFF"/>
                    </a:solidFill>
                  </a:tcPr>
                </a:tc>
              </a:tr>
              <a:tr h="301752">
                <a:tc>
                  <a:txBody>
                    <a:bodyPr wrap="square"/>
                    <a:lstStyle/>
                    <a:p>
                      <a:r>
                        <a:rPr sz="1200" b="1" i="0">
                          <a:solidFill>
                            <a:srgbClr val="262626"/>
                          </a:solidFill>
                          <a:latin typeface="Times New Roman"/>
                          <a:cs typeface="Times New Roman"/>
                          <a:ea typeface="Times New Roman"/>
                        </a:rPr>
                        <a:t>200</a:t>
                      </a:r>
                    </a:p>
                  </a:txBody>
                  <a:tcPr marL="54864" marR="54864" marT="18288" marB="18288" anchor="ctr">
                    <a:lnL w="15875" cap="flat" cmpd="sng" algn="ctr">
                      <a:solidFill>
                        <a:srgbClr val="1F3864"/>
                      </a:solidFill>
                      <a:prstDash val="solid"/>
                    </a:lnL>
                    <a:lnB w="15875" cap="flat" cmpd="sng" algn="ctr">
                      <a:solidFill>
                        <a:srgbClr val="1F3864"/>
                      </a:solidFill>
                      <a:prstDash val="solid"/>
                    </a:lnB>
                    <a:solidFill>
                      <a:srgbClr val="F4F7FB"/>
                    </a:solidFill>
                  </a:tcPr>
                </a:tc>
                <a:tc>
                  <a:txBody>
                    <a:bodyPr wrap="square"/>
                    <a:lstStyle/>
                    <a:p>
                      <a:pPr algn="ctr"/>
                      <a:r>
                        <a:rPr sz="1200" b="0" i="0">
                          <a:solidFill>
                            <a:srgbClr val="262626"/>
                          </a:solidFill>
                          <a:latin typeface="Times New Roman"/>
                          <a:cs typeface="Times New Roman"/>
                          <a:ea typeface="Times New Roman"/>
                        </a:rPr>
                        <a:t>+0.16</a:t>
                      </a:r>
                    </a:p>
                  </a:txBody>
                  <a:tcPr marL="54864" marR="54864" marT="18288" marB="18288" anchor="ctr">
                    <a:lnB w="15875" cap="flat" cmpd="sng" algn="ctr">
                      <a:solidFill>
                        <a:srgbClr val="1F3864"/>
                      </a:solidFill>
                      <a:prstDash val="solid"/>
                    </a:lnB>
                    <a:solidFill>
                      <a:srgbClr val="F4F7FB"/>
                    </a:solidFill>
                  </a:tcPr>
                </a:tc>
                <a:tc>
                  <a:txBody>
                    <a:bodyPr wrap="square"/>
                    <a:lstStyle/>
                    <a:p>
                      <a:pPr algn="ctr"/>
                      <a:r>
                        <a:rPr sz="1200" b="0" i="0">
                          <a:solidFill>
                            <a:srgbClr val="262626"/>
                          </a:solidFill>
                          <a:latin typeface="Times New Roman"/>
                          <a:cs typeface="Times New Roman"/>
                          <a:ea typeface="Times New Roman"/>
                        </a:rPr>
                        <a:t>+0.43</a:t>
                      </a:r>
                    </a:p>
                  </a:txBody>
                  <a:tcPr marL="54864" marR="54864" marT="18288" marB="18288" anchor="ctr">
                    <a:lnB w="15875" cap="flat" cmpd="sng" algn="ctr">
                      <a:solidFill>
                        <a:srgbClr val="1F3864"/>
                      </a:solidFill>
                      <a:prstDash val="solid"/>
                    </a:lnB>
                    <a:solidFill>
                      <a:srgbClr val="F4F7FB"/>
                    </a:solidFill>
                  </a:tcPr>
                </a:tc>
                <a:tc>
                  <a:txBody>
                    <a:bodyPr wrap="square"/>
                    <a:lstStyle/>
                    <a:p>
                      <a:pPr algn="ctr"/>
                      <a:r>
                        <a:rPr sz="1200" b="0" i="0">
                          <a:solidFill>
                            <a:srgbClr val="262626"/>
                          </a:solidFill>
                          <a:latin typeface="Times New Roman"/>
                          <a:cs typeface="Times New Roman"/>
                          <a:ea typeface="Times New Roman"/>
                        </a:rPr>
                        <a:t>+0.02</a:t>
                      </a:r>
                    </a:p>
                  </a:txBody>
                  <a:tcPr marL="54864" marR="54864" marT="18288" marB="18288" anchor="ctr">
                    <a:lnR w="15875" cap="flat" cmpd="sng" algn="ctr">
                      <a:solidFill>
                        <a:srgbClr val="1F3864"/>
                      </a:solidFill>
                      <a:prstDash val="solid"/>
                    </a:lnR>
                    <a:lnB w="15875" cap="flat" cmpd="sng" algn="ctr">
                      <a:solidFill>
                        <a:srgbClr val="1F3864"/>
                      </a:solidFill>
                      <a:prstDash val="solid"/>
                    </a:lnB>
                    <a:solidFill>
                      <a:srgbClr val="F4F7FB"/>
                    </a:solidFill>
                  </a:tcPr>
                </a:tc>
              </a:tr>
            </a:tbl>
          </a:graphicData>
        </a:graphic>
      </p:graphicFrame>
      <p:sp>
        <p:nvSpPr>
          <p:cNvPr id="12" name="Rounded Rectangle 11"/>
          <p:cNvSpPr/>
          <p:nvPr/>
        </p:nvSpPr>
        <p:spPr>
          <a:xfrm>
            <a:off x="5257800" y="4553712"/>
            <a:ext cx="6355080" cy="1801368"/>
          </a:xfrm>
          <a:prstGeom prst="roundRect">
            <a:avLst>
              <a:gd name="adj" fmla="val 6000"/>
            </a:avLst>
          </a:prstGeom>
          <a:solidFill>
            <a:srgbClr val="F4F7FB"/>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440680" y="4718304"/>
            <a:ext cx="1325880"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300" b="1" i="0">
                <a:solidFill>
                  <a:srgbClr val="FFFFFF"/>
                </a:solidFill>
                <a:latin typeface="Times New Roman"/>
                <a:cs typeface="Times New Roman"/>
                <a:ea typeface="Times New Roman"/>
              </a:rPr>
              <a:t>Inference</a:t>
            </a:r>
          </a:p>
        </p:txBody>
      </p:sp>
      <p:sp>
        <p:nvSpPr>
          <p:cNvPr id="14" name="TextBox 13"/>
          <p:cNvSpPr txBox="1"/>
          <p:nvPr/>
        </p:nvSpPr>
        <p:spPr>
          <a:xfrm>
            <a:off x="6949440" y="4626864"/>
            <a:ext cx="4526280" cy="1655064"/>
          </a:xfrm>
          <a:prstGeom prst="rect">
            <a:avLst/>
          </a:prstGeom>
          <a:noFill/>
        </p:spPr>
        <p:txBody>
          <a:bodyPr wrap="square" anchor="ctr" lIns="45720" rIns="45720" tIns="27432" bIns="27432"/>
          <a:lstStyle/>
          <a:p>
            <a:pPr algn="l" marL="228600" indent="-201168">
              <a:spcAft>
                <a:spcPts val="300"/>
              </a:spcAft>
              <a:buFont typeface="Arial"/>
              <a:buChar char="•"/>
            </a:pPr>
            <a:r>
              <a:rPr sz="1400" b="0" i="0">
                <a:solidFill>
                  <a:srgbClr val="262626"/>
                </a:solidFill>
                <a:latin typeface="Times New Roman"/>
                <a:cs typeface="Times New Roman"/>
                <a:ea typeface="Times New Roman"/>
              </a:rPr>
              <a:t>Savings grow with budget: ~60% evaluations, 53% GPU-hours at 200, on all 3 datasets.</a:t>
            </a:r>
          </a:p>
          <a:p>
            <a:pPr algn="l" marL="228600" indent="-201168">
              <a:spcAft>
                <a:spcPts val="300"/>
              </a:spcAft>
              <a:buFont typeface="Arial"/>
              <a:buChar char="•"/>
            </a:pPr>
            <a:r>
              <a:rPr sz="1400" b="0" i="0">
                <a:solidFill>
                  <a:srgbClr val="262626"/>
                </a:solidFill>
                <a:latin typeface="Times New Roman"/>
                <a:cs typeface="Times New Roman"/>
                <a:ea typeface="Times New Roman"/>
              </a:rPr>
              <a:t>GPU savings ~6 pts lower: the gate prefers larger networks.</a:t>
            </a:r>
          </a:p>
          <a:p>
            <a:pPr algn="l" marL="228600" indent="-201168">
              <a:spcAft>
                <a:spcPts val="300"/>
              </a:spcAft>
              <a:buFont typeface="Arial"/>
              <a:buChar char="•"/>
            </a:pPr>
            <a:r>
              <a:rPr sz="1400" b="0" i="0">
                <a:solidFill>
                  <a:srgbClr val="262626"/>
                </a:solidFill>
                <a:latin typeface="Times New Roman"/>
                <a:cs typeface="Times New Roman"/>
                <a:ea typeface="Times New Roman"/>
              </a:rPr>
              <a:t>Accuracy unchanged (−0.16 to +0.43 pts).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RESULTS · NAS-BENCH-201</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Result 3: Accuracy Across All Datasets</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13</a:t>
            </a:r>
          </a:p>
        </p:txBody>
      </p:sp>
      <p:sp>
        <p:nvSpPr>
          <p:cNvPr id="6" name="Table 4 caption"/>
          <p:cNvSpPr txBox="1"/>
          <p:nvPr/>
        </p:nvSpPr>
        <p:spPr>
          <a:xfrm>
            <a:off x="548640" y="1444752"/>
            <a:ext cx="11064240" cy="256032"/>
          </a:xfrm>
          <a:prstGeom prst="rect">
            <a:avLst/>
          </a:prstGeom>
          <a:noFill/>
        </p:spPr>
        <p:txBody>
          <a:bodyPr wrap="square" anchor="t" lIns="0" rIns="0" tIns="27432" bIns="27432"/>
          <a:lstStyle/>
          <a:p>
            <a:pPr algn="ctr">
              <a:spcAft>
                <a:spcPts val="400"/>
              </a:spcAft>
            </a:pPr>
            <a:r>
              <a:rPr sz="1150" b="1" i="0">
                <a:solidFill>
                  <a:srgbClr val="002060"/>
                </a:solidFill>
                <a:latin typeface="Times New Roman"/>
                <a:cs typeface="Times New Roman"/>
                <a:ea typeface="Times New Roman"/>
              </a:rPr>
              <a:t>Table 4. </a:t>
            </a:r>
            <a:r>
              <a:rPr sz="1150" b="0" i="0">
                <a:solidFill>
                  <a:srgbClr val="002060"/>
                </a:solidFill>
                <a:latin typeface="Times New Roman"/>
                <a:cs typeface="Times New Roman"/>
                <a:ea typeface="Times New Roman"/>
              </a:rPr>
              <a:t>Test accuracy (%) on NAS-Bench-201 at budgets 50 / 100 / 200, mean of 12 seeds</a:t>
            </a:r>
          </a:p>
        </p:txBody>
      </p:sp>
      <p:graphicFrame>
        <p:nvGraphicFramePr>
          <p:cNvPr id="7" name="Table 6"/>
          <p:cNvGraphicFramePr>
            <a:graphicFrameLocks noGrp="1"/>
          </p:cNvGraphicFramePr>
          <p:nvPr/>
        </p:nvGraphicFramePr>
        <p:xfrm>
          <a:off x="548640" y="1719072"/>
          <a:ext cx="11018520" cy="3703320"/>
        </p:xfrm>
        <a:graphic>
          <a:graphicData uri="http://schemas.openxmlformats.org/drawingml/2006/table">
            <a:tbl>
              <a:tblPr firstRow="1" bandRow="0">
                <a:tableStyleId>{5C22544A-7EE6-4342-B048-85BDC9FD1C3A}</a:tableStyleId>
              </a:tblPr>
              <a:tblGrid>
                <a:gridCol w="2697480"/>
                <a:gridCol w="914400"/>
                <a:gridCol w="822960"/>
                <a:gridCol w="822960"/>
                <a:gridCol w="822960"/>
                <a:gridCol w="822960"/>
                <a:gridCol w="822960"/>
                <a:gridCol w="822960"/>
                <a:gridCol w="822960"/>
                <a:gridCol w="822960"/>
                <a:gridCol w="822960"/>
              </a:tblGrid>
              <a:tr h="246888">
                <a:tc rowSpan="2">
                  <a:txBody>
                    <a:bodyPr/>
                    <a:lstStyle/>
                    <a:p>
                      <a:pPr algn="l"/>
                      <a:r>
                        <a:rPr sz="1200" b="1" i="0">
                          <a:solidFill>
                            <a:srgbClr val="FFFFFF"/>
                          </a:solidFill>
                          <a:latin typeface="Times New Roman"/>
                          <a:cs typeface="Times New Roman"/>
                          <a:ea typeface="Times New Roman"/>
                        </a:rPr>
                        <a:t>Method</a:t>
                      </a:r>
                    </a:p>
                  </a:txBody>
                  <a:tcPr marL="45720" marR="45720" marT="9144" marB="9144" anchor="ctr">
                    <a:lnL w="15875" cap="flat" cmpd="sng" algn="ctr">
                      <a:solidFill>
                        <a:srgbClr val="1F3864"/>
                      </a:solidFill>
                      <a:prstDash val="solid"/>
                    </a:lnL>
                    <a:lnT w="15875" cap="flat" cmpd="sng" algn="ctr">
                      <a:solidFill>
                        <a:srgbClr val="1F3864"/>
                      </a:solidFill>
                      <a:prstDash val="solid"/>
                    </a:lnT>
                    <a:solidFill>
                      <a:srgbClr val="1F3864"/>
                    </a:solidFill>
                  </a:tcPr>
                </a:tc>
                <a:tc rowSpan="2">
                  <a:txBody>
                    <a:bodyPr/>
                    <a:lstStyle/>
                    <a:p>
                      <a:pPr algn="ctr"/>
                      <a:r>
                        <a:rPr sz="1100" b="1" i="0">
                          <a:solidFill>
                            <a:srgbClr val="FFFFFF"/>
                          </a:solidFill>
                          <a:latin typeface="Times New Roman"/>
                          <a:cs typeface="Times New Roman"/>
                          <a:ea typeface="Times New Roman"/>
                        </a:rPr>
                        <a:t>Real evals @200</a:t>
                      </a:r>
                    </a:p>
                  </a:txBody>
                  <a:tcPr marL="45720" marR="45720" marT="9144" marB="9144" anchor="ctr">
                    <a:lnT w="15875" cap="flat" cmpd="sng" algn="ctr">
                      <a:solidFill>
                        <a:srgbClr val="1F3864"/>
                      </a:solidFill>
                      <a:prstDash val="solid"/>
                    </a:lnT>
                    <a:solidFill>
                      <a:srgbClr val="1F3864"/>
                    </a:solidFill>
                  </a:tcPr>
                </a:tc>
                <a:tc gridSpan="3">
                  <a:txBody>
                    <a:bodyPr/>
                    <a:lstStyle/>
                    <a:p>
                      <a:pPr algn="ctr"/>
                      <a:r>
                        <a:rPr sz="1200" b="1" i="0">
                          <a:solidFill>
                            <a:srgbClr val="FFFFFF"/>
                          </a:solidFill>
                          <a:latin typeface="Times New Roman"/>
                          <a:cs typeface="Times New Roman"/>
                          <a:ea typeface="Times New Roman"/>
                        </a:rPr>
                        <a:t>CIFAR-10</a:t>
                      </a:r>
                    </a:p>
                  </a:txBody>
                  <a:tcPr marL="45720" marR="45720" marT="9144" marB="9144" anchor="ctr">
                    <a:lnT w="15875" cap="flat" cmpd="sng" algn="ctr">
                      <a:solidFill>
                        <a:srgbClr val="1F3864"/>
                      </a:solidFill>
                      <a:prstDash val="solid"/>
                    </a:lnT>
                    <a:solidFill>
                      <a:srgbClr val="1F3864"/>
                    </a:solidFill>
                  </a:tcPr>
                </a:tc>
                <a:tc hMerge="1">
                  <a:txBody>
                    <a:bodyPr/>
                    <a:lstStyle/>
                    <a:p/>
                  </a:txBody>
                  <a:tcPr>
                    <a:lnT w="15875" cap="flat" cmpd="sng" algn="ctr">
                      <a:solidFill>
                        <a:srgbClr val="1F3864"/>
                      </a:solidFill>
                      <a:prstDash val="solid"/>
                    </a:lnT>
                  </a:tcPr>
                </a:tc>
                <a:tc hMerge="1">
                  <a:txBody>
                    <a:bodyPr/>
                    <a:lstStyle/>
                    <a:p/>
                  </a:txBody>
                  <a:tcPr>
                    <a:lnT w="15875" cap="flat" cmpd="sng" algn="ctr">
                      <a:solidFill>
                        <a:srgbClr val="1F3864"/>
                      </a:solidFill>
                      <a:prstDash val="solid"/>
                    </a:lnT>
                  </a:tcPr>
                </a:tc>
                <a:tc gridSpan="3">
                  <a:txBody>
                    <a:bodyPr/>
                    <a:lstStyle/>
                    <a:p>
                      <a:pPr algn="ctr"/>
                      <a:r>
                        <a:rPr sz="1200" b="1" i="0">
                          <a:solidFill>
                            <a:srgbClr val="FFFFFF"/>
                          </a:solidFill>
                          <a:latin typeface="Times New Roman"/>
                          <a:cs typeface="Times New Roman"/>
                          <a:ea typeface="Times New Roman"/>
                        </a:rPr>
                        <a:t>CIFAR-100</a:t>
                      </a:r>
                    </a:p>
                  </a:txBody>
                  <a:tcPr marL="45720" marR="45720" marT="9144" marB="9144" anchor="ctr">
                    <a:lnT w="15875" cap="flat" cmpd="sng" algn="ctr">
                      <a:solidFill>
                        <a:srgbClr val="1F3864"/>
                      </a:solidFill>
                      <a:prstDash val="solid"/>
                    </a:lnT>
                    <a:solidFill>
                      <a:srgbClr val="1F3864"/>
                    </a:solidFill>
                  </a:tcPr>
                </a:tc>
                <a:tc hMerge="1">
                  <a:txBody>
                    <a:bodyPr/>
                    <a:lstStyle/>
                    <a:p/>
                  </a:txBody>
                  <a:tcPr>
                    <a:lnT w="15875" cap="flat" cmpd="sng" algn="ctr">
                      <a:solidFill>
                        <a:srgbClr val="1F3864"/>
                      </a:solidFill>
                      <a:prstDash val="solid"/>
                    </a:lnT>
                  </a:tcPr>
                </a:tc>
                <a:tc hMerge="1">
                  <a:txBody>
                    <a:bodyPr/>
                    <a:lstStyle/>
                    <a:p/>
                  </a:txBody>
                  <a:tcPr>
                    <a:lnT w="15875" cap="flat" cmpd="sng" algn="ctr">
                      <a:solidFill>
                        <a:srgbClr val="1F3864"/>
                      </a:solidFill>
                      <a:prstDash val="solid"/>
                    </a:lnT>
                  </a:tcPr>
                </a:tc>
                <a:tc gridSpan="3">
                  <a:txBody>
                    <a:bodyPr/>
                    <a:lstStyle/>
                    <a:p>
                      <a:pPr algn="ctr"/>
                      <a:r>
                        <a:rPr sz="1200" b="1" i="0">
                          <a:solidFill>
                            <a:srgbClr val="FFFFFF"/>
                          </a:solidFill>
                          <a:latin typeface="Times New Roman"/>
                          <a:cs typeface="Times New Roman"/>
                          <a:ea typeface="Times New Roman"/>
                        </a:rPr>
                        <a:t>ImageNet16-120</a:t>
                      </a:r>
                    </a:p>
                  </a:txBody>
                  <a:tcPr marL="45720" marR="45720" marT="9144" marB="9144" anchor="ctr">
                    <a:lnT w="15875" cap="flat" cmpd="sng" algn="ctr">
                      <a:solidFill>
                        <a:srgbClr val="1F3864"/>
                      </a:solidFill>
                      <a:prstDash val="solid"/>
                    </a:lnT>
                    <a:solidFill>
                      <a:srgbClr val="1F3864"/>
                    </a:solidFill>
                  </a:tcPr>
                </a:tc>
                <a:tc hMerge="1">
                  <a:txBody>
                    <a:bodyPr/>
                    <a:lstStyle/>
                    <a:p/>
                  </a:txBody>
                  <a:tcPr>
                    <a:lnT w="15875" cap="flat" cmpd="sng" algn="ctr">
                      <a:solidFill>
                        <a:srgbClr val="1F3864"/>
                      </a:solidFill>
                      <a:prstDash val="solid"/>
                    </a:lnT>
                  </a:tcPr>
                </a:tc>
                <a:tc hMerge="1">
                  <a:txBody>
                    <a:bodyPr/>
                    <a:lstStyle/>
                    <a:p/>
                  </a:txBody>
                  <a:tcPr>
                    <a:lnR w="15875" cap="flat" cmpd="sng" algn="ctr">
                      <a:solidFill>
                        <a:srgbClr val="1F3864"/>
                      </a:solidFill>
                      <a:prstDash val="solid"/>
                    </a:lnR>
                    <a:lnT w="15875" cap="flat" cmpd="sng" algn="ctr">
                      <a:solidFill>
                        <a:srgbClr val="1F3864"/>
                      </a:solidFill>
                      <a:prstDash val="solid"/>
                    </a:lnT>
                  </a:tcPr>
                </a:tc>
              </a:tr>
              <a:tr h="246888">
                <a:tc vMerge="1">
                  <a:txBody>
                    <a:bodyPr/>
                    <a:lstStyle/>
                    <a:p/>
                  </a:txBody>
                  <a:tcPr>
                    <a:lnL w="15875" cap="flat" cmpd="sng" algn="ctr">
                      <a:solidFill>
                        <a:srgbClr val="1F3864"/>
                      </a:solidFill>
                      <a:prstDash val="solid"/>
                    </a:lnL>
                  </a:tcPr>
                </a:tc>
                <a:tc vMerge="1">
                  <a:txBody>
                    <a:bodyPr/>
                    <a:lstStyle/>
                    <a:p/>
                  </a:txBody>
                  <a:tcPr/>
                </a:tc>
                <a:tc>
                  <a:txBody>
                    <a:bodyPr/>
                    <a:lstStyle/>
                    <a:p>
                      <a:pPr algn="ctr"/>
                      <a:r>
                        <a:rPr sz="1100" b="1" i="0">
                          <a:solidFill>
                            <a:srgbClr val="FFFFFF"/>
                          </a:solidFill>
                          <a:latin typeface="Times New Roman"/>
                          <a:cs typeface="Times New Roman"/>
                          <a:ea typeface="Times New Roman"/>
                        </a:rPr>
                        <a:t>@50</a:t>
                      </a:r>
                    </a:p>
                  </a:txBody>
                  <a:tcPr marL="45720" marR="45720" marT="9144" marB="9144" anchor="ctr">
                    <a:solidFill>
                      <a:srgbClr val="4472C4"/>
                    </a:solidFill>
                  </a:tcPr>
                </a:tc>
                <a:tc>
                  <a:txBody>
                    <a:bodyPr/>
                    <a:lstStyle/>
                    <a:p>
                      <a:pPr algn="ctr"/>
                      <a:r>
                        <a:rPr sz="1100" b="1" i="0">
                          <a:solidFill>
                            <a:srgbClr val="FFFFFF"/>
                          </a:solidFill>
                          <a:latin typeface="Times New Roman"/>
                          <a:cs typeface="Times New Roman"/>
                          <a:ea typeface="Times New Roman"/>
                        </a:rPr>
                        <a:t>@100</a:t>
                      </a:r>
                    </a:p>
                  </a:txBody>
                  <a:tcPr marL="45720" marR="45720" marT="9144" marB="9144" anchor="ctr">
                    <a:solidFill>
                      <a:srgbClr val="4472C4"/>
                    </a:solidFill>
                  </a:tcPr>
                </a:tc>
                <a:tc>
                  <a:txBody>
                    <a:bodyPr/>
                    <a:lstStyle/>
                    <a:p>
                      <a:pPr algn="ctr"/>
                      <a:r>
                        <a:rPr sz="1100" b="1" i="0">
                          <a:solidFill>
                            <a:srgbClr val="FFFFFF"/>
                          </a:solidFill>
                          <a:latin typeface="Times New Roman"/>
                          <a:cs typeface="Times New Roman"/>
                          <a:ea typeface="Times New Roman"/>
                        </a:rPr>
                        <a:t>@200</a:t>
                      </a:r>
                    </a:p>
                  </a:txBody>
                  <a:tcPr marL="45720" marR="45720" marT="9144" marB="9144" anchor="ctr">
                    <a:solidFill>
                      <a:srgbClr val="4472C4"/>
                    </a:solidFill>
                  </a:tcPr>
                </a:tc>
                <a:tc>
                  <a:txBody>
                    <a:bodyPr/>
                    <a:lstStyle/>
                    <a:p>
                      <a:pPr algn="ctr"/>
                      <a:r>
                        <a:rPr sz="1100" b="1" i="0">
                          <a:solidFill>
                            <a:srgbClr val="FFFFFF"/>
                          </a:solidFill>
                          <a:latin typeface="Times New Roman"/>
                          <a:cs typeface="Times New Roman"/>
                          <a:ea typeface="Times New Roman"/>
                        </a:rPr>
                        <a:t>@50</a:t>
                      </a:r>
                    </a:p>
                  </a:txBody>
                  <a:tcPr marL="45720" marR="45720" marT="9144" marB="9144" anchor="ctr">
                    <a:solidFill>
                      <a:srgbClr val="4472C4"/>
                    </a:solidFill>
                  </a:tcPr>
                </a:tc>
                <a:tc>
                  <a:txBody>
                    <a:bodyPr/>
                    <a:lstStyle/>
                    <a:p>
                      <a:pPr algn="ctr"/>
                      <a:r>
                        <a:rPr sz="1100" b="1" i="0">
                          <a:solidFill>
                            <a:srgbClr val="FFFFFF"/>
                          </a:solidFill>
                          <a:latin typeface="Times New Roman"/>
                          <a:cs typeface="Times New Roman"/>
                          <a:ea typeface="Times New Roman"/>
                        </a:rPr>
                        <a:t>@100</a:t>
                      </a:r>
                    </a:p>
                  </a:txBody>
                  <a:tcPr marL="45720" marR="45720" marT="9144" marB="9144" anchor="ctr">
                    <a:solidFill>
                      <a:srgbClr val="4472C4"/>
                    </a:solidFill>
                  </a:tcPr>
                </a:tc>
                <a:tc>
                  <a:txBody>
                    <a:bodyPr/>
                    <a:lstStyle/>
                    <a:p>
                      <a:pPr algn="ctr"/>
                      <a:r>
                        <a:rPr sz="1100" b="1" i="0">
                          <a:solidFill>
                            <a:srgbClr val="FFFFFF"/>
                          </a:solidFill>
                          <a:latin typeface="Times New Roman"/>
                          <a:cs typeface="Times New Roman"/>
                          <a:ea typeface="Times New Roman"/>
                        </a:rPr>
                        <a:t>@200</a:t>
                      </a:r>
                    </a:p>
                  </a:txBody>
                  <a:tcPr marL="45720" marR="45720" marT="9144" marB="9144" anchor="ctr">
                    <a:solidFill>
                      <a:srgbClr val="4472C4"/>
                    </a:solidFill>
                  </a:tcPr>
                </a:tc>
                <a:tc>
                  <a:txBody>
                    <a:bodyPr/>
                    <a:lstStyle/>
                    <a:p>
                      <a:pPr algn="ctr"/>
                      <a:r>
                        <a:rPr sz="1100" b="1" i="0">
                          <a:solidFill>
                            <a:srgbClr val="FFFFFF"/>
                          </a:solidFill>
                          <a:latin typeface="Times New Roman"/>
                          <a:cs typeface="Times New Roman"/>
                          <a:ea typeface="Times New Roman"/>
                        </a:rPr>
                        <a:t>@50</a:t>
                      </a:r>
                    </a:p>
                  </a:txBody>
                  <a:tcPr marL="45720" marR="45720" marT="9144" marB="9144" anchor="ctr">
                    <a:solidFill>
                      <a:srgbClr val="4472C4"/>
                    </a:solidFill>
                  </a:tcPr>
                </a:tc>
                <a:tc>
                  <a:txBody>
                    <a:bodyPr/>
                    <a:lstStyle/>
                    <a:p>
                      <a:pPr algn="ctr"/>
                      <a:r>
                        <a:rPr sz="1100" b="1" i="0">
                          <a:solidFill>
                            <a:srgbClr val="FFFFFF"/>
                          </a:solidFill>
                          <a:latin typeface="Times New Roman"/>
                          <a:cs typeface="Times New Roman"/>
                          <a:ea typeface="Times New Roman"/>
                        </a:rPr>
                        <a:t>@100</a:t>
                      </a:r>
                    </a:p>
                  </a:txBody>
                  <a:tcPr marL="45720" marR="45720" marT="9144" marB="9144" anchor="ctr">
                    <a:solidFill>
                      <a:srgbClr val="4472C4"/>
                    </a:solidFill>
                  </a:tcPr>
                </a:tc>
                <a:tc>
                  <a:txBody>
                    <a:bodyPr/>
                    <a:lstStyle/>
                    <a:p>
                      <a:pPr algn="ctr"/>
                      <a:r>
                        <a:rPr sz="1100" b="1" i="0">
                          <a:solidFill>
                            <a:srgbClr val="FFFFFF"/>
                          </a:solidFill>
                          <a:latin typeface="Times New Roman"/>
                          <a:cs typeface="Times New Roman"/>
                          <a:ea typeface="Times New Roman"/>
                        </a:rPr>
                        <a:t>@200</a:t>
                      </a:r>
                    </a:p>
                  </a:txBody>
                  <a:tcPr marL="45720" marR="45720" marT="9144" marB="9144" anchor="ctr">
                    <a:lnR w="15875" cap="flat" cmpd="sng" algn="ctr">
                      <a:solidFill>
                        <a:srgbClr val="1F3864"/>
                      </a:solidFill>
                      <a:prstDash val="solid"/>
                    </a:lnR>
                    <a:solidFill>
                      <a:srgbClr val="4472C4"/>
                    </a:solidFill>
                  </a:tcPr>
                </a:tc>
              </a:tr>
              <a:tr h="246888">
                <a:tc>
                  <a:txBody>
                    <a:bodyPr/>
                    <a:lstStyle/>
                    <a:p>
                      <a:pPr algn="l"/>
                      <a:r>
                        <a:rPr sz="1200" b="1" i="0">
                          <a:solidFill>
                            <a:srgbClr val="262626"/>
                          </a:solidFill>
                          <a:latin typeface="Times New Roman"/>
                          <a:cs typeface="Times New Roman"/>
                          <a:ea typeface="Times New Roman"/>
                        </a:rPr>
                        <a:t>Random Search [8]</a:t>
                      </a:r>
                    </a:p>
                  </a:txBody>
                  <a:tcPr marL="45720" marR="45720" marT="9144" marB="9144" anchor="ctr">
                    <a:lnL w="15875" cap="flat" cmpd="sng" algn="ctr">
                      <a:solidFill>
                        <a:srgbClr val="1F3864"/>
                      </a:solidFill>
                      <a:prstDash val="solid"/>
                    </a:lnL>
                    <a:solidFill>
                      <a:srgbClr val="FFFFFF"/>
                    </a:solidFill>
                  </a:tcPr>
                </a:tc>
                <a:tc>
                  <a:txBody>
                    <a:bodyPr/>
                    <a:lstStyle/>
                    <a:p>
                      <a:pPr algn="ctr"/>
                      <a:r>
                        <a:rPr sz="1200" b="0" i="0">
                          <a:solidFill>
                            <a:srgbClr val="262626"/>
                          </a:solidFill>
                          <a:latin typeface="Times New Roman"/>
                          <a:cs typeface="Times New Roman"/>
                          <a:ea typeface="Times New Roman"/>
                        </a:rPr>
                        <a:t>200</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93.62</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93.82</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93.92</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71.06</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71.54</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71.92</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45.15</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45.49</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45.47</a:t>
                      </a:r>
                    </a:p>
                  </a:txBody>
                  <a:tcPr marL="45720" marR="45720" marT="9144" marB="9144" anchor="ctr">
                    <a:lnR w="15875" cap="flat" cmpd="sng" algn="ctr">
                      <a:solidFill>
                        <a:srgbClr val="1F3864"/>
                      </a:solidFill>
                      <a:prstDash val="solid"/>
                    </a:lnR>
                    <a:solidFill>
                      <a:srgbClr val="FFFFFF"/>
                    </a:solidFill>
                  </a:tcPr>
                </a:tc>
              </a:tr>
              <a:tr h="246888">
                <a:tc>
                  <a:txBody>
                    <a:bodyPr/>
                    <a:lstStyle/>
                    <a:p>
                      <a:pPr algn="l"/>
                      <a:r>
                        <a:rPr sz="1200" b="1" i="0">
                          <a:solidFill>
                            <a:srgbClr val="262626"/>
                          </a:solidFill>
                          <a:latin typeface="Times New Roman"/>
                          <a:cs typeface="Times New Roman"/>
                          <a:ea typeface="Times New Roman"/>
                        </a:rPr>
                        <a:t>MCTS-style [17]</a:t>
                      </a:r>
                    </a:p>
                  </a:txBody>
                  <a:tcPr marL="45720" marR="45720" marT="9144" marB="9144" anchor="ctr">
                    <a:lnL w="15875" cap="flat" cmpd="sng" algn="ctr">
                      <a:solidFill>
                        <a:srgbClr val="1F3864"/>
                      </a:solidFill>
                      <a:prstDash val="solid"/>
                    </a:lnL>
                    <a:solidFill>
                      <a:srgbClr val="F4F7FB"/>
                    </a:solidFill>
                  </a:tcPr>
                </a:tc>
                <a:tc>
                  <a:txBody>
                    <a:bodyPr/>
                    <a:lstStyle/>
                    <a:p>
                      <a:pPr algn="ctr"/>
                      <a:r>
                        <a:rPr sz="1200" b="0" i="0">
                          <a:solidFill>
                            <a:srgbClr val="262626"/>
                          </a:solidFill>
                          <a:latin typeface="Times New Roman"/>
                          <a:cs typeface="Times New Roman"/>
                          <a:ea typeface="Times New Roman"/>
                        </a:rPr>
                        <a:t>200</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93.68</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93.89</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93.89</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70.97</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71.62</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71.94</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44.66</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45.14</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45.44</a:t>
                      </a:r>
                    </a:p>
                  </a:txBody>
                  <a:tcPr marL="45720" marR="45720" marT="9144" marB="9144" anchor="ctr">
                    <a:lnR w="15875" cap="flat" cmpd="sng" algn="ctr">
                      <a:solidFill>
                        <a:srgbClr val="1F3864"/>
                      </a:solidFill>
                      <a:prstDash val="solid"/>
                    </a:lnR>
                    <a:solidFill>
                      <a:srgbClr val="F4F7FB"/>
                    </a:solidFill>
                  </a:tcPr>
                </a:tc>
              </a:tr>
              <a:tr h="246888">
                <a:tc>
                  <a:txBody>
                    <a:bodyPr/>
                    <a:lstStyle/>
                    <a:p>
                      <a:pPr algn="l"/>
                      <a:r>
                        <a:rPr sz="1200" b="1" i="0">
                          <a:solidFill>
                            <a:srgbClr val="262626"/>
                          </a:solidFill>
                          <a:latin typeface="Times New Roman"/>
                          <a:cs typeface="Times New Roman"/>
                          <a:ea typeface="Times New Roman"/>
                        </a:rPr>
                        <a:t>ENAS-style [30]</a:t>
                      </a:r>
                    </a:p>
                  </a:txBody>
                  <a:tcPr marL="45720" marR="45720" marT="9144" marB="9144" anchor="ctr">
                    <a:lnL w="15875" cap="flat" cmpd="sng" algn="ctr">
                      <a:solidFill>
                        <a:srgbClr val="1F3864"/>
                      </a:solidFill>
                      <a:prstDash val="solid"/>
                    </a:lnL>
                    <a:solidFill>
                      <a:srgbClr val="FFFFFF"/>
                    </a:solidFill>
                  </a:tcPr>
                </a:tc>
                <a:tc>
                  <a:txBody>
                    <a:bodyPr/>
                    <a:lstStyle/>
                    <a:p>
                      <a:pPr algn="ctr"/>
                      <a:r>
                        <a:rPr sz="1200" b="0" i="0">
                          <a:solidFill>
                            <a:srgbClr val="262626"/>
                          </a:solidFill>
                          <a:latin typeface="Times New Roman"/>
                          <a:cs typeface="Times New Roman"/>
                          <a:ea typeface="Times New Roman"/>
                        </a:rPr>
                        <a:t>200</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93.68</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93.74</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94.09</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71.58</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71.79</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72.59</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45.84</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46.04</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46.16</a:t>
                      </a:r>
                    </a:p>
                  </a:txBody>
                  <a:tcPr marL="45720" marR="45720" marT="9144" marB="9144" anchor="ctr">
                    <a:lnR w="15875" cap="flat" cmpd="sng" algn="ctr">
                      <a:solidFill>
                        <a:srgbClr val="1F3864"/>
                      </a:solidFill>
                      <a:prstDash val="solid"/>
                    </a:lnR>
                    <a:solidFill>
                      <a:srgbClr val="FFFFFF"/>
                    </a:solidFill>
                  </a:tcPr>
                </a:tc>
              </a:tr>
              <a:tr h="246888">
                <a:tc>
                  <a:txBody>
                    <a:bodyPr/>
                    <a:lstStyle/>
                    <a:p>
                      <a:pPr algn="l"/>
                      <a:r>
                        <a:rPr sz="1200" b="1" i="0">
                          <a:solidFill>
                            <a:srgbClr val="262626"/>
                          </a:solidFill>
                          <a:latin typeface="Times New Roman"/>
                          <a:cs typeface="Times New Roman"/>
                          <a:ea typeface="Times New Roman"/>
                        </a:rPr>
                        <a:t>LLM-NAS [12]</a:t>
                      </a:r>
                    </a:p>
                  </a:txBody>
                  <a:tcPr marL="45720" marR="45720" marT="9144" marB="9144" anchor="ctr">
                    <a:lnL w="15875" cap="flat" cmpd="sng" algn="ctr">
                      <a:solidFill>
                        <a:srgbClr val="1F3864"/>
                      </a:solidFill>
                      <a:prstDash val="solid"/>
                    </a:lnL>
                    <a:solidFill>
                      <a:srgbClr val="F4F7FB"/>
                    </a:solidFill>
                  </a:tcPr>
                </a:tc>
                <a:tc>
                  <a:txBody>
                    <a:bodyPr/>
                    <a:lstStyle/>
                    <a:p>
                      <a:pPr algn="ctr"/>
                      <a:r>
                        <a:rPr sz="1200" b="0" i="0">
                          <a:solidFill>
                            <a:srgbClr val="262626"/>
                          </a:solidFill>
                          <a:latin typeface="Times New Roman"/>
                          <a:cs typeface="Times New Roman"/>
                          <a:ea typeface="Times New Roman"/>
                        </a:rPr>
                        <a:t>200</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93.99</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94.04</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94.28</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71.39</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71.96</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72.14</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45.35</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45.29</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45.37</a:t>
                      </a:r>
                    </a:p>
                  </a:txBody>
                  <a:tcPr marL="45720" marR="45720" marT="9144" marB="9144" anchor="ctr">
                    <a:lnR w="15875" cap="flat" cmpd="sng" algn="ctr">
                      <a:solidFill>
                        <a:srgbClr val="1F3864"/>
                      </a:solidFill>
                      <a:prstDash val="solid"/>
                    </a:lnR>
                    <a:solidFill>
                      <a:srgbClr val="F4F7FB"/>
                    </a:solidFill>
                  </a:tcPr>
                </a:tc>
              </a:tr>
              <a:tr h="246888">
                <a:tc>
                  <a:txBody>
                    <a:bodyPr/>
                    <a:lstStyle/>
                    <a:p>
                      <a:pPr algn="l"/>
                      <a:r>
                        <a:rPr sz="1200" b="1" i="0">
                          <a:solidFill>
                            <a:srgbClr val="262626"/>
                          </a:solidFill>
                          <a:latin typeface="Times New Roman"/>
                          <a:cs typeface="Times New Roman"/>
                          <a:ea typeface="Times New Roman"/>
                        </a:rPr>
                        <a:t>ZiCo-style [31]</a:t>
                      </a:r>
                    </a:p>
                  </a:txBody>
                  <a:tcPr marL="45720" marR="45720" marT="9144" marB="9144" anchor="ctr">
                    <a:lnL w="15875" cap="flat" cmpd="sng" algn="ctr">
                      <a:solidFill>
                        <a:srgbClr val="1F3864"/>
                      </a:solidFill>
                      <a:prstDash val="solid"/>
                    </a:lnL>
                    <a:solidFill>
                      <a:srgbClr val="FFFFFF"/>
                    </a:solidFill>
                  </a:tcPr>
                </a:tc>
                <a:tc>
                  <a:txBody>
                    <a:bodyPr/>
                    <a:lstStyle/>
                    <a:p>
                      <a:pPr algn="ctr"/>
                      <a:r>
                        <a:rPr sz="1200" b="0" i="0">
                          <a:solidFill>
                            <a:srgbClr val="262626"/>
                          </a:solidFill>
                          <a:latin typeface="Times New Roman"/>
                          <a:cs typeface="Times New Roman"/>
                          <a:ea typeface="Times New Roman"/>
                        </a:rPr>
                        <a:t>200 + P</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94.08</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94.17</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94.29</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72.33</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72.68</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72.97</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46.11</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46.22</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46.28</a:t>
                      </a:r>
                    </a:p>
                  </a:txBody>
                  <a:tcPr marL="45720" marR="45720" marT="9144" marB="9144" anchor="ctr">
                    <a:lnR w="15875" cap="flat" cmpd="sng" algn="ctr">
                      <a:solidFill>
                        <a:srgbClr val="1F3864"/>
                      </a:solidFill>
                      <a:prstDash val="solid"/>
                    </a:lnR>
                    <a:solidFill>
                      <a:srgbClr val="FFFFFF"/>
                    </a:solidFill>
                  </a:tcPr>
                </a:tc>
              </a:tr>
              <a:tr h="246888">
                <a:tc>
                  <a:txBody>
                    <a:bodyPr/>
                    <a:lstStyle/>
                    <a:p>
                      <a:pPr algn="l"/>
                      <a:r>
                        <a:rPr sz="1200" b="1" i="0">
                          <a:solidFill>
                            <a:srgbClr val="262626"/>
                          </a:solidFill>
                          <a:latin typeface="Times New Roman"/>
                          <a:cs typeface="Times New Roman"/>
                          <a:ea typeface="Times New Roman"/>
                        </a:rPr>
                        <a:t>RZ-style ZC walk</a:t>
                      </a:r>
                    </a:p>
                  </a:txBody>
                  <a:tcPr marL="45720" marR="45720" marT="9144" marB="9144" anchor="ctr">
                    <a:lnL w="15875" cap="flat" cmpd="sng" algn="ctr">
                      <a:solidFill>
                        <a:srgbClr val="1F3864"/>
                      </a:solidFill>
                      <a:prstDash val="solid"/>
                    </a:lnL>
                    <a:solidFill>
                      <a:srgbClr val="F4F7FB"/>
                    </a:solidFill>
                  </a:tcPr>
                </a:tc>
                <a:tc>
                  <a:txBody>
                    <a:bodyPr/>
                    <a:lstStyle/>
                    <a:p>
                      <a:pPr algn="ctr"/>
                      <a:r>
                        <a:rPr sz="1200" b="0" i="0">
                          <a:solidFill>
                            <a:srgbClr val="262626"/>
                          </a:solidFill>
                          <a:latin typeface="Times New Roman"/>
                          <a:cs typeface="Times New Roman"/>
                          <a:ea typeface="Times New Roman"/>
                        </a:rPr>
                        <a:t>200 + P</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94.06</a:t>
                      </a:r>
                    </a:p>
                  </a:txBody>
                  <a:tcPr marL="45720" marR="45720" marT="9144" marB="9144" anchor="ctr">
                    <a:solidFill>
                      <a:srgbClr val="F4F7FB"/>
                    </a:solidFill>
                  </a:tcPr>
                </a:tc>
                <a:tc>
                  <a:txBody>
                    <a:bodyPr/>
                    <a:lstStyle/>
                    <a:p>
                      <a:pPr algn="ctr"/>
                      <a:r>
                        <a:rPr sz="1200" b="1" i="0">
                          <a:solidFill>
                            <a:srgbClr val="2E7D32"/>
                          </a:solidFill>
                          <a:latin typeface="Times New Roman"/>
                          <a:cs typeface="Times New Roman"/>
                          <a:ea typeface="Times New Roman"/>
                        </a:rPr>
                        <a:t>94.28</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94.33</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72.17</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73.20</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73.39</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46.06</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46.22</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46.32</a:t>
                      </a:r>
                    </a:p>
                  </a:txBody>
                  <a:tcPr marL="45720" marR="45720" marT="9144" marB="9144" anchor="ctr">
                    <a:lnR w="15875" cap="flat" cmpd="sng" algn="ctr">
                      <a:solidFill>
                        <a:srgbClr val="1F3864"/>
                      </a:solidFill>
                      <a:prstDash val="solid"/>
                    </a:lnR>
                    <a:solidFill>
                      <a:srgbClr val="F4F7FB"/>
                    </a:solidFill>
                  </a:tcPr>
                </a:tc>
              </a:tr>
              <a:tr h="246888">
                <a:tc>
                  <a:txBody>
                    <a:bodyPr/>
                    <a:lstStyle/>
                    <a:p>
                      <a:pPr algn="l"/>
                      <a:r>
                        <a:rPr sz="1200" b="1" i="0">
                          <a:solidFill>
                            <a:srgbClr val="262626"/>
                          </a:solidFill>
                          <a:latin typeface="Times New Roman"/>
                          <a:cs typeface="Times New Roman"/>
                          <a:ea typeface="Times New Roman"/>
                        </a:rPr>
                        <a:t>Regularized Evolution [28]</a:t>
                      </a:r>
                    </a:p>
                  </a:txBody>
                  <a:tcPr marL="45720" marR="45720" marT="9144" marB="9144" anchor="ctr">
                    <a:lnL w="15875" cap="flat" cmpd="sng" algn="ctr">
                      <a:solidFill>
                        <a:srgbClr val="1F3864"/>
                      </a:solidFill>
                      <a:prstDash val="solid"/>
                    </a:lnL>
                    <a:solidFill>
                      <a:srgbClr val="FFFFFF"/>
                    </a:solidFill>
                  </a:tcPr>
                </a:tc>
                <a:tc>
                  <a:txBody>
                    <a:bodyPr/>
                    <a:lstStyle/>
                    <a:p>
                      <a:pPr algn="ctr"/>
                      <a:r>
                        <a:rPr sz="1200" b="0" i="0">
                          <a:solidFill>
                            <a:srgbClr val="262626"/>
                          </a:solidFill>
                          <a:latin typeface="Times New Roman"/>
                          <a:cs typeface="Times New Roman"/>
                          <a:ea typeface="Times New Roman"/>
                        </a:rPr>
                        <a:t>200</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93.94</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94.17</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94.31</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71.61</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72.96</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73.37</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45.67</a:t>
                      </a:r>
                    </a:p>
                  </a:txBody>
                  <a:tcPr marL="45720" marR="45720" marT="9144" marB="9144" anchor="ctr">
                    <a:solidFill>
                      <a:srgbClr val="FFFFFF"/>
                    </a:solidFill>
                  </a:tcPr>
                </a:tc>
                <a:tc>
                  <a:txBody>
                    <a:bodyPr/>
                    <a:lstStyle/>
                    <a:p>
                      <a:pPr algn="ctr"/>
                      <a:r>
                        <a:rPr sz="1200" b="1" i="0">
                          <a:solidFill>
                            <a:srgbClr val="2E7D32"/>
                          </a:solidFill>
                          <a:latin typeface="Times New Roman"/>
                          <a:cs typeface="Times New Roman"/>
                          <a:ea typeface="Times New Roman"/>
                        </a:rPr>
                        <a:t>46.51</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46.48</a:t>
                      </a:r>
                    </a:p>
                  </a:txBody>
                  <a:tcPr marL="45720" marR="45720" marT="9144" marB="9144" anchor="ctr">
                    <a:lnR w="15875" cap="flat" cmpd="sng" algn="ctr">
                      <a:solidFill>
                        <a:srgbClr val="1F3864"/>
                      </a:solidFill>
                      <a:prstDash val="solid"/>
                    </a:lnR>
                    <a:solidFill>
                      <a:srgbClr val="FFFFFF"/>
                    </a:solidFill>
                  </a:tcPr>
                </a:tc>
              </a:tr>
              <a:tr h="246888">
                <a:tc>
                  <a:txBody>
                    <a:bodyPr/>
                    <a:lstStyle/>
                    <a:p>
                      <a:pPr algn="l"/>
                      <a:r>
                        <a:rPr sz="1200" b="1" i="0">
                          <a:solidFill>
                            <a:srgbClr val="262626"/>
                          </a:solidFill>
                          <a:latin typeface="Times New Roman"/>
                          <a:cs typeface="Times New Roman"/>
                          <a:ea typeface="Times New Roman"/>
                        </a:rPr>
                        <a:t>RE + ZC warm-up [6]</a:t>
                      </a:r>
                    </a:p>
                  </a:txBody>
                  <a:tcPr marL="45720" marR="45720" marT="9144" marB="9144" anchor="ctr">
                    <a:lnL w="15875" cap="flat" cmpd="sng" algn="ctr">
                      <a:solidFill>
                        <a:srgbClr val="1F3864"/>
                      </a:solidFill>
                      <a:prstDash val="solid"/>
                    </a:lnL>
                    <a:solidFill>
                      <a:srgbClr val="F4F7FB"/>
                    </a:solidFill>
                  </a:tcPr>
                </a:tc>
                <a:tc>
                  <a:txBody>
                    <a:bodyPr/>
                    <a:lstStyle/>
                    <a:p>
                      <a:pPr algn="ctr"/>
                      <a:r>
                        <a:rPr sz="1200" b="0" i="0">
                          <a:solidFill>
                            <a:srgbClr val="262626"/>
                          </a:solidFill>
                          <a:latin typeface="Times New Roman"/>
                          <a:cs typeface="Times New Roman"/>
                          <a:ea typeface="Times New Roman"/>
                        </a:rPr>
                        <a:t>200 + P</a:t>
                      </a:r>
                    </a:p>
                  </a:txBody>
                  <a:tcPr marL="45720" marR="45720" marT="9144" marB="9144" anchor="ctr">
                    <a:solidFill>
                      <a:srgbClr val="F4F7FB"/>
                    </a:solidFill>
                  </a:tcPr>
                </a:tc>
                <a:tc>
                  <a:txBody>
                    <a:bodyPr/>
                    <a:lstStyle/>
                    <a:p>
                      <a:pPr algn="ctr"/>
                      <a:r>
                        <a:rPr sz="1200" b="1" i="0">
                          <a:solidFill>
                            <a:srgbClr val="2E7D32"/>
                          </a:solidFill>
                          <a:latin typeface="Times New Roman"/>
                          <a:cs typeface="Times New Roman"/>
                          <a:ea typeface="Times New Roman"/>
                        </a:rPr>
                        <a:t>94.26</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94.22</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94.28</a:t>
                      </a:r>
                    </a:p>
                  </a:txBody>
                  <a:tcPr marL="45720" marR="45720" marT="9144" marB="9144" anchor="ctr">
                    <a:solidFill>
                      <a:srgbClr val="F4F7FB"/>
                    </a:solidFill>
                  </a:tcPr>
                </a:tc>
                <a:tc>
                  <a:txBody>
                    <a:bodyPr/>
                    <a:lstStyle/>
                    <a:p>
                      <a:pPr algn="ctr"/>
                      <a:r>
                        <a:rPr sz="1200" b="1" i="0">
                          <a:solidFill>
                            <a:srgbClr val="2E7D32"/>
                          </a:solidFill>
                          <a:latin typeface="Times New Roman"/>
                          <a:cs typeface="Times New Roman"/>
                          <a:ea typeface="Times New Roman"/>
                        </a:rPr>
                        <a:t>72.92</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73.13</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73.36</a:t>
                      </a:r>
                    </a:p>
                  </a:txBody>
                  <a:tcPr marL="45720" marR="45720" marT="9144" marB="9144" anchor="ctr">
                    <a:solidFill>
                      <a:srgbClr val="F4F7FB"/>
                    </a:solidFill>
                  </a:tcPr>
                </a:tc>
                <a:tc>
                  <a:txBody>
                    <a:bodyPr/>
                    <a:lstStyle/>
                    <a:p>
                      <a:pPr algn="ctr"/>
                      <a:r>
                        <a:rPr sz="1200" b="1" i="0">
                          <a:solidFill>
                            <a:srgbClr val="2E7D32"/>
                          </a:solidFill>
                          <a:latin typeface="Times New Roman"/>
                          <a:cs typeface="Times New Roman"/>
                          <a:ea typeface="Times New Roman"/>
                        </a:rPr>
                        <a:t>46.31</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46.14</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46.34</a:t>
                      </a:r>
                    </a:p>
                  </a:txBody>
                  <a:tcPr marL="45720" marR="45720" marT="9144" marB="9144" anchor="ctr">
                    <a:lnR w="15875" cap="flat" cmpd="sng" algn="ctr">
                      <a:solidFill>
                        <a:srgbClr val="1F3864"/>
                      </a:solidFill>
                      <a:prstDash val="solid"/>
                    </a:lnR>
                    <a:solidFill>
                      <a:srgbClr val="F4F7FB"/>
                    </a:solidFill>
                  </a:tcPr>
                </a:tc>
              </a:tr>
              <a:tr h="246888">
                <a:tc>
                  <a:txBody>
                    <a:bodyPr/>
                    <a:lstStyle/>
                    <a:p>
                      <a:pPr algn="l"/>
                      <a:r>
                        <a:rPr sz="1200" b="1" i="0">
                          <a:solidFill>
                            <a:srgbClr val="262626"/>
                          </a:solidFill>
                          <a:latin typeface="Times New Roman"/>
                          <a:cs typeface="Times New Roman"/>
                          <a:ea typeface="Times New Roman"/>
                        </a:rPr>
                        <a:t>Local Search [29]</a:t>
                      </a:r>
                    </a:p>
                  </a:txBody>
                  <a:tcPr marL="45720" marR="45720" marT="9144" marB="9144" anchor="ctr">
                    <a:lnL w="15875" cap="flat" cmpd="sng" algn="ctr">
                      <a:solidFill>
                        <a:srgbClr val="1F3864"/>
                      </a:solidFill>
                      <a:prstDash val="solid"/>
                    </a:lnL>
                    <a:solidFill>
                      <a:srgbClr val="FFFFFF"/>
                    </a:solidFill>
                  </a:tcPr>
                </a:tc>
                <a:tc>
                  <a:txBody>
                    <a:bodyPr/>
                    <a:lstStyle/>
                    <a:p>
                      <a:pPr algn="ctr"/>
                      <a:r>
                        <a:rPr sz="1200" b="0" i="0">
                          <a:solidFill>
                            <a:srgbClr val="262626"/>
                          </a:solidFill>
                          <a:latin typeface="Times New Roman"/>
                          <a:cs typeface="Times New Roman"/>
                          <a:ea typeface="Times New Roman"/>
                        </a:rPr>
                        <a:t>200</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93.97</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94.27</a:t>
                      </a:r>
                    </a:p>
                  </a:txBody>
                  <a:tcPr marL="45720" marR="45720" marT="9144" marB="9144" anchor="ctr">
                    <a:solidFill>
                      <a:srgbClr val="FFFFFF"/>
                    </a:solidFill>
                  </a:tcPr>
                </a:tc>
                <a:tc>
                  <a:txBody>
                    <a:bodyPr/>
                    <a:lstStyle/>
                    <a:p>
                      <a:pPr algn="ctr"/>
                      <a:r>
                        <a:rPr sz="1200" b="1" i="0">
                          <a:solidFill>
                            <a:srgbClr val="2E7D32"/>
                          </a:solidFill>
                          <a:latin typeface="Times New Roman"/>
                          <a:cs typeface="Times New Roman"/>
                          <a:ea typeface="Times New Roman"/>
                        </a:rPr>
                        <a:t>94.37</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72.63</a:t>
                      </a:r>
                    </a:p>
                  </a:txBody>
                  <a:tcPr marL="45720" marR="45720" marT="9144" marB="9144" anchor="ctr">
                    <a:solidFill>
                      <a:srgbClr val="FFFFFF"/>
                    </a:solidFill>
                  </a:tcPr>
                </a:tc>
                <a:tc>
                  <a:txBody>
                    <a:bodyPr/>
                    <a:lstStyle/>
                    <a:p>
                      <a:pPr algn="ctr"/>
                      <a:r>
                        <a:rPr sz="1200" b="1" i="0">
                          <a:solidFill>
                            <a:srgbClr val="2E7D32"/>
                          </a:solidFill>
                          <a:latin typeface="Times New Roman"/>
                          <a:cs typeface="Times New Roman"/>
                          <a:ea typeface="Times New Roman"/>
                        </a:rPr>
                        <a:t>73.36</a:t>
                      </a:r>
                    </a:p>
                  </a:txBody>
                  <a:tcPr marL="45720" marR="45720" marT="9144" marB="9144" anchor="ctr">
                    <a:solidFill>
                      <a:srgbClr val="FFFFFF"/>
                    </a:solidFill>
                  </a:tcPr>
                </a:tc>
                <a:tc>
                  <a:txBody>
                    <a:bodyPr/>
                    <a:lstStyle/>
                    <a:p>
                      <a:pPr algn="ctr"/>
                      <a:r>
                        <a:rPr sz="1200" b="1" i="0">
                          <a:solidFill>
                            <a:srgbClr val="2E7D32"/>
                          </a:solidFill>
                          <a:latin typeface="Times New Roman"/>
                          <a:cs typeface="Times New Roman"/>
                          <a:ea typeface="Times New Roman"/>
                        </a:rPr>
                        <a:t>73.51</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46.05</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46.11</a:t>
                      </a:r>
                    </a:p>
                  </a:txBody>
                  <a:tcPr marL="45720" marR="45720" marT="9144" marB="9144" anchor="ctr">
                    <a:solidFill>
                      <a:srgbClr val="FFFFFF"/>
                    </a:solidFill>
                  </a:tcPr>
                </a:tc>
                <a:tc>
                  <a:txBody>
                    <a:bodyPr/>
                    <a:lstStyle/>
                    <a:p>
                      <a:pPr algn="ctr"/>
                      <a:r>
                        <a:rPr sz="1200" b="1" i="0">
                          <a:solidFill>
                            <a:srgbClr val="2E7D32"/>
                          </a:solidFill>
                          <a:latin typeface="Times New Roman"/>
                          <a:cs typeface="Times New Roman"/>
                          <a:ea typeface="Times New Roman"/>
                        </a:rPr>
                        <a:t>46.52</a:t>
                      </a:r>
                    </a:p>
                  </a:txBody>
                  <a:tcPr marL="45720" marR="45720" marT="9144" marB="9144" anchor="ctr">
                    <a:lnR w="15875" cap="flat" cmpd="sng" algn="ctr">
                      <a:solidFill>
                        <a:srgbClr val="1F3864"/>
                      </a:solidFill>
                      <a:prstDash val="solid"/>
                    </a:lnR>
                    <a:solidFill>
                      <a:srgbClr val="FFFFFF"/>
                    </a:solidFill>
                  </a:tcPr>
                </a:tc>
              </a:tr>
              <a:tr h="246888">
                <a:tc>
                  <a:txBody>
                    <a:bodyPr/>
                    <a:lstStyle/>
                    <a:p>
                      <a:pPr algn="l"/>
                      <a:r>
                        <a:rPr sz="1200" b="1" i="0">
                          <a:solidFill>
                            <a:srgbClr val="262626"/>
                          </a:solidFill>
                          <a:latin typeface="Times New Roman"/>
                          <a:cs typeface="Times New Roman"/>
                          <a:ea typeface="Times New Roman"/>
                        </a:rPr>
                        <a:t>ArchTree v1 (no proxy)</a:t>
                      </a:r>
                    </a:p>
                  </a:txBody>
                  <a:tcPr marL="45720" marR="45720" marT="9144" marB="9144" anchor="ctr">
                    <a:lnL w="15875" cap="flat" cmpd="sng" algn="ctr">
                      <a:solidFill>
                        <a:srgbClr val="1F3864"/>
                      </a:solidFill>
                      <a:prstDash val="solid"/>
                    </a:lnL>
                    <a:solidFill>
                      <a:srgbClr val="F4F7FB"/>
                    </a:solidFill>
                  </a:tcPr>
                </a:tc>
                <a:tc>
                  <a:txBody>
                    <a:bodyPr/>
                    <a:lstStyle/>
                    <a:p>
                      <a:pPr algn="ctr"/>
                      <a:r>
                        <a:rPr sz="1200" b="0" i="0">
                          <a:solidFill>
                            <a:srgbClr val="262626"/>
                          </a:solidFill>
                          <a:latin typeface="Times New Roman"/>
                          <a:cs typeface="Times New Roman"/>
                          <a:ea typeface="Times New Roman"/>
                        </a:rPr>
                        <a:t>200</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93.99</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94.09</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94.11</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72.06</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72.50</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73.12</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45.70</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46.11</a:t>
                      </a:r>
                    </a:p>
                  </a:txBody>
                  <a:tcPr marL="45720" marR="45720" marT="9144" marB="9144" anchor="ctr">
                    <a:solidFill>
                      <a:srgbClr val="F4F7FB"/>
                    </a:solidFill>
                  </a:tcPr>
                </a:tc>
                <a:tc>
                  <a:txBody>
                    <a:bodyPr/>
                    <a:lstStyle/>
                    <a:p>
                      <a:pPr algn="ctr"/>
                      <a:r>
                        <a:rPr sz="1200" b="0" i="0">
                          <a:solidFill>
                            <a:srgbClr val="262626"/>
                          </a:solidFill>
                          <a:latin typeface="Times New Roman"/>
                          <a:cs typeface="Times New Roman"/>
                          <a:ea typeface="Times New Roman"/>
                        </a:rPr>
                        <a:t>46.25</a:t>
                      </a:r>
                    </a:p>
                  </a:txBody>
                  <a:tcPr marL="45720" marR="45720" marT="9144" marB="9144" anchor="ctr">
                    <a:lnR w="15875" cap="flat" cmpd="sng" algn="ctr">
                      <a:solidFill>
                        <a:srgbClr val="1F3864"/>
                      </a:solidFill>
                      <a:prstDash val="solid"/>
                    </a:lnR>
                    <a:solidFill>
                      <a:srgbClr val="F4F7FB"/>
                    </a:solidFill>
                  </a:tcPr>
                </a:tc>
              </a:tr>
              <a:tr h="246888">
                <a:tc>
                  <a:txBody>
                    <a:bodyPr/>
                    <a:lstStyle/>
                    <a:p>
                      <a:pPr algn="l"/>
                      <a:r>
                        <a:rPr sz="1200" b="1" i="0">
                          <a:solidFill>
                            <a:srgbClr val="262626"/>
                          </a:solidFill>
                          <a:latin typeface="Times New Roman"/>
                          <a:cs typeface="Times New Roman"/>
                          <a:ea typeface="Times New Roman"/>
                        </a:rPr>
                        <a:t>ArchTree (ZC only)</a:t>
                      </a:r>
                    </a:p>
                  </a:txBody>
                  <a:tcPr marL="45720" marR="45720" marT="9144" marB="9144" anchor="ctr">
                    <a:lnL w="15875" cap="flat" cmpd="sng" algn="ctr">
                      <a:solidFill>
                        <a:srgbClr val="1F3864"/>
                      </a:solidFill>
                      <a:prstDash val="solid"/>
                    </a:lnL>
                    <a:solidFill>
                      <a:srgbClr val="FFFFFF"/>
                    </a:solidFill>
                  </a:tcPr>
                </a:tc>
                <a:tc>
                  <a:txBody>
                    <a:bodyPr/>
                    <a:lstStyle/>
                    <a:p>
                      <a:pPr algn="ctr"/>
                      <a:r>
                        <a:rPr sz="1200" b="0" i="0">
                          <a:solidFill>
                            <a:srgbClr val="262626"/>
                          </a:solidFill>
                          <a:latin typeface="Times New Roman"/>
                          <a:cs typeface="Times New Roman"/>
                          <a:ea typeface="Times New Roman"/>
                        </a:rPr>
                        <a:t>200</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93.98</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94.15</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94.17</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71.46</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72.26</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72.45</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45.72</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45.81</a:t>
                      </a:r>
                    </a:p>
                  </a:txBody>
                  <a:tcPr marL="45720" marR="45720" marT="9144" marB="9144" anchor="ctr">
                    <a:solidFill>
                      <a:srgbClr val="FFFFFF"/>
                    </a:solidFill>
                  </a:tcPr>
                </a:tc>
                <a:tc>
                  <a:txBody>
                    <a:bodyPr/>
                    <a:lstStyle/>
                    <a:p>
                      <a:pPr algn="ctr"/>
                      <a:r>
                        <a:rPr sz="1200" b="0" i="0">
                          <a:solidFill>
                            <a:srgbClr val="262626"/>
                          </a:solidFill>
                          <a:latin typeface="Times New Roman"/>
                          <a:cs typeface="Times New Roman"/>
                          <a:ea typeface="Times New Roman"/>
                        </a:rPr>
                        <a:t>46.39</a:t>
                      </a:r>
                    </a:p>
                  </a:txBody>
                  <a:tcPr marL="45720" marR="45720" marT="9144" marB="9144" anchor="ctr">
                    <a:lnR w="15875" cap="flat" cmpd="sng" algn="ctr">
                      <a:solidFill>
                        <a:srgbClr val="1F3864"/>
                      </a:solidFill>
                      <a:prstDash val="solid"/>
                    </a:lnR>
                    <a:solidFill>
                      <a:srgbClr val="FFFFFF"/>
                    </a:solidFill>
                  </a:tcPr>
                </a:tc>
              </a:tr>
              <a:tr h="246888">
                <a:tc>
                  <a:txBody>
                    <a:bodyPr/>
                    <a:lstStyle/>
                    <a:p>
                      <a:pPr algn="l"/>
                      <a:r>
                        <a:rPr sz="1200" b="1" i="0">
                          <a:solidFill>
                            <a:srgbClr val="C00000"/>
                          </a:solidFill>
                          <a:latin typeface="Times New Roman"/>
                          <a:cs typeface="Times New Roman"/>
                          <a:ea typeface="Times New Roman"/>
                        </a:rPr>
                        <a:t>ArchTree-LLM v2 (flagship)</a:t>
                      </a:r>
                    </a:p>
                  </a:txBody>
                  <a:tcPr marL="45720" marR="45720" marT="9144" marB="9144" anchor="ctr">
                    <a:lnL w="15875" cap="flat" cmpd="sng" algn="ctr">
                      <a:solidFill>
                        <a:srgbClr val="1F3864"/>
                      </a:solidFill>
                      <a:prstDash val="solid"/>
                    </a:lnL>
                    <a:solidFill>
                      <a:srgbClr val="FBE9E9"/>
                    </a:solidFill>
                  </a:tcPr>
                </a:tc>
                <a:tc>
                  <a:txBody>
                    <a:bodyPr/>
                    <a:lstStyle/>
                    <a:p>
                      <a:pPr algn="ctr"/>
                      <a:r>
                        <a:rPr sz="1200" b="1" i="0">
                          <a:solidFill>
                            <a:srgbClr val="C00000"/>
                          </a:solidFill>
                          <a:latin typeface="Times New Roman"/>
                          <a:cs typeface="Times New Roman"/>
                          <a:ea typeface="Times New Roman"/>
                        </a:rPr>
                        <a:t>~82</a:t>
                      </a:r>
                    </a:p>
                  </a:txBody>
                  <a:tcPr marL="45720" marR="45720" marT="9144" marB="9144" anchor="ctr">
                    <a:solidFill>
                      <a:srgbClr val="FBE9E9"/>
                    </a:solidFill>
                  </a:tcPr>
                </a:tc>
                <a:tc>
                  <a:txBody>
                    <a:bodyPr/>
                    <a:lstStyle/>
                    <a:p>
                      <a:pPr algn="ctr"/>
                      <a:r>
                        <a:rPr sz="1200" b="1" i="0">
                          <a:solidFill>
                            <a:srgbClr val="C00000"/>
                          </a:solidFill>
                          <a:latin typeface="Times New Roman"/>
                          <a:cs typeface="Times New Roman"/>
                          <a:ea typeface="Times New Roman"/>
                        </a:rPr>
                        <a:t>94.04</a:t>
                      </a:r>
                    </a:p>
                  </a:txBody>
                  <a:tcPr marL="45720" marR="45720" marT="9144" marB="9144" anchor="ctr">
                    <a:solidFill>
                      <a:srgbClr val="FBE9E9"/>
                    </a:solidFill>
                  </a:tcPr>
                </a:tc>
                <a:tc>
                  <a:txBody>
                    <a:bodyPr/>
                    <a:lstStyle/>
                    <a:p>
                      <a:pPr algn="ctr"/>
                      <a:r>
                        <a:rPr sz="1200" b="1" i="0">
                          <a:solidFill>
                            <a:srgbClr val="C00000"/>
                          </a:solidFill>
                          <a:latin typeface="Times New Roman"/>
                          <a:cs typeface="Times New Roman"/>
                          <a:ea typeface="Times New Roman"/>
                        </a:rPr>
                        <a:t>94.19</a:t>
                      </a:r>
                    </a:p>
                  </a:txBody>
                  <a:tcPr marL="45720" marR="45720" marT="9144" marB="9144" anchor="ctr">
                    <a:solidFill>
                      <a:srgbClr val="FBE9E9"/>
                    </a:solidFill>
                  </a:tcPr>
                </a:tc>
                <a:tc>
                  <a:txBody>
                    <a:bodyPr/>
                    <a:lstStyle/>
                    <a:p>
                      <a:pPr algn="ctr"/>
                      <a:r>
                        <a:rPr sz="1200" b="1" i="0">
                          <a:solidFill>
                            <a:srgbClr val="C00000"/>
                          </a:solidFill>
                          <a:latin typeface="Times New Roman"/>
                          <a:cs typeface="Times New Roman"/>
                          <a:ea typeface="Times New Roman"/>
                        </a:rPr>
                        <a:t>94.28</a:t>
                      </a:r>
                    </a:p>
                  </a:txBody>
                  <a:tcPr marL="45720" marR="45720" marT="9144" marB="9144" anchor="ctr">
                    <a:solidFill>
                      <a:srgbClr val="FBE9E9"/>
                    </a:solidFill>
                  </a:tcPr>
                </a:tc>
                <a:tc>
                  <a:txBody>
                    <a:bodyPr/>
                    <a:lstStyle/>
                    <a:p>
                      <a:pPr algn="ctr"/>
                      <a:r>
                        <a:rPr sz="1200" b="1" i="0">
                          <a:solidFill>
                            <a:srgbClr val="C00000"/>
                          </a:solidFill>
                          <a:latin typeface="Times New Roman"/>
                          <a:cs typeface="Times New Roman"/>
                          <a:ea typeface="Times New Roman"/>
                        </a:rPr>
                        <a:t>72.19</a:t>
                      </a:r>
                    </a:p>
                  </a:txBody>
                  <a:tcPr marL="45720" marR="45720" marT="9144" marB="9144" anchor="ctr">
                    <a:solidFill>
                      <a:srgbClr val="FBE9E9"/>
                    </a:solidFill>
                  </a:tcPr>
                </a:tc>
                <a:tc>
                  <a:txBody>
                    <a:bodyPr/>
                    <a:lstStyle/>
                    <a:p>
                      <a:pPr algn="ctr"/>
                      <a:r>
                        <a:rPr sz="1200" b="1" i="0">
                          <a:solidFill>
                            <a:srgbClr val="C00000"/>
                          </a:solidFill>
                          <a:latin typeface="Times New Roman"/>
                          <a:cs typeface="Times New Roman"/>
                          <a:ea typeface="Times New Roman"/>
                        </a:rPr>
                        <a:t>73.02</a:t>
                      </a:r>
                    </a:p>
                  </a:txBody>
                  <a:tcPr marL="45720" marR="45720" marT="9144" marB="9144" anchor="ctr">
                    <a:solidFill>
                      <a:srgbClr val="FBE9E9"/>
                    </a:solidFill>
                  </a:tcPr>
                </a:tc>
                <a:tc>
                  <a:txBody>
                    <a:bodyPr/>
                    <a:lstStyle/>
                    <a:p>
                      <a:pPr algn="ctr"/>
                      <a:r>
                        <a:rPr sz="1200" b="1" i="0">
                          <a:solidFill>
                            <a:srgbClr val="C00000"/>
                          </a:solidFill>
                          <a:latin typeface="Times New Roman"/>
                          <a:cs typeface="Times New Roman"/>
                          <a:ea typeface="Times New Roman"/>
                        </a:rPr>
                        <a:t>73.40</a:t>
                      </a:r>
                    </a:p>
                  </a:txBody>
                  <a:tcPr marL="45720" marR="45720" marT="9144" marB="9144" anchor="ctr">
                    <a:solidFill>
                      <a:srgbClr val="FBE9E9"/>
                    </a:solidFill>
                  </a:tcPr>
                </a:tc>
                <a:tc>
                  <a:txBody>
                    <a:bodyPr/>
                    <a:lstStyle/>
                    <a:p>
                      <a:pPr algn="ctr"/>
                      <a:r>
                        <a:rPr sz="1200" b="1" i="0">
                          <a:solidFill>
                            <a:srgbClr val="C00000"/>
                          </a:solidFill>
                          <a:latin typeface="Times New Roman"/>
                          <a:cs typeface="Times New Roman"/>
                          <a:ea typeface="Times New Roman"/>
                        </a:rPr>
                        <a:t>45.91</a:t>
                      </a:r>
                    </a:p>
                  </a:txBody>
                  <a:tcPr marL="45720" marR="45720" marT="9144" marB="9144" anchor="ctr">
                    <a:solidFill>
                      <a:srgbClr val="FBE9E9"/>
                    </a:solidFill>
                  </a:tcPr>
                </a:tc>
                <a:tc>
                  <a:txBody>
                    <a:bodyPr/>
                    <a:lstStyle/>
                    <a:p>
                      <a:pPr algn="ctr"/>
                      <a:r>
                        <a:rPr sz="1200" b="1" i="0">
                          <a:solidFill>
                            <a:srgbClr val="C00000"/>
                          </a:solidFill>
                          <a:latin typeface="Times New Roman"/>
                          <a:cs typeface="Times New Roman"/>
                          <a:ea typeface="Times New Roman"/>
                        </a:rPr>
                        <a:t>46.45</a:t>
                      </a:r>
                    </a:p>
                  </a:txBody>
                  <a:tcPr marL="45720" marR="45720" marT="9144" marB="9144" anchor="ctr">
                    <a:solidFill>
                      <a:srgbClr val="FBE9E9"/>
                    </a:solidFill>
                  </a:tcPr>
                </a:tc>
                <a:tc>
                  <a:txBody>
                    <a:bodyPr/>
                    <a:lstStyle/>
                    <a:p>
                      <a:pPr algn="ctr"/>
                      <a:r>
                        <a:rPr sz="1200" b="1" i="0">
                          <a:solidFill>
                            <a:srgbClr val="C00000"/>
                          </a:solidFill>
                          <a:latin typeface="Times New Roman"/>
                          <a:cs typeface="Times New Roman"/>
                          <a:ea typeface="Times New Roman"/>
                        </a:rPr>
                        <a:t>46.41</a:t>
                      </a:r>
                    </a:p>
                  </a:txBody>
                  <a:tcPr marL="45720" marR="45720" marT="9144" marB="9144" anchor="ctr">
                    <a:lnR w="15875" cap="flat" cmpd="sng" algn="ctr">
                      <a:solidFill>
                        <a:srgbClr val="1F3864"/>
                      </a:solidFill>
                      <a:prstDash val="solid"/>
                    </a:lnR>
                    <a:solidFill>
                      <a:srgbClr val="FBE9E9"/>
                    </a:solidFill>
                  </a:tcPr>
                </a:tc>
              </a:tr>
              <a:tr h="246888">
                <a:tc>
                  <a:txBody>
                    <a:bodyPr/>
                    <a:lstStyle/>
                    <a:p>
                      <a:pPr algn="l"/>
                      <a:r>
                        <a:rPr sz="1200" b="0" i="1">
                          <a:solidFill>
                            <a:srgbClr val="595959"/>
                          </a:solidFill>
                          <a:latin typeface="Times New Roman"/>
                          <a:cs typeface="Times New Roman"/>
                          <a:ea typeface="Times New Roman"/>
                        </a:rPr>
                        <a:t>Oracle (best possible)</a:t>
                      </a:r>
                    </a:p>
                  </a:txBody>
                  <a:tcPr marL="45720" marR="45720" marT="9144" marB="9144" anchor="ctr">
                    <a:lnL w="15875" cap="flat" cmpd="sng" algn="ctr">
                      <a:solidFill>
                        <a:srgbClr val="1F3864"/>
                      </a:solidFill>
                      <a:prstDash val="solid"/>
                    </a:lnL>
                    <a:lnB w="15875" cap="flat" cmpd="sng" algn="ctr">
                      <a:solidFill>
                        <a:srgbClr val="1F3864"/>
                      </a:solidFill>
                      <a:prstDash val="solid"/>
                    </a:lnB>
                    <a:solidFill>
                      <a:srgbClr val="FFFFFF"/>
                    </a:solidFill>
                  </a:tcPr>
                </a:tc>
                <a:tc>
                  <a:txBody>
                    <a:bodyPr/>
                    <a:lstStyle/>
                    <a:p>
                      <a:pPr algn="ctr"/>
                      <a:r>
                        <a:rPr sz="1200" b="0" i="1">
                          <a:solidFill>
                            <a:srgbClr val="595959"/>
                          </a:solidFill>
                          <a:latin typeface="Times New Roman"/>
                          <a:cs typeface="Times New Roman"/>
                          <a:ea typeface="Times New Roman"/>
                        </a:rPr>
                        <a:t>–</a:t>
                      </a:r>
                    </a:p>
                  </a:txBody>
                  <a:tcPr marL="45720" marR="45720" marT="9144" marB="9144" anchor="ctr">
                    <a:lnB w="15875" cap="flat" cmpd="sng" algn="ctr">
                      <a:solidFill>
                        <a:srgbClr val="1F3864"/>
                      </a:solidFill>
                      <a:prstDash val="solid"/>
                    </a:lnB>
                    <a:solidFill>
                      <a:srgbClr val="FFFFFF"/>
                    </a:solidFill>
                  </a:tcPr>
                </a:tc>
                <a:tc>
                  <a:txBody>
                    <a:bodyPr/>
                    <a:lstStyle/>
                    <a:p>
                      <a:pPr algn="ctr"/>
                      <a:r>
                        <a:rPr sz="1200" b="0" i="1">
                          <a:solidFill>
                            <a:srgbClr val="595959"/>
                          </a:solidFill>
                          <a:latin typeface="Times New Roman"/>
                          <a:cs typeface="Times New Roman"/>
                          <a:ea typeface="Times New Roman"/>
                        </a:rPr>
                        <a:t>94.37</a:t>
                      </a:r>
                    </a:p>
                  </a:txBody>
                  <a:tcPr marL="45720" marR="45720" marT="9144" marB="9144" anchor="ctr">
                    <a:lnB w="15875" cap="flat" cmpd="sng" algn="ctr">
                      <a:solidFill>
                        <a:srgbClr val="1F3864"/>
                      </a:solidFill>
                      <a:prstDash val="solid"/>
                    </a:lnB>
                    <a:solidFill>
                      <a:srgbClr val="FFFFFF"/>
                    </a:solidFill>
                  </a:tcPr>
                </a:tc>
                <a:tc>
                  <a:txBody>
                    <a:bodyPr/>
                    <a:lstStyle/>
                    <a:p>
                      <a:pPr algn="ctr"/>
                      <a:r>
                        <a:rPr sz="1200" b="0" i="1">
                          <a:solidFill>
                            <a:srgbClr val="595959"/>
                          </a:solidFill>
                          <a:latin typeface="Times New Roman"/>
                          <a:cs typeface="Times New Roman"/>
                          <a:ea typeface="Times New Roman"/>
                        </a:rPr>
                        <a:t>94.37</a:t>
                      </a:r>
                    </a:p>
                  </a:txBody>
                  <a:tcPr marL="45720" marR="45720" marT="9144" marB="9144" anchor="ctr">
                    <a:lnB w="15875" cap="flat" cmpd="sng" algn="ctr">
                      <a:solidFill>
                        <a:srgbClr val="1F3864"/>
                      </a:solidFill>
                      <a:prstDash val="solid"/>
                    </a:lnB>
                    <a:solidFill>
                      <a:srgbClr val="FFFFFF"/>
                    </a:solidFill>
                  </a:tcPr>
                </a:tc>
                <a:tc>
                  <a:txBody>
                    <a:bodyPr/>
                    <a:lstStyle/>
                    <a:p>
                      <a:pPr algn="ctr"/>
                      <a:r>
                        <a:rPr sz="1200" b="0" i="1">
                          <a:solidFill>
                            <a:srgbClr val="595959"/>
                          </a:solidFill>
                          <a:latin typeface="Times New Roman"/>
                          <a:cs typeface="Times New Roman"/>
                          <a:ea typeface="Times New Roman"/>
                        </a:rPr>
                        <a:t>94.37</a:t>
                      </a:r>
                    </a:p>
                  </a:txBody>
                  <a:tcPr marL="45720" marR="45720" marT="9144" marB="9144" anchor="ctr">
                    <a:lnB w="15875" cap="flat" cmpd="sng" algn="ctr">
                      <a:solidFill>
                        <a:srgbClr val="1F3864"/>
                      </a:solidFill>
                      <a:prstDash val="solid"/>
                    </a:lnB>
                    <a:solidFill>
                      <a:srgbClr val="FFFFFF"/>
                    </a:solidFill>
                  </a:tcPr>
                </a:tc>
                <a:tc>
                  <a:txBody>
                    <a:bodyPr/>
                    <a:lstStyle/>
                    <a:p>
                      <a:pPr algn="ctr"/>
                      <a:r>
                        <a:rPr sz="1200" b="0" i="1">
                          <a:solidFill>
                            <a:srgbClr val="595959"/>
                          </a:solidFill>
                          <a:latin typeface="Times New Roman"/>
                          <a:cs typeface="Times New Roman"/>
                          <a:ea typeface="Times New Roman"/>
                        </a:rPr>
                        <a:t>73.51</a:t>
                      </a:r>
                    </a:p>
                  </a:txBody>
                  <a:tcPr marL="45720" marR="45720" marT="9144" marB="9144" anchor="ctr">
                    <a:lnB w="15875" cap="flat" cmpd="sng" algn="ctr">
                      <a:solidFill>
                        <a:srgbClr val="1F3864"/>
                      </a:solidFill>
                      <a:prstDash val="solid"/>
                    </a:lnB>
                    <a:solidFill>
                      <a:srgbClr val="FFFFFF"/>
                    </a:solidFill>
                  </a:tcPr>
                </a:tc>
                <a:tc>
                  <a:txBody>
                    <a:bodyPr/>
                    <a:lstStyle/>
                    <a:p>
                      <a:pPr algn="ctr"/>
                      <a:r>
                        <a:rPr sz="1200" b="0" i="1">
                          <a:solidFill>
                            <a:srgbClr val="595959"/>
                          </a:solidFill>
                          <a:latin typeface="Times New Roman"/>
                          <a:cs typeface="Times New Roman"/>
                          <a:ea typeface="Times New Roman"/>
                        </a:rPr>
                        <a:t>73.51</a:t>
                      </a:r>
                    </a:p>
                  </a:txBody>
                  <a:tcPr marL="45720" marR="45720" marT="9144" marB="9144" anchor="ctr">
                    <a:lnB w="15875" cap="flat" cmpd="sng" algn="ctr">
                      <a:solidFill>
                        <a:srgbClr val="1F3864"/>
                      </a:solidFill>
                      <a:prstDash val="solid"/>
                    </a:lnB>
                    <a:solidFill>
                      <a:srgbClr val="FFFFFF"/>
                    </a:solidFill>
                  </a:tcPr>
                </a:tc>
                <a:tc>
                  <a:txBody>
                    <a:bodyPr/>
                    <a:lstStyle/>
                    <a:p>
                      <a:pPr algn="ctr"/>
                      <a:r>
                        <a:rPr sz="1200" b="0" i="1">
                          <a:solidFill>
                            <a:srgbClr val="595959"/>
                          </a:solidFill>
                          <a:latin typeface="Times New Roman"/>
                          <a:cs typeface="Times New Roman"/>
                          <a:ea typeface="Times New Roman"/>
                        </a:rPr>
                        <a:t>73.51</a:t>
                      </a:r>
                    </a:p>
                  </a:txBody>
                  <a:tcPr marL="45720" marR="45720" marT="9144" marB="9144" anchor="ctr">
                    <a:lnB w="15875" cap="flat" cmpd="sng" algn="ctr">
                      <a:solidFill>
                        <a:srgbClr val="1F3864"/>
                      </a:solidFill>
                      <a:prstDash val="solid"/>
                    </a:lnB>
                    <a:solidFill>
                      <a:srgbClr val="FFFFFF"/>
                    </a:solidFill>
                  </a:tcPr>
                </a:tc>
                <a:tc>
                  <a:txBody>
                    <a:bodyPr/>
                    <a:lstStyle/>
                    <a:p>
                      <a:pPr algn="ctr"/>
                      <a:r>
                        <a:rPr sz="1200" b="0" i="1">
                          <a:solidFill>
                            <a:srgbClr val="595959"/>
                          </a:solidFill>
                          <a:latin typeface="Times New Roman"/>
                          <a:cs typeface="Times New Roman"/>
                          <a:ea typeface="Times New Roman"/>
                        </a:rPr>
                        <a:t>46.20</a:t>
                      </a:r>
                    </a:p>
                  </a:txBody>
                  <a:tcPr marL="45720" marR="45720" marT="9144" marB="9144" anchor="ctr">
                    <a:lnB w="15875" cap="flat" cmpd="sng" algn="ctr">
                      <a:solidFill>
                        <a:srgbClr val="1F3864"/>
                      </a:solidFill>
                      <a:prstDash val="solid"/>
                    </a:lnB>
                    <a:solidFill>
                      <a:srgbClr val="FFFFFF"/>
                    </a:solidFill>
                  </a:tcPr>
                </a:tc>
                <a:tc>
                  <a:txBody>
                    <a:bodyPr/>
                    <a:lstStyle/>
                    <a:p>
                      <a:pPr algn="ctr"/>
                      <a:r>
                        <a:rPr sz="1200" b="0" i="1">
                          <a:solidFill>
                            <a:srgbClr val="595959"/>
                          </a:solidFill>
                          <a:latin typeface="Times New Roman"/>
                          <a:cs typeface="Times New Roman"/>
                          <a:ea typeface="Times New Roman"/>
                        </a:rPr>
                        <a:t>46.20</a:t>
                      </a:r>
                    </a:p>
                  </a:txBody>
                  <a:tcPr marL="45720" marR="45720" marT="9144" marB="9144" anchor="ctr">
                    <a:lnB w="15875" cap="flat" cmpd="sng" algn="ctr">
                      <a:solidFill>
                        <a:srgbClr val="1F3864"/>
                      </a:solidFill>
                      <a:prstDash val="solid"/>
                    </a:lnB>
                    <a:solidFill>
                      <a:srgbClr val="FFFFFF"/>
                    </a:solidFill>
                  </a:tcPr>
                </a:tc>
                <a:tc>
                  <a:txBody>
                    <a:bodyPr/>
                    <a:lstStyle/>
                    <a:p>
                      <a:pPr algn="ctr"/>
                      <a:r>
                        <a:rPr sz="1200" b="0" i="1">
                          <a:solidFill>
                            <a:srgbClr val="595959"/>
                          </a:solidFill>
                          <a:latin typeface="Times New Roman"/>
                          <a:cs typeface="Times New Roman"/>
                          <a:ea typeface="Times New Roman"/>
                        </a:rPr>
                        <a:t>46.20</a:t>
                      </a:r>
                    </a:p>
                  </a:txBody>
                  <a:tcPr marL="45720" marR="45720" marT="9144" marB="9144" anchor="ctr">
                    <a:lnR w="15875" cap="flat" cmpd="sng" algn="ctr">
                      <a:solidFill>
                        <a:srgbClr val="1F3864"/>
                      </a:solidFill>
                      <a:prstDash val="solid"/>
                    </a:lnR>
                    <a:lnB w="15875" cap="flat" cmpd="sng" algn="ctr">
                      <a:solidFill>
                        <a:srgbClr val="1F3864"/>
                      </a:solidFill>
                      <a:prstDash val="solid"/>
                    </a:lnB>
                    <a:solidFill>
                      <a:srgbClr val="FFFFFF"/>
                    </a:solidFill>
                  </a:tcPr>
                </a:tc>
              </a:tr>
            </a:tbl>
          </a:graphicData>
        </a:graphic>
      </p:graphicFrame>
      <p:sp>
        <p:nvSpPr>
          <p:cNvPr id="8" name="TextBox 7"/>
          <p:cNvSpPr txBox="1"/>
          <p:nvPr/>
        </p:nvSpPr>
        <p:spPr>
          <a:xfrm>
            <a:off x="548640" y="5513832"/>
            <a:ext cx="11064240" cy="219456"/>
          </a:xfrm>
          <a:prstGeom prst="rect">
            <a:avLst/>
          </a:prstGeom>
          <a:noFill/>
        </p:spPr>
        <p:txBody>
          <a:bodyPr wrap="square" anchor="t" lIns="45720" rIns="45720" tIns="27432" bIns="27432"/>
          <a:lstStyle/>
          <a:p>
            <a:pPr algn="l">
              <a:spcAft>
                <a:spcPts val="400"/>
              </a:spcAft>
            </a:pPr>
            <a:r>
              <a:rPr sz="1100" b="0" i="1">
                <a:solidFill>
                  <a:srgbClr val="595959"/>
                </a:solidFill>
                <a:latin typeface="Times New Roman"/>
                <a:cs typeface="Times New Roman"/>
                <a:ea typeface="Times New Roman"/>
              </a:rPr>
              <a:t>Green = best in column · + P = every candidate proxy-scored · Oracle = best possible.</a:t>
            </a:r>
          </a:p>
        </p:txBody>
      </p:sp>
      <p:sp>
        <p:nvSpPr>
          <p:cNvPr id="9" name="Rounded Rectangle 8"/>
          <p:cNvSpPr/>
          <p:nvPr/>
        </p:nvSpPr>
        <p:spPr>
          <a:xfrm>
            <a:off x="548640" y="5788152"/>
            <a:ext cx="11064240" cy="658368"/>
          </a:xfrm>
          <a:prstGeom prst="roundRect">
            <a:avLst>
              <a:gd name="adj" fmla="val 6000"/>
            </a:avLst>
          </a:prstGeom>
          <a:solidFill>
            <a:srgbClr val="F4F7FB"/>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31520" y="5952744"/>
            <a:ext cx="1325880"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300" b="1" i="0">
                <a:solidFill>
                  <a:srgbClr val="FFFFFF"/>
                </a:solidFill>
                <a:latin typeface="Times New Roman"/>
                <a:cs typeface="Times New Roman"/>
                <a:ea typeface="Times New Roman"/>
              </a:rPr>
              <a:t>Inference</a:t>
            </a:r>
          </a:p>
        </p:txBody>
      </p:sp>
      <p:sp>
        <p:nvSpPr>
          <p:cNvPr id="11" name="TextBox 10"/>
          <p:cNvSpPr txBox="1"/>
          <p:nvPr/>
        </p:nvSpPr>
        <p:spPr>
          <a:xfrm>
            <a:off x="2240280" y="5861304"/>
            <a:ext cx="9235440" cy="512063"/>
          </a:xfrm>
          <a:prstGeom prst="rect">
            <a:avLst/>
          </a:prstGeom>
          <a:noFill/>
        </p:spPr>
        <p:txBody>
          <a:bodyPr wrap="square" anchor="ctr" lIns="45720" rIns="45720" tIns="27432" bIns="27432"/>
          <a:lstStyle/>
          <a:p>
            <a:pPr algn="l" marL="228600" indent="-201168">
              <a:spcAft>
                <a:spcPts val="300"/>
              </a:spcAft>
              <a:buFont typeface="Arial"/>
              <a:buChar char="•"/>
            </a:pPr>
            <a:r>
              <a:rPr sz="1350" b="0" i="0">
                <a:solidFill>
                  <a:srgbClr val="262626"/>
                </a:solidFill>
                <a:latin typeface="Times New Roman"/>
                <a:cs typeface="Times New Roman"/>
                <a:ea typeface="Times New Roman"/>
              </a:rPr>
              <a:t>Within 0.1–0.2 pts of the best on every dataset, with only ~82 of 200 evaluations.</a:t>
            </a:r>
          </a:p>
          <a:p>
            <a:pPr algn="l" marL="228600" indent="-201168">
              <a:spcAft>
                <a:spcPts val="300"/>
              </a:spcAft>
              <a:buFont typeface="Arial"/>
              <a:buChar char="•"/>
            </a:pPr>
            <a:r>
              <a:rPr sz="1350" b="0" i="0">
                <a:solidFill>
                  <a:srgbClr val="262626"/>
                </a:solidFill>
                <a:latin typeface="Times New Roman"/>
                <a:cs typeface="Times New Roman"/>
                <a:ea typeface="Times New Roman"/>
              </a:rPr>
              <a:t>Local Search and RE + ZC lead some columns, but tie with us statistically.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RESULTS · STATISTICS</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Result 4: Is the Difference Real?</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14</a:t>
            </a:r>
          </a:p>
        </p:txBody>
      </p:sp>
      <p:pic>
        <p:nvPicPr>
          <p:cNvPr id="20" name="Chart image 5" descr="chart_14_4.png"/>
          <p:cNvPicPr>
            <a:picLocks noChangeAspect="1"/>
          </p:cNvPicPr>
          <p:nvPr/>
        </p:nvPicPr>
        <p:blipFill>
          <a:blip r:embed="rId4"/>
          <a:stretch>
            <a:fillRect/>
          </a:stretch>
        </p:blipFill>
        <p:spPr>
          <a:xfrm>
            <a:off x="457200" y="1444752"/>
            <a:ext cx="6858000" cy="3246120"/>
          </a:xfrm>
          <a:prstGeom prst="rect">
            <a:avLst/>
          </a:prstGeom>
          <a:ln w="12700">
            <a:solidFill>
              <a:srgbClr val="B8C2D0"/>
            </a:solidFill>
          </a:ln>
        </p:spPr>
      </p:pic>
      <p:sp>
        <p:nvSpPr>
          <p:cNvPr id="7" name="Rounded Rectangle 6"/>
          <p:cNvSpPr/>
          <p:nvPr/>
        </p:nvSpPr>
        <p:spPr>
          <a:xfrm>
            <a:off x="7589520" y="1536192"/>
            <a:ext cx="4023360" cy="1024128"/>
          </a:xfrm>
          <a:prstGeom prst="roundRect">
            <a:avLst>
              <a:gd name="adj" fmla="val 1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26679" y="1581912"/>
            <a:ext cx="3749039" cy="548640"/>
          </a:xfrm>
          <a:prstGeom prst="rect">
            <a:avLst/>
          </a:prstGeom>
          <a:noFill/>
        </p:spPr>
        <p:txBody>
          <a:bodyPr wrap="square" anchor="t" lIns="45720" rIns="45720" tIns="27432" bIns="27432"/>
          <a:lstStyle/>
          <a:p>
            <a:pPr algn="l">
              <a:spcAft>
                <a:spcPts val="400"/>
              </a:spcAft>
            </a:pPr>
            <a:r>
              <a:rPr sz="2600" b="1" i="0">
                <a:solidFill>
                  <a:srgbClr val="002060"/>
                </a:solidFill>
                <a:latin typeface="Times New Roman"/>
                <a:cs typeface="Times New Roman"/>
                <a:ea typeface="Times New Roman"/>
              </a:rPr>
              <a:t>17 / 55 / 0</a:t>
            </a:r>
          </a:p>
        </p:txBody>
      </p:sp>
      <p:sp>
        <p:nvSpPr>
          <p:cNvPr id="9" name="TextBox 8"/>
          <p:cNvSpPr txBox="1"/>
          <p:nvPr/>
        </p:nvSpPr>
        <p:spPr>
          <a:xfrm>
            <a:off x="7726679" y="2130552"/>
            <a:ext cx="3749039" cy="384048"/>
          </a:xfrm>
          <a:prstGeom prst="rect">
            <a:avLst/>
          </a:prstGeom>
          <a:noFill/>
        </p:spPr>
        <p:txBody>
          <a:bodyPr wrap="square" anchor="t" lIns="45720" rIns="45720" tIns="27432" bIns="27432"/>
          <a:lstStyle/>
          <a:p>
            <a:pPr algn="l">
              <a:spcAft>
                <a:spcPts val="400"/>
              </a:spcAft>
            </a:pPr>
            <a:r>
              <a:rPr sz="1300" b="0" i="0">
                <a:solidFill>
                  <a:srgbClr val="262626"/>
                </a:solidFill>
                <a:latin typeface="Times New Roman"/>
                <a:cs typeface="Times New Roman"/>
                <a:ea typeface="Times New Roman"/>
              </a:rPr>
              <a:t>wins / ties / losses vs 6 baselines</a:t>
            </a:r>
          </a:p>
        </p:txBody>
      </p:sp>
      <p:sp>
        <p:nvSpPr>
          <p:cNvPr id="10" name="Rounded Rectangle 9"/>
          <p:cNvSpPr/>
          <p:nvPr/>
        </p:nvSpPr>
        <p:spPr>
          <a:xfrm>
            <a:off x="7589520" y="2679191"/>
            <a:ext cx="4023360" cy="1024128"/>
          </a:xfrm>
          <a:prstGeom prst="roundRect">
            <a:avLst>
              <a:gd name="adj" fmla="val 1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26679" y="2724911"/>
            <a:ext cx="3749039" cy="548640"/>
          </a:xfrm>
          <a:prstGeom prst="rect">
            <a:avLst/>
          </a:prstGeom>
          <a:noFill/>
        </p:spPr>
        <p:txBody>
          <a:bodyPr wrap="square" anchor="t" lIns="45720" rIns="45720" tIns="27432" bIns="27432"/>
          <a:lstStyle/>
          <a:p>
            <a:pPr algn="l">
              <a:spcAft>
                <a:spcPts val="400"/>
              </a:spcAft>
            </a:pPr>
            <a:r>
              <a:rPr sz="2600" b="1" i="0">
                <a:solidFill>
                  <a:srgbClr val="2E7D32"/>
                </a:solidFill>
                <a:latin typeface="Times New Roman"/>
                <a:cs typeface="Times New Roman"/>
                <a:ea typeface="Times New Roman"/>
              </a:rPr>
              <a:t>0 of 192</a:t>
            </a:r>
          </a:p>
        </p:txBody>
      </p:sp>
      <p:sp>
        <p:nvSpPr>
          <p:cNvPr id="12" name="TextBox 11"/>
          <p:cNvSpPr txBox="1"/>
          <p:nvPr/>
        </p:nvSpPr>
        <p:spPr>
          <a:xfrm>
            <a:off x="7726679" y="3273551"/>
            <a:ext cx="3749039" cy="384048"/>
          </a:xfrm>
          <a:prstGeom prst="rect">
            <a:avLst/>
          </a:prstGeom>
          <a:noFill/>
        </p:spPr>
        <p:txBody>
          <a:bodyPr wrap="square" anchor="t" lIns="45720" rIns="45720" tIns="27432" bIns="27432"/>
          <a:lstStyle/>
          <a:p>
            <a:pPr algn="l">
              <a:spcAft>
                <a:spcPts val="400"/>
              </a:spcAft>
            </a:pPr>
            <a:r>
              <a:rPr sz="1300" b="0" i="0">
                <a:solidFill>
                  <a:srgbClr val="262626"/>
                </a:solidFill>
                <a:latin typeface="Times New Roman"/>
                <a:cs typeface="Times New Roman"/>
                <a:ea typeface="Times New Roman"/>
              </a:rPr>
              <a:t>losses when every searcher uses the same gate</a:t>
            </a:r>
          </a:p>
        </p:txBody>
      </p:sp>
      <p:sp>
        <p:nvSpPr>
          <p:cNvPr id="13" name="Rounded Rectangle 12"/>
          <p:cNvSpPr/>
          <p:nvPr/>
        </p:nvSpPr>
        <p:spPr>
          <a:xfrm>
            <a:off x="7589520" y="3822191"/>
            <a:ext cx="4023360" cy="1024128"/>
          </a:xfrm>
          <a:prstGeom prst="roundRect">
            <a:avLst>
              <a:gd name="adj" fmla="val 10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26679" y="3867911"/>
            <a:ext cx="3749039" cy="548640"/>
          </a:xfrm>
          <a:prstGeom prst="rect">
            <a:avLst/>
          </a:prstGeom>
          <a:noFill/>
        </p:spPr>
        <p:txBody>
          <a:bodyPr wrap="square" anchor="t" lIns="45720" rIns="45720" tIns="27432" bIns="27432"/>
          <a:lstStyle/>
          <a:p>
            <a:pPr algn="l">
              <a:spcAft>
                <a:spcPts val="400"/>
              </a:spcAft>
            </a:pPr>
            <a:r>
              <a:rPr sz="2600" b="1" i="0">
                <a:solidFill>
                  <a:srgbClr val="002060"/>
                </a:solidFill>
                <a:latin typeface="Times New Roman"/>
                <a:cs typeface="Times New Roman"/>
                <a:ea typeface="Times New Roman"/>
              </a:rPr>
              <a:t>19–23%</a:t>
            </a:r>
          </a:p>
        </p:txBody>
      </p:sp>
      <p:sp>
        <p:nvSpPr>
          <p:cNvPr id="15" name="TextBox 14"/>
          <p:cNvSpPr txBox="1"/>
          <p:nvPr/>
        </p:nvSpPr>
        <p:spPr>
          <a:xfrm>
            <a:off x="7726679" y="4416552"/>
            <a:ext cx="3749039" cy="384048"/>
          </a:xfrm>
          <a:prstGeom prst="rect">
            <a:avLst/>
          </a:prstGeom>
          <a:noFill/>
        </p:spPr>
        <p:txBody>
          <a:bodyPr wrap="square" anchor="t" lIns="45720" rIns="45720" tIns="27432" bIns="27432"/>
          <a:lstStyle/>
          <a:p>
            <a:pPr algn="l">
              <a:spcAft>
                <a:spcPts val="400"/>
              </a:spcAft>
            </a:pPr>
            <a:r>
              <a:rPr sz="1300" b="0" i="0">
                <a:solidFill>
                  <a:srgbClr val="262626"/>
                </a:solidFill>
                <a:latin typeface="Times New Roman"/>
                <a:cs typeface="Times New Roman"/>
                <a:ea typeface="Times New Roman"/>
              </a:rPr>
              <a:t>fewer GPU-hours than RE at equal accuracy</a:t>
            </a:r>
          </a:p>
        </p:txBody>
      </p:sp>
      <p:sp>
        <p:nvSpPr>
          <p:cNvPr id="16" name="Rounded Rectangle 15"/>
          <p:cNvSpPr/>
          <p:nvPr/>
        </p:nvSpPr>
        <p:spPr>
          <a:xfrm>
            <a:off x="548640" y="5029200"/>
            <a:ext cx="11064240" cy="1325880"/>
          </a:xfrm>
          <a:prstGeom prst="roundRect">
            <a:avLst>
              <a:gd name="adj" fmla="val 6000"/>
            </a:avLst>
          </a:prstGeom>
          <a:solidFill>
            <a:srgbClr val="F4F7FB"/>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731520" y="5193792"/>
            <a:ext cx="1325880"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300" b="1" i="0">
                <a:solidFill>
                  <a:srgbClr val="FFFFFF"/>
                </a:solidFill>
                <a:latin typeface="Times New Roman"/>
                <a:cs typeface="Times New Roman"/>
                <a:ea typeface="Times New Roman"/>
              </a:rPr>
              <a:t>Inference</a:t>
            </a:r>
          </a:p>
        </p:txBody>
      </p:sp>
      <p:sp>
        <p:nvSpPr>
          <p:cNvPr id="18" name="TextBox 17"/>
          <p:cNvSpPr txBox="1"/>
          <p:nvPr/>
        </p:nvSpPr>
        <p:spPr>
          <a:xfrm>
            <a:off x="2240280" y="5102352"/>
            <a:ext cx="9235440" cy="1179576"/>
          </a:xfrm>
          <a:prstGeom prst="rect">
            <a:avLst/>
          </a:prstGeom>
          <a:noFill/>
        </p:spPr>
        <p:txBody>
          <a:bodyPr wrap="square" anchor="ctr" lIns="45720" rIns="45720" tIns="27432" bIns="27432"/>
          <a:lstStyle/>
          <a:p>
            <a:pPr algn="l" marL="228600" indent="-201168">
              <a:spcAft>
                <a:spcPts val="300"/>
              </a:spcAft>
              <a:buFont typeface="Arial"/>
              <a:buChar char="•"/>
            </a:pPr>
            <a:r>
              <a:rPr sz="1500" b="0" i="0">
                <a:solidFill>
                  <a:srgbClr val="262626"/>
                </a:solidFill>
                <a:latin typeface="Times New Roman"/>
                <a:cs typeface="Times New Roman"/>
                <a:ea typeface="Times New Roman"/>
              </a:rPr>
              <a:t>Never worse: 0 losses in 72 comparisons (0 of 192 with the same gate).</a:t>
            </a:r>
          </a:p>
          <a:p>
            <a:pPr algn="l" marL="228600" indent="-201168">
              <a:spcAft>
                <a:spcPts val="300"/>
              </a:spcAft>
              <a:buFont typeface="Arial"/>
              <a:buChar char="•"/>
            </a:pPr>
            <a:r>
              <a:rPr sz="1500" b="0" i="0">
                <a:solidFill>
                  <a:srgbClr val="262626"/>
                </a:solidFill>
                <a:latin typeface="Times New Roman"/>
                <a:cs typeface="Times New Roman"/>
                <a:ea typeface="Times New Roman"/>
              </a:rPr>
              <a:t>Beats weak searchers; ties the strongest (RE, RZ).</a:t>
            </a:r>
          </a:p>
          <a:p>
            <a:pPr algn="l" marL="228600" indent="-201168">
              <a:spcAft>
                <a:spcPts val="300"/>
              </a:spcAft>
              <a:buFont typeface="Arial"/>
              <a:buChar char="•"/>
            </a:pPr>
            <a:r>
              <a:rPr sz="1500" b="0" i="0">
                <a:solidFill>
                  <a:srgbClr val="262626"/>
                </a:solidFill>
                <a:latin typeface="Times New Roman"/>
                <a:cs typeface="Times New Roman"/>
                <a:ea typeface="Times New Roman"/>
              </a:rPr>
              <a:t>Ties use ~40% of the budget: same accuracy, less than half the cost.</a:t>
            </a:r>
          </a:p>
        </p:txBody>
      </p:sp>
      <p:sp>
        <p:nvSpPr>
          <p:cNvPr id="19" name="Figure 9 caption"/>
          <p:cNvSpPr txBox="1"/>
          <p:nvPr/>
        </p:nvSpPr>
        <p:spPr>
          <a:xfrm>
            <a:off x="457200" y="4709160"/>
            <a:ext cx="6858000"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9. </a:t>
            </a:r>
            <a:r>
              <a:rPr sz="1100" b="0" i="1">
                <a:solidFill>
                  <a:srgbClr val="262626"/>
                </a:solidFill>
                <a:latin typeface="Times New Roman"/>
                <a:cs typeface="Times New Roman"/>
                <a:ea typeface="Times New Roman"/>
              </a:rPr>
              <a:t>Paired-test outcomes of ArchTree v2 vs six baselines (Wilcoxon [14], Holm-corrected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RESULTS · FAIR COMPUTE</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Result 5: Equal GPU-Hour Comparison</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15</a:t>
            </a:r>
          </a:p>
        </p:txBody>
      </p:sp>
      <p:pic>
        <p:nvPicPr>
          <p:cNvPr id="14" name="Chart image 5" descr="chart_15_5.png"/>
          <p:cNvPicPr>
            <a:picLocks noChangeAspect="1"/>
          </p:cNvPicPr>
          <p:nvPr/>
        </p:nvPicPr>
        <p:blipFill>
          <a:blip r:embed="rId4"/>
          <a:stretch>
            <a:fillRect/>
          </a:stretch>
        </p:blipFill>
        <p:spPr>
          <a:xfrm>
            <a:off x="457200" y="1444752"/>
            <a:ext cx="6309360" cy="3246120"/>
          </a:xfrm>
          <a:prstGeom prst="rect">
            <a:avLst/>
          </a:prstGeom>
          <a:ln w="12700">
            <a:solidFill>
              <a:srgbClr val="B8C2D0"/>
            </a:solidFill>
          </a:ln>
        </p:spPr>
      </p:pic>
      <p:sp>
        <p:nvSpPr>
          <p:cNvPr id="7" name="Table 5 caption"/>
          <p:cNvSpPr txBox="1"/>
          <p:nvPr/>
        </p:nvSpPr>
        <p:spPr>
          <a:xfrm>
            <a:off x="6995160" y="1463040"/>
            <a:ext cx="4617720" cy="256032"/>
          </a:xfrm>
          <a:prstGeom prst="rect">
            <a:avLst/>
          </a:prstGeom>
          <a:noFill/>
        </p:spPr>
        <p:txBody>
          <a:bodyPr wrap="square" anchor="t" lIns="0" rIns="0" tIns="27432" bIns="27432"/>
          <a:lstStyle/>
          <a:p>
            <a:pPr algn="ctr">
              <a:spcAft>
                <a:spcPts val="400"/>
              </a:spcAft>
            </a:pPr>
            <a:r>
              <a:rPr sz="1150" b="1" i="0">
                <a:solidFill>
                  <a:srgbClr val="002060"/>
                </a:solidFill>
                <a:latin typeface="Times New Roman"/>
                <a:cs typeface="Times New Roman"/>
                <a:ea typeface="Times New Roman"/>
              </a:rPr>
              <a:t>Table 5. </a:t>
            </a:r>
            <a:r>
              <a:rPr sz="1150" b="0" i="0">
                <a:solidFill>
                  <a:srgbClr val="002060"/>
                </a:solidFill>
                <a:latin typeface="Times New Roman"/>
                <a:cs typeface="Times New Roman"/>
                <a:ea typeface="Times New Roman"/>
              </a:rPr>
              <a:t>Equal GPU-hour ranking per benchmark</a:t>
            </a:r>
          </a:p>
        </p:txBody>
      </p:sp>
      <p:graphicFrame>
        <p:nvGraphicFramePr>
          <p:cNvPr id="8" name="Table 7"/>
          <p:cNvGraphicFramePr>
            <a:graphicFrameLocks noGrp="1"/>
          </p:cNvGraphicFramePr>
          <p:nvPr/>
        </p:nvGraphicFramePr>
        <p:xfrm>
          <a:off x="6995160" y="1755648"/>
          <a:ext cx="4617720" cy="1609344"/>
        </p:xfrm>
        <a:graphic>
          <a:graphicData uri="http://schemas.openxmlformats.org/drawingml/2006/table">
            <a:tbl>
              <a:tblPr firstRow="1" bandRow="0">
                <a:tableStyleId>{5C22544A-7EE6-4342-B048-85BDC9FD1C3A}</a:tableStyleId>
              </a:tblPr>
              <a:tblGrid>
                <a:gridCol w="1325880"/>
                <a:gridCol w="502920"/>
                <a:gridCol w="868680"/>
                <a:gridCol w="1234440"/>
                <a:gridCol w="685800"/>
              </a:tblGrid>
              <a:tr h="402336">
                <a:tc>
                  <a:txBody>
                    <a:bodyPr wrap="square"/>
                    <a:lstStyle/>
                    <a:p>
                      <a:r>
                        <a:rPr sz="1100" b="1" i="0">
                          <a:solidFill>
                            <a:srgbClr val="FFFFFF"/>
                          </a:solidFill>
                          <a:latin typeface="Times New Roman"/>
                          <a:cs typeface="Times New Roman"/>
                          <a:ea typeface="Times New Roman"/>
                        </a:rPr>
                        <a:t>Benchmark</a:t>
                      </a:r>
                    </a:p>
                  </a:txBody>
                  <a:tcPr marL="54864" marR="54864" marT="18288" marB="18288" anchor="ctr">
                    <a:lnL w="15875" cap="flat" cmpd="sng" algn="ctr">
                      <a:solidFill>
                        <a:srgbClr val="1F3864"/>
                      </a:solidFill>
                      <a:prstDash val="solid"/>
                    </a:lnL>
                    <a:lnT w="15875" cap="flat" cmpd="sng" algn="ctr">
                      <a:solidFill>
                        <a:srgbClr val="1F3864"/>
                      </a:solidFill>
                      <a:prstDash val="solid"/>
                    </a:lnT>
                    <a:solidFill>
                      <a:srgbClr val="1F3864"/>
                    </a:solidFill>
                  </a:tcPr>
                </a:tc>
                <a:tc>
                  <a:txBody>
                    <a:bodyPr wrap="square"/>
                    <a:lstStyle/>
                    <a:p>
                      <a:pPr algn="ctr"/>
                      <a:r>
                        <a:rPr sz="1100" b="1" i="0">
                          <a:solidFill>
                            <a:srgbClr val="FFFFFF"/>
                          </a:solidFill>
                          <a:latin typeface="Times New Roman"/>
                          <a:cs typeface="Times New Roman"/>
                          <a:ea typeface="Times New Roman"/>
                        </a:rPr>
                        <a:t>Arms</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100" b="1" i="0">
                          <a:solidFill>
                            <a:srgbClr val="FFFFFF"/>
                          </a:solidFill>
                          <a:latin typeface="Times New Roman"/>
                          <a:cs typeface="Times New Roman"/>
                          <a:ea typeface="Times New Roman"/>
                        </a:rPr>
                        <a:t>ArchTree rank</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100" b="1" i="0">
                          <a:solidFill>
                            <a:srgbClr val="FFFFFF"/>
                          </a:solidFill>
                          <a:latin typeface="Times New Roman"/>
                          <a:cs typeface="Times New Roman"/>
                          <a:ea typeface="Times New Roman"/>
                        </a:rPr>
                        <a:t>Best</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100" b="1" i="0">
                          <a:solidFill>
                            <a:srgbClr val="FFFFFF"/>
                          </a:solidFill>
                          <a:latin typeface="Times New Roman"/>
                          <a:cs typeface="Times New Roman"/>
                          <a:ea typeface="Times New Roman"/>
                        </a:rPr>
                        <a:t>Within CD?</a:t>
                      </a:r>
                    </a:p>
                  </a:txBody>
                  <a:tcPr marL="54864" marR="54864" marT="18288" marB="18288" anchor="ctr">
                    <a:lnR w="15875" cap="flat" cmpd="sng" algn="ctr">
                      <a:solidFill>
                        <a:srgbClr val="1F3864"/>
                      </a:solidFill>
                      <a:prstDash val="solid"/>
                    </a:lnR>
                    <a:lnT w="15875" cap="flat" cmpd="sng" algn="ctr">
                      <a:solidFill>
                        <a:srgbClr val="1F3864"/>
                      </a:solidFill>
                      <a:prstDash val="solid"/>
                    </a:lnT>
                    <a:solidFill>
                      <a:srgbClr val="1F3864"/>
                    </a:solidFill>
                  </a:tcPr>
                </a:tc>
              </a:tr>
              <a:tr h="402336">
                <a:tc>
                  <a:txBody>
                    <a:bodyPr wrap="square"/>
                    <a:lstStyle/>
                    <a:p>
                      <a:r>
                        <a:rPr sz="1100" b="1" i="0">
                          <a:solidFill>
                            <a:srgbClr val="262626"/>
                          </a:solidFill>
                          <a:latin typeface="Times New Roman"/>
                          <a:cs typeface="Times New Roman"/>
                          <a:ea typeface="Times New Roman"/>
                        </a:rPr>
                        <a:t>NAS-Bench-201</a:t>
                      </a:r>
                    </a:p>
                  </a:txBody>
                  <a:tcPr marL="54864" marR="54864" marT="18288" marB="18288" anchor="ctr">
                    <a:lnL w="15875" cap="flat" cmpd="sng" algn="ctr">
                      <a:solidFill>
                        <a:srgbClr val="1F3864"/>
                      </a:solidFill>
                      <a:prstDash val="solid"/>
                    </a:lnL>
                    <a:solidFill>
                      <a:srgbClr val="FFFFFF"/>
                    </a:solidFill>
                  </a:tcPr>
                </a:tc>
                <a:tc>
                  <a:txBody>
                    <a:bodyPr wrap="square"/>
                    <a:lstStyle/>
                    <a:p>
                      <a:pPr algn="ctr"/>
                      <a:r>
                        <a:rPr sz="1100" b="0" i="0">
                          <a:solidFill>
                            <a:srgbClr val="262626"/>
                          </a:solidFill>
                          <a:latin typeface="Times New Roman"/>
                          <a:cs typeface="Times New Roman"/>
                          <a:ea typeface="Times New Roman"/>
                        </a:rPr>
                        <a:t>14</a:t>
                      </a:r>
                    </a:p>
                  </a:txBody>
                  <a:tcPr marL="54864" marR="54864" marT="18288" marB="18288" anchor="ctr">
                    <a:solidFill>
                      <a:srgbClr val="FFFFFF"/>
                    </a:solidFill>
                  </a:tcPr>
                </a:tc>
                <a:tc>
                  <a:txBody>
                    <a:bodyPr wrap="square"/>
                    <a:lstStyle/>
                    <a:p>
                      <a:pPr algn="ctr"/>
                      <a:r>
                        <a:rPr sz="1100" b="1" i="0">
                          <a:solidFill>
                            <a:srgbClr val="2E7D32"/>
                          </a:solidFill>
                          <a:latin typeface="Times New Roman"/>
                          <a:cs typeface="Times New Roman"/>
                          <a:ea typeface="Times New Roman"/>
                        </a:rPr>
                        <a:t>Tied-best</a:t>
                      </a:r>
                    </a:p>
                  </a:txBody>
                  <a:tcPr marL="54864" marR="54864" marT="18288" marB="18288" anchor="ctr">
                    <a:solidFill>
                      <a:srgbClr val="FFFFFF"/>
                    </a:solidFill>
                  </a:tcPr>
                </a:tc>
                <a:tc>
                  <a:txBody>
                    <a:bodyPr wrap="square"/>
                    <a:lstStyle/>
                    <a:p>
                      <a:pPr algn="ctr"/>
                      <a:r>
                        <a:rPr sz="1100" b="0" i="0">
                          <a:solidFill>
                            <a:srgbClr val="262626"/>
                          </a:solidFill>
                          <a:latin typeface="Times New Roman"/>
                          <a:cs typeface="Times New Roman"/>
                          <a:ea typeface="Times New Roman"/>
                        </a:rPr>
                        <a:t>ArchTree v2 ≈ RE + ZC</a:t>
                      </a:r>
                    </a:p>
                  </a:txBody>
                  <a:tcPr marL="54864" marR="54864" marT="18288" marB="18288" anchor="ctr">
                    <a:solidFill>
                      <a:srgbClr val="FFFFFF"/>
                    </a:solidFill>
                  </a:tcPr>
                </a:tc>
                <a:tc>
                  <a:txBody>
                    <a:bodyPr wrap="square"/>
                    <a:lstStyle/>
                    <a:p>
                      <a:pPr algn="ctr"/>
                      <a:r>
                        <a:rPr sz="1100" b="0" i="0">
                          <a:solidFill>
                            <a:srgbClr val="262626"/>
                          </a:solidFill>
                          <a:latin typeface="Times New Roman"/>
                          <a:cs typeface="Times New Roman"/>
                          <a:ea typeface="Times New Roman"/>
                        </a:rPr>
                        <a:t>best</a:t>
                      </a:r>
                    </a:p>
                  </a:txBody>
                  <a:tcPr marL="54864" marR="54864" marT="18288" marB="18288" anchor="ctr">
                    <a:lnR w="15875" cap="flat" cmpd="sng" algn="ctr">
                      <a:solidFill>
                        <a:srgbClr val="1F3864"/>
                      </a:solidFill>
                      <a:prstDash val="solid"/>
                    </a:lnR>
                    <a:solidFill>
                      <a:srgbClr val="FFFFFF"/>
                    </a:solidFill>
                  </a:tcPr>
                </a:tc>
              </a:tr>
              <a:tr h="402336">
                <a:tc>
                  <a:txBody>
                    <a:bodyPr wrap="square"/>
                    <a:lstStyle/>
                    <a:p>
                      <a:r>
                        <a:rPr sz="1100" b="1" i="0">
                          <a:solidFill>
                            <a:srgbClr val="262626"/>
                          </a:solidFill>
                          <a:latin typeface="Times New Roman"/>
                          <a:cs typeface="Times New Roman"/>
                          <a:ea typeface="Times New Roman"/>
                        </a:rPr>
                        <a:t>NAS-Bench-101</a:t>
                      </a:r>
                    </a:p>
                  </a:txBody>
                  <a:tcPr marL="54864" marR="54864" marT="18288" marB="18288" anchor="ctr">
                    <a:lnL w="15875" cap="flat" cmpd="sng" algn="ctr">
                      <a:solidFill>
                        <a:srgbClr val="1F3864"/>
                      </a:solidFill>
                      <a:prstDash val="solid"/>
                    </a:lnL>
                    <a:solidFill>
                      <a:srgbClr val="F4F7FB"/>
                    </a:solidFill>
                  </a:tcPr>
                </a:tc>
                <a:tc>
                  <a:txBody>
                    <a:bodyPr wrap="square"/>
                    <a:lstStyle/>
                    <a:p>
                      <a:pPr algn="ctr"/>
                      <a:r>
                        <a:rPr sz="1100" b="0" i="0">
                          <a:solidFill>
                            <a:srgbClr val="262626"/>
                          </a:solidFill>
                          <a:latin typeface="Times New Roman"/>
                          <a:cs typeface="Times New Roman"/>
                          <a:ea typeface="Times New Roman"/>
                        </a:rPr>
                        <a:t>10</a:t>
                      </a:r>
                    </a:p>
                  </a:txBody>
                  <a:tcPr marL="54864" marR="54864" marT="18288" marB="18288" anchor="ctr">
                    <a:solidFill>
                      <a:srgbClr val="F4F7FB"/>
                    </a:solidFill>
                  </a:tcPr>
                </a:tc>
                <a:tc>
                  <a:txBody>
                    <a:bodyPr wrap="square"/>
                    <a:lstStyle/>
                    <a:p>
                      <a:pPr algn="ctr"/>
                      <a:r>
                        <a:rPr sz="1100" b="0" i="0">
                          <a:solidFill>
                            <a:srgbClr val="262626"/>
                          </a:solidFill>
                          <a:latin typeface="Times New Roman"/>
                          <a:cs typeface="Times New Roman"/>
                          <a:ea typeface="Times New Roman"/>
                        </a:rPr>
                        <a:t>2nd</a:t>
                      </a:r>
                    </a:p>
                  </a:txBody>
                  <a:tcPr marL="54864" marR="54864" marT="18288" marB="18288" anchor="ctr">
                    <a:solidFill>
                      <a:srgbClr val="F4F7FB"/>
                    </a:solidFill>
                  </a:tcPr>
                </a:tc>
                <a:tc>
                  <a:txBody>
                    <a:bodyPr wrap="square"/>
                    <a:lstStyle/>
                    <a:p>
                      <a:pPr algn="ctr"/>
                      <a:r>
                        <a:rPr sz="1100" b="0" i="0">
                          <a:solidFill>
                            <a:srgbClr val="262626"/>
                          </a:solidFill>
                          <a:latin typeface="Times New Roman"/>
                          <a:cs typeface="Times New Roman"/>
                          <a:ea typeface="Times New Roman"/>
                        </a:rPr>
                        <a:t>Local Search + gate</a:t>
                      </a:r>
                    </a:p>
                  </a:txBody>
                  <a:tcPr marL="54864" marR="54864" marT="18288" marB="18288" anchor="ctr">
                    <a:solidFill>
                      <a:srgbClr val="F4F7FB"/>
                    </a:solidFill>
                  </a:tcPr>
                </a:tc>
                <a:tc>
                  <a:txBody>
                    <a:bodyPr wrap="square"/>
                    <a:lstStyle/>
                    <a:p>
                      <a:pPr algn="ctr"/>
                      <a:r>
                        <a:rPr sz="1100" b="0" i="0">
                          <a:solidFill>
                            <a:srgbClr val="262626"/>
                          </a:solidFill>
                          <a:latin typeface="Times New Roman"/>
                          <a:cs typeface="Times New Roman"/>
                          <a:ea typeface="Times New Roman"/>
                        </a:rPr>
                        <a:t>yes</a:t>
                      </a:r>
                    </a:p>
                  </a:txBody>
                  <a:tcPr marL="54864" marR="54864" marT="18288" marB="18288" anchor="ctr">
                    <a:lnR w="15875" cap="flat" cmpd="sng" algn="ctr">
                      <a:solidFill>
                        <a:srgbClr val="1F3864"/>
                      </a:solidFill>
                      <a:prstDash val="solid"/>
                    </a:lnR>
                    <a:solidFill>
                      <a:srgbClr val="F4F7FB"/>
                    </a:solidFill>
                  </a:tcPr>
                </a:tc>
              </a:tr>
              <a:tr h="402336">
                <a:tc>
                  <a:txBody>
                    <a:bodyPr wrap="square"/>
                    <a:lstStyle/>
                    <a:p>
                      <a:r>
                        <a:rPr sz="1100" b="1" i="0">
                          <a:solidFill>
                            <a:srgbClr val="262626"/>
                          </a:solidFill>
                          <a:latin typeface="Times New Roman"/>
                          <a:cs typeface="Times New Roman"/>
                          <a:ea typeface="Times New Roman"/>
                        </a:rPr>
                        <a:t>NATS-Bench SSS</a:t>
                      </a:r>
                    </a:p>
                  </a:txBody>
                  <a:tcPr marL="54864" marR="54864" marT="18288" marB="18288" anchor="ctr">
                    <a:lnL w="15875" cap="flat" cmpd="sng" algn="ctr">
                      <a:solidFill>
                        <a:srgbClr val="1F3864"/>
                      </a:solidFill>
                      <a:prstDash val="solid"/>
                    </a:lnL>
                    <a:lnB w="15875" cap="flat" cmpd="sng" algn="ctr">
                      <a:solidFill>
                        <a:srgbClr val="1F3864"/>
                      </a:solidFill>
                      <a:prstDash val="solid"/>
                    </a:lnB>
                    <a:solidFill>
                      <a:srgbClr val="FFFFFF"/>
                    </a:solidFill>
                  </a:tcPr>
                </a:tc>
                <a:tc>
                  <a:txBody>
                    <a:bodyPr wrap="square"/>
                    <a:lstStyle/>
                    <a:p>
                      <a:pPr algn="ctr"/>
                      <a:r>
                        <a:rPr sz="1100" b="0" i="0">
                          <a:solidFill>
                            <a:srgbClr val="262626"/>
                          </a:solidFill>
                          <a:latin typeface="Times New Roman"/>
                          <a:cs typeface="Times New Roman"/>
                          <a:ea typeface="Times New Roman"/>
                        </a:rPr>
                        <a:t>14</a:t>
                      </a:r>
                    </a:p>
                  </a:txBody>
                  <a:tcPr marL="54864" marR="54864" marT="18288" marB="18288" anchor="ctr">
                    <a:lnB w="15875" cap="flat" cmpd="sng" algn="ctr">
                      <a:solidFill>
                        <a:srgbClr val="1F3864"/>
                      </a:solidFill>
                      <a:prstDash val="solid"/>
                    </a:lnB>
                    <a:solidFill>
                      <a:srgbClr val="FFFFFF"/>
                    </a:solidFill>
                  </a:tcPr>
                </a:tc>
                <a:tc>
                  <a:txBody>
                    <a:bodyPr wrap="square"/>
                    <a:lstStyle/>
                    <a:p>
                      <a:pPr algn="ctr"/>
                      <a:r>
                        <a:rPr sz="1100" b="0" i="0">
                          <a:solidFill>
                            <a:srgbClr val="262626"/>
                          </a:solidFill>
                          <a:latin typeface="Times New Roman"/>
                          <a:cs typeface="Times New Roman"/>
                          <a:ea typeface="Times New Roman"/>
                        </a:rPr>
                        <a:t>4th</a:t>
                      </a:r>
                    </a:p>
                  </a:txBody>
                  <a:tcPr marL="54864" marR="54864" marT="18288" marB="18288" anchor="ctr">
                    <a:lnB w="15875" cap="flat" cmpd="sng" algn="ctr">
                      <a:solidFill>
                        <a:srgbClr val="1F3864"/>
                      </a:solidFill>
                      <a:prstDash val="solid"/>
                    </a:lnB>
                    <a:solidFill>
                      <a:srgbClr val="FFFFFF"/>
                    </a:solidFill>
                  </a:tcPr>
                </a:tc>
                <a:tc>
                  <a:txBody>
                    <a:bodyPr wrap="square"/>
                    <a:lstStyle/>
                    <a:p>
                      <a:pPr algn="ctr"/>
                      <a:r>
                        <a:rPr sz="1100" b="0" i="0">
                          <a:solidFill>
                            <a:srgbClr val="262626"/>
                          </a:solidFill>
                          <a:latin typeface="Times New Roman"/>
                          <a:cs typeface="Times New Roman"/>
                          <a:ea typeface="Times New Roman"/>
                        </a:rPr>
                        <a:t>Local Search + gate</a:t>
                      </a:r>
                    </a:p>
                  </a:txBody>
                  <a:tcPr marL="54864" marR="54864" marT="18288" marB="18288" anchor="ctr">
                    <a:lnB w="15875" cap="flat" cmpd="sng" algn="ctr">
                      <a:solidFill>
                        <a:srgbClr val="1F3864"/>
                      </a:solidFill>
                      <a:prstDash val="solid"/>
                    </a:lnB>
                    <a:solidFill>
                      <a:srgbClr val="FFFFFF"/>
                    </a:solidFill>
                  </a:tcPr>
                </a:tc>
                <a:tc>
                  <a:txBody>
                    <a:bodyPr wrap="square"/>
                    <a:lstStyle/>
                    <a:p>
                      <a:pPr algn="ctr"/>
                      <a:r>
                        <a:rPr sz="1100" b="0" i="0">
                          <a:solidFill>
                            <a:srgbClr val="262626"/>
                          </a:solidFill>
                          <a:latin typeface="Times New Roman"/>
                          <a:cs typeface="Times New Roman"/>
                          <a:ea typeface="Times New Roman"/>
                        </a:rPr>
                        <a:t>yes</a:t>
                      </a:r>
                    </a:p>
                  </a:txBody>
                  <a:tcPr marL="54864" marR="54864" marT="18288" marB="18288" anchor="ctr">
                    <a:lnR w="15875" cap="flat" cmpd="sng" algn="ctr">
                      <a:solidFill>
                        <a:srgbClr val="1F3864"/>
                      </a:solidFill>
                      <a:prstDash val="solid"/>
                    </a:lnR>
                    <a:lnB w="15875" cap="flat" cmpd="sng" algn="ctr">
                      <a:solidFill>
                        <a:srgbClr val="1F3864"/>
                      </a:solidFill>
                      <a:prstDash val="solid"/>
                    </a:lnB>
                    <a:solidFill>
                      <a:srgbClr val="FFFFFF"/>
                    </a:solidFill>
                  </a:tcPr>
                </a:tc>
              </a:tr>
            </a:tbl>
          </a:graphicData>
        </a:graphic>
      </p:graphicFrame>
      <p:sp>
        <p:nvSpPr>
          <p:cNvPr id="9" name="Rounded Rectangle 8"/>
          <p:cNvSpPr/>
          <p:nvPr/>
        </p:nvSpPr>
        <p:spPr>
          <a:xfrm>
            <a:off x="6995160" y="3566160"/>
            <a:ext cx="4617720" cy="1325880"/>
          </a:xfrm>
          <a:prstGeom prst="roundRect">
            <a:avLst>
              <a:gd name="adj" fmla="val 12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spcAft>
                <a:spcPts val="200"/>
              </a:spcAft>
            </a:pPr>
            <a:r>
              <a:rPr sz="1400" b="1" i="0">
                <a:solidFill>
                  <a:srgbClr val="002060"/>
                </a:solidFill>
                <a:latin typeface="Times New Roman"/>
                <a:cs typeface="Times New Roman"/>
                <a:ea typeface="Times New Roman"/>
              </a:rPr>
              <a:t>Fairest test: </a:t>
            </a:r>
            <a:r>
              <a:rPr sz="1400" b="0" i="0">
                <a:solidFill>
                  <a:srgbClr val="002060"/>
                </a:solidFill>
                <a:latin typeface="Times New Roman"/>
                <a:cs typeface="Times New Roman"/>
                <a:ea typeface="Times New Roman"/>
              </a:rPr>
              <a:t>same GPU-hour budget for all.</a:t>
            </a:r>
          </a:p>
          <a:p>
            <a:pPr algn="l">
              <a:spcAft>
                <a:spcPts val="200"/>
              </a:spcAft>
            </a:pPr>
            <a:r>
              <a:rPr sz="1100" b="0" i="1">
                <a:solidFill>
                  <a:srgbClr val="595959"/>
                </a:solidFill>
                <a:latin typeface="Times New Roman"/>
                <a:cs typeface="Times New Roman"/>
                <a:ea typeface="Times New Roman"/>
              </a:rPr>
              <a:t>1,128 runs · 12 seeds · Friedman p &lt; 1e-14 · CD = critical difference [16]</a:t>
            </a:r>
          </a:p>
        </p:txBody>
      </p:sp>
      <p:sp>
        <p:nvSpPr>
          <p:cNvPr id="10" name="Rounded Rectangle 9"/>
          <p:cNvSpPr/>
          <p:nvPr/>
        </p:nvSpPr>
        <p:spPr>
          <a:xfrm>
            <a:off x="548640" y="5029200"/>
            <a:ext cx="11064240" cy="1325880"/>
          </a:xfrm>
          <a:prstGeom prst="roundRect">
            <a:avLst>
              <a:gd name="adj" fmla="val 6000"/>
            </a:avLst>
          </a:prstGeom>
          <a:solidFill>
            <a:srgbClr val="F4F7FB"/>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731520" y="5193792"/>
            <a:ext cx="1325880"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300" b="1" i="0">
                <a:solidFill>
                  <a:srgbClr val="FFFFFF"/>
                </a:solidFill>
                <a:latin typeface="Times New Roman"/>
                <a:cs typeface="Times New Roman"/>
                <a:ea typeface="Times New Roman"/>
              </a:rPr>
              <a:t>Inference</a:t>
            </a:r>
          </a:p>
        </p:txBody>
      </p:sp>
      <p:sp>
        <p:nvSpPr>
          <p:cNvPr id="12" name="TextBox 11"/>
          <p:cNvSpPr txBox="1"/>
          <p:nvPr/>
        </p:nvSpPr>
        <p:spPr>
          <a:xfrm>
            <a:off x="2240280" y="5102352"/>
            <a:ext cx="9235440" cy="1179576"/>
          </a:xfrm>
          <a:prstGeom prst="rect">
            <a:avLst/>
          </a:prstGeom>
          <a:noFill/>
        </p:spPr>
        <p:txBody>
          <a:bodyPr wrap="square" anchor="ctr" lIns="45720" rIns="45720" tIns="27432" bIns="27432"/>
          <a:lstStyle/>
          <a:p>
            <a:pPr algn="l" marL="228600" indent="-201168">
              <a:spcAft>
                <a:spcPts val="300"/>
              </a:spcAft>
              <a:buFont typeface="Arial"/>
              <a:buChar char="•"/>
            </a:pPr>
            <a:r>
              <a:rPr sz="1500" b="0" i="0">
                <a:solidFill>
                  <a:srgbClr val="262626"/>
                </a:solidFill>
                <a:latin typeface="Times New Roman"/>
                <a:cs typeface="Times New Roman"/>
                <a:ea typeface="Times New Roman"/>
              </a:rPr>
              <a:t>Tied-best of 14 on NAS-Bench-201 (4.75 vs 4.84); 0 losses vs 13 methods on 3 benchmarks.</a:t>
            </a:r>
          </a:p>
          <a:p>
            <a:pPr algn="l" marL="228600" indent="-201168">
              <a:spcAft>
                <a:spcPts val="300"/>
              </a:spcAft>
              <a:buFont typeface="Arial"/>
              <a:buChar char="•"/>
            </a:pPr>
            <a:r>
              <a:rPr sz="1500" b="0" i="0">
                <a:solidFill>
                  <a:srgbClr val="262626"/>
                </a:solidFill>
                <a:latin typeface="Times New Roman"/>
                <a:cs typeface="Times New Roman"/>
                <a:ea typeface="Times New Roman"/>
              </a:rPr>
              <a:t>2nd / 4th elsewhere, within CD: not significantly worse.</a:t>
            </a:r>
          </a:p>
          <a:p>
            <a:pPr algn="l" marL="228600" indent="-201168">
              <a:spcAft>
                <a:spcPts val="300"/>
              </a:spcAft>
              <a:buFont typeface="Arial"/>
              <a:buChar char="•"/>
            </a:pPr>
            <a:r>
              <a:rPr sz="1500" b="0" i="0">
                <a:solidFill>
                  <a:srgbClr val="262626"/>
                </a:solidFill>
                <a:latin typeface="Times New Roman"/>
                <a:cs typeface="Times New Roman"/>
                <a:ea typeface="Times New Roman"/>
              </a:rPr>
              <a:t>The gate improves every searcher (+0.17 to +0.38 pts).</a:t>
            </a:r>
          </a:p>
        </p:txBody>
      </p:sp>
      <p:sp>
        <p:nvSpPr>
          <p:cNvPr id="13" name="Figure 10 caption"/>
          <p:cNvSpPr txBox="1"/>
          <p:nvPr/>
        </p:nvSpPr>
        <p:spPr>
          <a:xfrm>
            <a:off x="457200" y="4709160"/>
            <a:ext cx="6309360"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10. </a:t>
            </a:r>
            <a:r>
              <a:rPr sz="1100" b="0" i="1">
                <a:solidFill>
                  <a:srgbClr val="262626"/>
                </a:solidFill>
                <a:latin typeface="Times New Roman"/>
                <a:cs typeface="Times New Roman"/>
                <a:ea typeface="Times New Roman"/>
              </a:rPr>
              <a:t>Average rank at equal GPU-hours on NAS-Bench-201 (lower is better).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RESULTS · ABLATIONS</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Result 6: What Actually Helps</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16</a:t>
            </a:r>
          </a:p>
        </p:txBody>
      </p:sp>
      <p:pic>
        <p:nvPicPr>
          <p:cNvPr id="27" name="Chart image 5" descr="chart_16_6.png"/>
          <p:cNvPicPr>
            <a:picLocks noChangeAspect="1"/>
          </p:cNvPicPr>
          <p:nvPr/>
        </p:nvPicPr>
        <p:blipFill>
          <a:blip r:embed="rId4"/>
          <a:stretch>
            <a:fillRect/>
          </a:stretch>
        </p:blipFill>
        <p:spPr>
          <a:xfrm>
            <a:off x="457200" y="1554480"/>
            <a:ext cx="5669280" cy="3108960"/>
          </a:xfrm>
          <a:prstGeom prst="rect">
            <a:avLst/>
          </a:prstGeom>
          <a:ln w="12700">
            <a:solidFill>
              <a:srgbClr val="B8C2D0"/>
            </a:solidFill>
          </a:ln>
        </p:spPr>
      </p:pic>
      <p:sp>
        <p:nvSpPr>
          <p:cNvPr id="7" name="Rounded Rectangle 6"/>
          <p:cNvSpPr/>
          <p:nvPr/>
        </p:nvSpPr>
        <p:spPr>
          <a:xfrm>
            <a:off x="6355080" y="1508760"/>
            <a:ext cx="2514600" cy="155448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64808" y="1563624"/>
            <a:ext cx="2286000" cy="502920"/>
          </a:xfrm>
          <a:prstGeom prst="rect">
            <a:avLst/>
          </a:prstGeom>
          <a:noFill/>
        </p:spPr>
        <p:txBody>
          <a:bodyPr wrap="square" anchor="t" lIns="45720" rIns="45720" tIns="27432" bIns="27432"/>
          <a:lstStyle/>
          <a:p>
            <a:pPr algn="l">
              <a:spcAft>
                <a:spcPts val="400"/>
              </a:spcAft>
            </a:pPr>
            <a:r>
              <a:rPr sz="2400" b="1" i="0">
                <a:solidFill>
                  <a:srgbClr val="2E7D32"/>
                </a:solidFill>
                <a:latin typeface="Times New Roman"/>
                <a:cs typeface="Times New Roman"/>
                <a:ea typeface="Times New Roman"/>
              </a:rPr>
              <a:t>0%</a:t>
            </a:r>
          </a:p>
        </p:txBody>
      </p:sp>
      <p:sp>
        <p:nvSpPr>
          <p:cNvPr id="9" name="TextBox 8"/>
          <p:cNvSpPr txBox="1"/>
          <p:nvPr/>
        </p:nvSpPr>
        <p:spPr>
          <a:xfrm>
            <a:off x="6464808" y="2075688"/>
            <a:ext cx="2286000" cy="320040"/>
          </a:xfrm>
          <a:prstGeom prst="rect">
            <a:avLst/>
          </a:prstGeom>
          <a:noFill/>
        </p:spPr>
        <p:txBody>
          <a:bodyPr wrap="square" anchor="t" lIns="45720" rIns="45720" tIns="27432" bIns="27432"/>
          <a:lstStyle/>
          <a:p>
            <a:pPr algn="l">
              <a:spcAft>
                <a:spcPts val="400"/>
              </a:spcAft>
            </a:pPr>
            <a:r>
              <a:rPr sz="1200" b="1" i="0">
                <a:solidFill>
                  <a:srgbClr val="262626"/>
                </a:solidFill>
                <a:latin typeface="Times New Roman"/>
                <a:cs typeface="Times New Roman"/>
                <a:ea typeface="Times New Roman"/>
              </a:rPr>
              <a:t>duplicate evaluations</a:t>
            </a:r>
          </a:p>
        </p:txBody>
      </p:sp>
      <p:sp>
        <p:nvSpPr>
          <p:cNvPr id="10" name="TextBox 9"/>
          <p:cNvSpPr txBox="1"/>
          <p:nvPr/>
        </p:nvSpPr>
        <p:spPr>
          <a:xfrm>
            <a:off x="6464808" y="2404872"/>
            <a:ext cx="2286000" cy="621792"/>
          </a:xfrm>
          <a:prstGeom prst="rect">
            <a:avLst/>
          </a:prstGeom>
          <a:noFill/>
        </p:spPr>
        <p:txBody>
          <a:bodyPr wrap="square" anchor="t" lIns="45720" rIns="45720" tIns="27432" bIns="27432"/>
          <a:lstStyle/>
          <a:p>
            <a:pPr algn="l">
              <a:spcAft>
                <a:spcPts val="400"/>
              </a:spcAft>
            </a:pPr>
            <a:r>
              <a:rPr sz="1100" b="0" i="0">
                <a:solidFill>
                  <a:srgbClr val="595959"/>
                </a:solidFill>
                <a:latin typeface="Times New Roman"/>
                <a:cs typeface="Times New Roman"/>
                <a:ea typeface="Times New Roman"/>
              </a:rPr>
              <a:t>vs 30–67% in other searches</a:t>
            </a:r>
          </a:p>
        </p:txBody>
      </p:sp>
      <p:sp>
        <p:nvSpPr>
          <p:cNvPr id="11" name="Rounded Rectangle 10"/>
          <p:cNvSpPr/>
          <p:nvPr/>
        </p:nvSpPr>
        <p:spPr>
          <a:xfrm>
            <a:off x="9006840" y="1508760"/>
            <a:ext cx="2514600" cy="155448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16567" y="1563624"/>
            <a:ext cx="2286000" cy="502920"/>
          </a:xfrm>
          <a:prstGeom prst="rect">
            <a:avLst/>
          </a:prstGeom>
          <a:noFill/>
        </p:spPr>
        <p:txBody>
          <a:bodyPr wrap="square" anchor="t" lIns="45720" rIns="45720" tIns="27432" bIns="27432"/>
          <a:lstStyle/>
          <a:p>
            <a:pPr algn="l">
              <a:spcAft>
                <a:spcPts val="400"/>
              </a:spcAft>
            </a:pPr>
            <a:r>
              <a:rPr sz="2400" b="1" i="0">
                <a:solidFill>
                  <a:srgbClr val="002060"/>
                </a:solidFill>
                <a:latin typeface="Times New Roman"/>
                <a:cs typeface="Times New Roman"/>
                <a:ea typeface="Times New Roman"/>
              </a:rPr>
              <a:t>+0.53</a:t>
            </a:r>
          </a:p>
        </p:txBody>
      </p:sp>
      <p:sp>
        <p:nvSpPr>
          <p:cNvPr id="13" name="TextBox 12"/>
          <p:cNvSpPr txBox="1"/>
          <p:nvPr/>
        </p:nvSpPr>
        <p:spPr>
          <a:xfrm>
            <a:off x="9116567" y="2075688"/>
            <a:ext cx="2286000" cy="320040"/>
          </a:xfrm>
          <a:prstGeom prst="rect">
            <a:avLst/>
          </a:prstGeom>
          <a:noFill/>
        </p:spPr>
        <p:txBody>
          <a:bodyPr wrap="square" anchor="t" lIns="45720" rIns="45720" tIns="27432" bIns="27432"/>
          <a:lstStyle/>
          <a:p>
            <a:pPr algn="l">
              <a:spcAft>
                <a:spcPts val="400"/>
              </a:spcAft>
            </a:pPr>
            <a:r>
              <a:rPr sz="1200" b="1" i="0">
                <a:solidFill>
                  <a:srgbClr val="262626"/>
                </a:solidFill>
                <a:latin typeface="Times New Roman"/>
                <a:cs typeface="Times New Roman"/>
                <a:ea typeface="Times New Roman"/>
              </a:rPr>
              <a:t>trie vs flat, no dedup</a:t>
            </a:r>
          </a:p>
        </p:txBody>
      </p:sp>
      <p:sp>
        <p:nvSpPr>
          <p:cNvPr id="14" name="TextBox 13"/>
          <p:cNvSpPr txBox="1"/>
          <p:nvPr/>
        </p:nvSpPr>
        <p:spPr>
          <a:xfrm>
            <a:off x="9116567" y="2404872"/>
            <a:ext cx="2286000" cy="621792"/>
          </a:xfrm>
          <a:prstGeom prst="rect">
            <a:avLst/>
          </a:prstGeom>
          <a:noFill/>
        </p:spPr>
        <p:txBody>
          <a:bodyPr wrap="square" anchor="t" lIns="45720" rIns="45720" tIns="27432" bIns="27432"/>
          <a:lstStyle/>
          <a:p>
            <a:pPr algn="l">
              <a:spcAft>
                <a:spcPts val="400"/>
              </a:spcAft>
            </a:pPr>
            <a:r>
              <a:rPr sz="1100" b="0" i="0">
                <a:solidFill>
                  <a:srgbClr val="595959"/>
                </a:solidFill>
                <a:latin typeface="Times New Roman"/>
                <a:cs typeface="Times New Roman"/>
                <a:ea typeface="Times New Roman"/>
              </a:rPr>
              <a:t>gain comes from dedup</a:t>
            </a:r>
          </a:p>
        </p:txBody>
      </p:sp>
      <p:sp>
        <p:nvSpPr>
          <p:cNvPr id="15" name="Rounded Rectangle 14"/>
          <p:cNvSpPr/>
          <p:nvPr/>
        </p:nvSpPr>
        <p:spPr>
          <a:xfrm>
            <a:off x="6355080" y="3200400"/>
            <a:ext cx="2514600" cy="155448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64808" y="3255264"/>
            <a:ext cx="2286000" cy="502920"/>
          </a:xfrm>
          <a:prstGeom prst="rect">
            <a:avLst/>
          </a:prstGeom>
          <a:noFill/>
        </p:spPr>
        <p:txBody>
          <a:bodyPr wrap="square" anchor="t" lIns="45720" rIns="45720" tIns="27432" bIns="27432"/>
          <a:lstStyle/>
          <a:p>
            <a:pPr algn="l">
              <a:spcAft>
                <a:spcPts val="400"/>
              </a:spcAft>
            </a:pPr>
            <a:r>
              <a:rPr sz="2400" b="1" i="0">
                <a:solidFill>
                  <a:srgbClr val="002060"/>
                </a:solidFill>
                <a:latin typeface="Times New Roman"/>
                <a:cs typeface="Times New Roman"/>
                <a:ea typeface="Times New Roman"/>
              </a:rPr>
              <a:t>+0.06</a:t>
            </a:r>
          </a:p>
        </p:txBody>
      </p:sp>
      <p:sp>
        <p:nvSpPr>
          <p:cNvPr id="17" name="TextBox 16"/>
          <p:cNvSpPr txBox="1"/>
          <p:nvPr/>
        </p:nvSpPr>
        <p:spPr>
          <a:xfrm>
            <a:off x="6464808" y="3767328"/>
            <a:ext cx="2286000" cy="320040"/>
          </a:xfrm>
          <a:prstGeom prst="rect">
            <a:avLst/>
          </a:prstGeom>
          <a:noFill/>
        </p:spPr>
        <p:txBody>
          <a:bodyPr wrap="square" anchor="t" lIns="45720" rIns="45720" tIns="27432" bIns="27432"/>
          <a:lstStyle/>
          <a:p>
            <a:pPr algn="l">
              <a:spcAft>
                <a:spcPts val="400"/>
              </a:spcAft>
            </a:pPr>
            <a:r>
              <a:rPr sz="1200" b="1" i="0">
                <a:solidFill>
                  <a:srgbClr val="262626"/>
                </a:solidFill>
                <a:latin typeface="Times New Roman"/>
                <a:cs typeface="Times New Roman"/>
                <a:ea typeface="Times New Roman"/>
              </a:rPr>
              <a:t>trie vs flat, with dedup</a:t>
            </a:r>
          </a:p>
        </p:txBody>
      </p:sp>
      <p:sp>
        <p:nvSpPr>
          <p:cNvPr id="18" name="TextBox 17"/>
          <p:cNvSpPr txBox="1"/>
          <p:nvPr/>
        </p:nvSpPr>
        <p:spPr>
          <a:xfrm>
            <a:off x="6464808" y="4096512"/>
            <a:ext cx="2286000" cy="621792"/>
          </a:xfrm>
          <a:prstGeom prst="rect">
            <a:avLst/>
          </a:prstGeom>
          <a:noFill/>
        </p:spPr>
        <p:txBody>
          <a:bodyPr wrap="square" anchor="t" lIns="45720" rIns="45720" tIns="27432" bIns="27432"/>
          <a:lstStyle/>
          <a:p>
            <a:pPr algn="l">
              <a:spcAft>
                <a:spcPts val="400"/>
              </a:spcAft>
            </a:pPr>
            <a:r>
              <a:rPr sz="1100" b="0" i="0">
                <a:solidFill>
                  <a:srgbClr val="595959"/>
                </a:solidFill>
                <a:latin typeface="Times New Roman"/>
                <a:cs typeface="Times New Roman"/>
                <a:ea typeface="Times New Roman"/>
              </a:rPr>
              <a:t>tree shape adds little</a:t>
            </a:r>
          </a:p>
        </p:txBody>
      </p:sp>
      <p:sp>
        <p:nvSpPr>
          <p:cNvPr id="19" name="Rounded Rectangle 18"/>
          <p:cNvSpPr/>
          <p:nvPr/>
        </p:nvSpPr>
        <p:spPr>
          <a:xfrm>
            <a:off x="9006840" y="3200400"/>
            <a:ext cx="2514600" cy="155448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16567" y="3255264"/>
            <a:ext cx="2286000" cy="502920"/>
          </a:xfrm>
          <a:prstGeom prst="rect">
            <a:avLst/>
          </a:prstGeom>
          <a:noFill/>
        </p:spPr>
        <p:txBody>
          <a:bodyPr wrap="square" anchor="t" lIns="45720" rIns="45720" tIns="27432" bIns="27432"/>
          <a:lstStyle/>
          <a:p>
            <a:pPr algn="l">
              <a:spcAft>
                <a:spcPts val="400"/>
              </a:spcAft>
            </a:pPr>
            <a:r>
              <a:rPr sz="2400" b="1" i="0">
                <a:solidFill>
                  <a:srgbClr val="002060"/>
                </a:solidFill>
                <a:latin typeface="Times New Roman"/>
                <a:cs typeface="Times New Roman"/>
                <a:ea typeface="Times New Roman"/>
              </a:rPr>
              <a:t>0 / 78</a:t>
            </a:r>
          </a:p>
        </p:txBody>
      </p:sp>
      <p:sp>
        <p:nvSpPr>
          <p:cNvPr id="21" name="TextBox 20"/>
          <p:cNvSpPr txBox="1"/>
          <p:nvPr/>
        </p:nvSpPr>
        <p:spPr>
          <a:xfrm>
            <a:off x="9116567" y="3767328"/>
            <a:ext cx="2286000" cy="320040"/>
          </a:xfrm>
          <a:prstGeom prst="rect">
            <a:avLst/>
          </a:prstGeom>
          <a:noFill/>
        </p:spPr>
        <p:txBody>
          <a:bodyPr wrap="square" anchor="t" lIns="45720" rIns="45720" tIns="27432" bIns="27432"/>
          <a:lstStyle/>
          <a:p>
            <a:pPr algn="l">
              <a:spcAft>
                <a:spcPts val="400"/>
              </a:spcAft>
            </a:pPr>
            <a:r>
              <a:rPr sz="1200" b="1" i="0">
                <a:solidFill>
                  <a:srgbClr val="262626"/>
                </a:solidFill>
                <a:latin typeface="Times New Roman"/>
                <a:cs typeface="Times New Roman"/>
                <a:ea typeface="Times New Roman"/>
              </a:rPr>
              <a:t>UCB-constant tests significant</a:t>
            </a:r>
          </a:p>
        </p:txBody>
      </p:sp>
      <p:sp>
        <p:nvSpPr>
          <p:cNvPr id="22" name="TextBox 21"/>
          <p:cNvSpPr txBox="1"/>
          <p:nvPr/>
        </p:nvSpPr>
        <p:spPr>
          <a:xfrm>
            <a:off x="9116567" y="4096512"/>
            <a:ext cx="2286000" cy="621792"/>
          </a:xfrm>
          <a:prstGeom prst="rect">
            <a:avLst/>
          </a:prstGeom>
          <a:noFill/>
        </p:spPr>
        <p:txBody>
          <a:bodyPr wrap="square" anchor="t" lIns="45720" rIns="45720" tIns="27432" bIns="27432"/>
          <a:lstStyle/>
          <a:p>
            <a:pPr algn="l">
              <a:spcAft>
                <a:spcPts val="400"/>
              </a:spcAft>
            </a:pPr>
            <a:r>
              <a:rPr sz="1100" b="0" i="0">
                <a:solidFill>
                  <a:srgbClr val="595959"/>
                </a:solidFill>
                <a:latin typeface="Times New Roman"/>
                <a:cs typeface="Times New Roman"/>
                <a:ea typeface="Times New Roman"/>
              </a:rPr>
              <a:t>robust to C</a:t>
            </a:r>
          </a:p>
        </p:txBody>
      </p:sp>
      <p:sp>
        <p:nvSpPr>
          <p:cNvPr id="23" name="Rounded Rectangle 22"/>
          <p:cNvSpPr/>
          <p:nvPr/>
        </p:nvSpPr>
        <p:spPr>
          <a:xfrm>
            <a:off x="548640" y="5029200"/>
            <a:ext cx="11064240" cy="1325880"/>
          </a:xfrm>
          <a:prstGeom prst="roundRect">
            <a:avLst>
              <a:gd name="adj" fmla="val 6000"/>
            </a:avLst>
          </a:prstGeom>
          <a:solidFill>
            <a:srgbClr val="F4F7FB"/>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731520" y="5193792"/>
            <a:ext cx="1325880"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300" b="1" i="0">
                <a:solidFill>
                  <a:srgbClr val="FFFFFF"/>
                </a:solidFill>
                <a:latin typeface="Times New Roman"/>
                <a:cs typeface="Times New Roman"/>
                <a:ea typeface="Times New Roman"/>
              </a:rPr>
              <a:t>Inference</a:t>
            </a:r>
          </a:p>
        </p:txBody>
      </p:sp>
      <p:sp>
        <p:nvSpPr>
          <p:cNvPr id="25" name="TextBox 24"/>
          <p:cNvSpPr txBox="1"/>
          <p:nvPr/>
        </p:nvSpPr>
        <p:spPr>
          <a:xfrm>
            <a:off x="2240280" y="5102352"/>
            <a:ext cx="9235440" cy="1179576"/>
          </a:xfrm>
          <a:prstGeom prst="rect">
            <a:avLst/>
          </a:prstGeom>
          <a:noFill/>
        </p:spPr>
        <p:txBody>
          <a:bodyPr wrap="square" anchor="ctr" lIns="45720" rIns="45720" tIns="27432" bIns="27432"/>
          <a:lstStyle/>
          <a:p>
            <a:pPr algn="l" marL="228600" indent="-201168">
              <a:spcAft>
                <a:spcPts val="300"/>
              </a:spcAft>
              <a:buFont typeface="Arial"/>
              <a:buChar char="•"/>
            </a:pPr>
            <a:r>
              <a:rPr sz="1500" b="0" i="0">
                <a:solidFill>
                  <a:srgbClr val="262626"/>
                </a:solidFill>
                <a:latin typeface="Times New Roman"/>
                <a:cs typeface="Times New Roman"/>
                <a:ea typeface="Times New Roman"/>
              </a:rPr>
              <a:t>Rank reward adds +0.45 pts, mutation +0.18: v2 beats v1.</a:t>
            </a:r>
          </a:p>
          <a:p>
            <a:pPr algn="l" marL="228600" indent="-201168">
              <a:spcAft>
                <a:spcPts val="300"/>
              </a:spcAft>
              <a:buFont typeface="Arial"/>
              <a:buChar char="•"/>
            </a:pPr>
            <a:r>
              <a:rPr sz="1500" b="0" i="0">
                <a:solidFill>
                  <a:srgbClr val="262626"/>
                </a:solidFill>
                <a:latin typeface="Times New Roman"/>
                <a:cs typeface="Times New Roman"/>
                <a:ea typeface="Times New Roman"/>
              </a:rPr>
              <a:t>v2 ties regularized evolution [28] with 12–19% fewer GPU-hours.</a:t>
            </a:r>
          </a:p>
          <a:p>
            <a:pPr algn="l" marL="228600" indent="-201168">
              <a:spcAft>
                <a:spcPts val="300"/>
              </a:spcAft>
              <a:buFont typeface="Arial"/>
              <a:buChar char="•"/>
            </a:pPr>
            <a:r>
              <a:rPr sz="1500" b="0" i="0">
                <a:solidFill>
                  <a:srgbClr val="262626"/>
                </a:solidFill>
                <a:latin typeface="Times New Roman"/>
                <a:cs typeface="Times New Roman"/>
                <a:ea typeface="Times New Roman"/>
              </a:rPr>
              <a:t>The trie helps through deduplication, not tree shape.</a:t>
            </a:r>
          </a:p>
        </p:txBody>
      </p:sp>
      <p:sp>
        <p:nvSpPr>
          <p:cNvPr id="26" name="Figure 11 caption"/>
          <p:cNvSpPr txBox="1"/>
          <p:nvPr/>
        </p:nvSpPr>
        <p:spPr>
          <a:xfrm>
            <a:off x="457200" y="4709160"/>
            <a:ext cx="5669280"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11. </a:t>
            </a:r>
            <a:r>
              <a:rPr sz="1100" b="0" i="1">
                <a:solidFill>
                  <a:srgbClr val="262626"/>
                </a:solidFill>
                <a:latin typeface="Times New Roman"/>
                <a:cs typeface="Times New Roman"/>
                <a:ea typeface="Times New Roman"/>
              </a:rPr>
              <a:t>Test-accuracy gain over v1 from each design change (12 held-out seeds).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RESULTS · LLM PRIOR</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Result 7: Does the LLM Prior Help?</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17</a:t>
            </a:r>
          </a:p>
        </p:txBody>
      </p:sp>
      <p:pic>
        <p:nvPicPr>
          <p:cNvPr id="14" name="Chart image 5" descr="chart_17_7.png"/>
          <p:cNvPicPr>
            <a:picLocks noChangeAspect="1"/>
          </p:cNvPicPr>
          <p:nvPr/>
        </p:nvPicPr>
        <p:blipFill>
          <a:blip r:embed="rId4"/>
          <a:stretch>
            <a:fillRect/>
          </a:stretch>
        </p:blipFill>
        <p:spPr>
          <a:xfrm>
            <a:off x="457200" y="1444752"/>
            <a:ext cx="5486400" cy="3246120"/>
          </a:xfrm>
          <a:prstGeom prst="rect">
            <a:avLst/>
          </a:prstGeom>
          <a:ln w="12700">
            <a:solidFill>
              <a:srgbClr val="B8C2D0"/>
            </a:solidFill>
          </a:ln>
        </p:spPr>
      </p:pic>
      <p:sp>
        <p:nvSpPr>
          <p:cNvPr id="7" name="Table 6 caption"/>
          <p:cNvSpPr txBox="1"/>
          <p:nvPr/>
        </p:nvSpPr>
        <p:spPr>
          <a:xfrm>
            <a:off x="6172200" y="1463040"/>
            <a:ext cx="5440680" cy="256032"/>
          </a:xfrm>
          <a:prstGeom prst="rect">
            <a:avLst/>
          </a:prstGeom>
          <a:noFill/>
        </p:spPr>
        <p:txBody>
          <a:bodyPr wrap="square" anchor="t" lIns="0" rIns="0" tIns="27432" bIns="27432"/>
          <a:lstStyle/>
          <a:p>
            <a:pPr algn="ctr">
              <a:spcAft>
                <a:spcPts val="400"/>
              </a:spcAft>
            </a:pPr>
            <a:r>
              <a:rPr sz="1150" b="1" i="0">
                <a:solidFill>
                  <a:srgbClr val="002060"/>
                </a:solidFill>
                <a:latin typeface="Times New Roman"/>
                <a:cs typeface="Times New Roman"/>
                <a:ea typeface="Times New Roman"/>
              </a:rPr>
              <a:t>Table 6. </a:t>
            </a:r>
            <a:r>
              <a:rPr sz="1150" b="0" i="0">
                <a:solidFill>
                  <a:srgbClr val="002060"/>
                </a:solidFill>
                <a:latin typeface="Times New Roman"/>
                <a:cs typeface="Times New Roman"/>
                <a:ea typeface="Times New Roman"/>
              </a:rPr>
              <a:t>Memorisation check: does the LLM just remember NAS-Bench-201 [20]?</a:t>
            </a:r>
          </a:p>
        </p:txBody>
      </p:sp>
      <p:graphicFrame>
        <p:nvGraphicFramePr>
          <p:cNvPr id="8" name="Table 7"/>
          <p:cNvGraphicFramePr>
            <a:graphicFrameLocks noGrp="1"/>
          </p:cNvGraphicFramePr>
          <p:nvPr/>
        </p:nvGraphicFramePr>
        <p:xfrm>
          <a:off x="6172200" y="1828800"/>
          <a:ext cx="5440680" cy="2194560"/>
        </p:xfrm>
        <a:graphic>
          <a:graphicData uri="http://schemas.openxmlformats.org/drawingml/2006/table">
            <a:tbl>
              <a:tblPr firstRow="1" bandRow="0">
                <a:tableStyleId>{5C22544A-7EE6-4342-B048-85BDC9FD1C3A}</a:tableStyleId>
              </a:tblPr>
              <a:tblGrid>
                <a:gridCol w="1234440"/>
                <a:gridCol w="1828800"/>
                <a:gridCol w="640080"/>
                <a:gridCol w="1737360"/>
              </a:tblGrid>
              <a:tr h="548640">
                <a:tc>
                  <a:txBody>
                    <a:bodyPr wrap="square"/>
                    <a:lstStyle/>
                    <a:p>
                      <a:pPr algn="l"/>
                      <a:r>
                        <a:rPr sz="1300" b="1" i="0">
                          <a:solidFill>
                            <a:srgbClr val="FFFFFF"/>
                          </a:solidFill>
                          <a:latin typeface="Times New Roman"/>
                          <a:cs typeface="Times New Roman"/>
                          <a:ea typeface="Times New Roman"/>
                        </a:rPr>
                        <a:t>Prompt</a:t>
                      </a:r>
                    </a:p>
                  </a:txBody>
                  <a:tcPr marL="54864" marR="54864" marT="18288" marB="18288" anchor="ctr">
                    <a:lnL w="15875" cap="flat" cmpd="sng" algn="ctr">
                      <a:solidFill>
                        <a:srgbClr val="1F3864"/>
                      </a:solidFill>
                      <a:prstDash val="solid"/>
                    </a:lnL>
                    <a:lnT w="15875" cap="flat" cmpd="sng" algn="ctr">
                      <a:solidFill>
                        <a:srgbClr val="1F3864"/>
                      </a:solidFill>
                      <a:prstDash val="solid"/>
                    </a:lnT>
                    <a:solidFill>
                      <a:srgbClr val="1F3864"/>
                    </a:solidFill>
                  </a:tcPr>
                </a:tc>
                <a:tc>
                  <a:txBody>
                    <a:bodyPr wrap="square"/>
                    <a:lstStyle/>
                    <a:p>
                      <a:pPr algn="l"/>
                      <a:r>
                        <a:rPr sz="1300" b="1" i="0">
                          <a:solidFill>
                            <a:srgbClr val="FFFFFF"/>
                          </a:solidFill>
                          <a:latin typeface="Times New Roman"/>
                          <a:cs typeface="Times New Roman"/>
                          <a:ea typeface="Times New Roman"/>
                        </a:rPr>
                        <a:t>What the LLM sees</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300" b="1" i="0">
                          <a:solidFill>
                            <a:srgbClr val="FFFFFF"/>
                          </a:solidFill>
                          <a:latin typeface="Times New Roman"/>
                          <a:cs typeface="Times New Roman"/>
                          <a:ea typeface="Times New Roman"/>
                        </a:rPr>
                        <a:t>ρ</a:t>
                      </a:r>
                    </a:p>
                  </a:txBody>
                  <a:tcPr marL="54864" marR="54864" marT="18288" marB="18288" anchor="ctr">
                    <a:lnT w="15875" cap="flat" cmpd="sng" algn="ctr">
                      <a:solidFill>
                        <a:srgbClr val="1F3864"/>
                      </a:solidFill>
                      <a:prstDash val="solid"/>
                    </a:lnT>
                    <a:solidFill>
                      <a:srgbClr val="1F3864"/>
                    </a:solidFill>
                  </a:tcPr>
                </a:tc>
                <a:tc>
                  <a:txBody>
                    <a:bodyPr wrap="square"/>
                    <a:lstStyle/>
                    <a:p>
                      <a:pPr algn="l"/>
                      <a:r>
                        <a:rPr sz="1300" b="1" i="0">
                          <a:solidFill>
                            <a:srgbClr val="FFFFFF"/>
                          </a:solidFill>
                          <a:latin typeface="Times New Roman"/>
                          <a:cs typeface="Times New Roman"/>
                          <a:ea typeface="Times New Roman"/>
                        </a:rPr>
                        <a:t>What it tells us</a:t>
                      </a:r>
                    </a:p>
                  </a:txBody>
                  <a:tcPr marL="54864" marR="54864" marT="18288" marB="18288" anchor="ctr">
                    <a:lnR w="15875" cap="flat" cmpd="sng" algn="ctr">
                      <a:solidFill>
                        <a:srgbClr val="1F3864"/>
                      </a:solidFill>
                      <a:prstDash val="solid"/>
                    </a:lnR>
                    <a:lnT w="15875" cap="flat" cmpd="sng" algn="ctr">
                      <a:solidFill>
                        <a:srgbClr val="1F3864"/>
                      </a:solidFill>
                      <a:prstDash val="solid"/>
                    </a:lnT>
                    <a:solidFill>
                      <a:srgbClr val="1F3864"/>
                    </a:solidFill>
                  </a:tcPr>
                </a:tc>
              </a:tr>
              <a:tr h="548640">
                <a:tc>
                  <a:txBody>
                    <a:bodyPr wrap="square"/>
                    <a:lstStyle/>
                    <a:p>
                      <a:pPr algn="l"/>
                      <a:r>
                        <a:rPr sz="1300" b="1" i="0">
                          <a:solidFill>
                            <a:srgbClr val="262626"/>
                          </a:solidFill>
                          <a:latin typeface="Times New Roman"/>
                          <a:cs typeface="Times New Roman"/>
                          <a:ea typeface="Times New Roman"/>
                        </a:rPr>
                        <a:t>Anonymous</a:t>
                      </a:r>
                    </a:p>
                  </a:txBody>
                  <a:tcPr marL="54864" marR="54864" marT="18288" marB="18288" anchor="ctr">
                    <a:lnL w="15875" cap="flat" cmpd="sng" algn="ctr">
                      <a:solidFill>
                        <a:srgbClr val="1F3864"/>
                      </a:solidFill>
                      <a:prstDash val="solid"/>
                    </a:lnL>
                    <a:solidFill>
                      <a:srgbClr val="FFFFFF"/>
                    </a:solidFill>
                  </a:tcPr>
                </a:tc>
                <a:tc>
                  <a:txBody>
                    <a:bodyPr wrap="square"/>
                    <a:lstStyle/>
                    <a:p>
                      <a:pPr algn="l"/>
                      <a:r>
                        <a:rPr sz="1300" b="0" i="0">
                          <a:solidFill>
                            <a:srgbClr val="262626"/>
                          </a:solidFill>
                          <a:latin typeface="Times New Roman"/>
                          <a:cs typeface="Times New Roman"/>
                          <a:ea typeface="Times New Roman"/>
                        </a:rPr>
                        <a:t>op_A … op_E</a:t>
                      </a:r>
                    </a:p>
                  </a:txBody>
                  <a:tcPr marL="54864" marR="54864" marT="18288" marB="18288" anchor="ctr">
                    <a:solidFill>
                      <a:srgbClr val="FFFFFF"/>
                    </a:solidFill>
                  </a:tcPr>
                </a:tc>
                <a:tc>
                  <a:txBody>
                    <a:bodyPr wrap="square"/>
                    <a:lstStyle/>
                    <a:p>
                      <a:pPr algn="ctr"/>
                      <a:r>
                        <a:rPr sz="1300" b="0" i="0">
                          <a:solidFill>
                            <a:srgbClr val="262626"/>
                          </a:solidFill>
                          <a:latin typeface="Times New Roman"/>
                          <a:cs typeface="Times New Roman"/>
                          <a:ea typeface="Times New Roman"/>
                        </a:rPr>
                        <a:t>0.14</a:t>
                      </a:r>
                    </a:p>
                  </a:txBody>
                  <a:tcPr marL="54864" marR="54864" marT="18288" marB="18288" anchor="ctr">
                    <a:solidFill>
                      <a:srgbClr val="FFFFFF"/>
                    </a:solidFill>
                  </a:tcPr>
                </a:tc>
                <a:tc>
                  <a:txBody>
                    <a:bodyPr wrap="square"/>
                    <a:lstStyle/>
                    <a:p>
                      <a:pPr algn="l"/>
                      <a:r>
                        <a:rPr sz="1300" b="0" i="0">
                          <a:solidFill>
                            <a:srgbClr val="262626"/>
                          </a:solidFill>
                          <a:latin typeface="Times New Roman"/>
                          <a:cs typeface="Times New Roman"/>
                          <a:ea typeface="Times New Roman"/>
                        </a:rPr>
                        <a:t>≈ chance</a:t>
                      </a:r>
                    </a:p>
                  </a:txBody>
                  <a:tcPr marL="54864" marR="54864" marT="18288" marB="18288" anchor="ctr">
                    <a:lnR w="15875" cap="flat" cmpd="sng" algn="ctr">
                      <a:solidFill>
                        <a:srgbClr val="1F3864"/>
                      </a:solidFill>
                      <a:prstDash val="solid"/>
                    </a:lnR>
                    <a:solidFill>
                      <a:srgbClr val="FFFFFF"/>
                    </a:solidFill>
                  </a:tcPr>
                </a:tc>
              </a:tr>
              <a:tr h="548640">
                <a:tc>
                  <a:txBody>
                    <a:bodyPr wrap="square"/>
                    <a:lstStyle/>
                    <a:p>
                      <a:pPr algn="l"/>
                      <a:r>
                        <a:rPr sz="1300" b="1" i="0">
                          <a:solidFill>
                            <a:srgbClr val="262626"/>
                          </a:solidFill>
                          <a:latin typeface="Times New Roman"/>
                          <a:cs typeface="Times New Roman"/>
                          <a:ea typeface="Times New Roman"/>
                        </a:rPr>
                        <a:t>Standard</a:t>
                      </a:r>
                    </a:p>
                  </a:txBody>
                  <a:tcPr marL="54864" marR="54864" marT="18288" marB="18288" anchor="ctr">
                    <a:lnL w="15875" cap="flat" cmpd="sng" algn="ctr">
                      <a:solidFill>
                        <a:srgbClr val="1F3864"/>
                      </a:solidFill>
                      <a:prstDash val="solid"/>
                    </a:lnL>
                    <a:solidFill>
                      <a:srgbClr val="F4F7FB"/>
                    </a:solidFill>
                  </a:tcPr>
                </a:tc>
                <a:tc>
                  <a:txBody>
                    <a:bodyPr wrap="square"/>
                    <a:lstStyle/>
                    <a:p>
                      <a:pPr algn="l"/>
                      <a:r>
                        <a:rPr sz="1300" b="0" i="0">
                          <a:solidFill>
                            <a:srgbClr val="262626"/>
                          </a:solidFill>
                          <a:latin typeface="Times New Roman"/>
                          <a:cs typeface="Times New Roman"/>
                          <a:ea typeface="Times New Roman"/>
                        </a:rPr>
                        <a:t>conv_3x3, skip …</a:t>
                      </a:r>
                    </a:p>
                  </a:txBody>
                  <a:tcPr marL="54864" marR="54864" marT="18288" marB="18288" anchor="ctr">
                    <a:solidFill>
                      <a:srgbClr val="F4F7FB"/>
                    </a:solidFill>
                  </a:tcPr>
                </a:tc>
                <a:tc>
                  <a:txBody>
                    <a:bodyPr wrap="square"/>
                    <a:lstStyle/>
                    <a:p>
                      <a:pPr algn="ctr"/>
                      <a:r>
                        <a:rPr sz="1300" b="0" i="0">
                          <a:solidFill>
                            <a:srgbClr val="262626"/>
                          </a:solidFill>
                          <a:latin typeface="Times New Roman"/>
                          <a:cs typeface="Times New Roman"/>
                          <a:ea typeface="Times New Roman"/>
                        </a:rPr>
                        <a:t>0.57</a:t>
                      </a:r>
                    </a:p>
                  </a:txBody>
                  <a:tcPr marL="54864" marR="54864" marT="18288" marB="18288" anchor="ctr">
                    <a:solidFill>
                      <a:srgbClr val="F4F7FB"/>
                    </a:solidFill>
                  </a:tcPr>
                </a:tc>
                <a:tc>
                  <a:txBody>
                    <a:bodyPr wrap="square"/>
                    <a:lstStyle/>
                    <a:p>
                      <a:pPr algn="l"/>
                      <a:r>
                        <a:rPr sz="1300" b="0" i="0">
                          <a:solidFill>
                            <a:srgbClr val="262626"/>
                          </a:solidFill>
                          <a:latin typeface="Times New Roman"/>
                          <a:cs typeface="Times New Roman"/>
                          <a:ea typeface="Times New Roman"/>
                        </a:rPr>
                        <a:t>good</a:t>
                      </a:r>
                    </a:p>
                  </a:txBody>
                  <a:tcPr marL="54864" marR="54864" marT="18288" marB="18288" anchor="ctr">
                    <a:lnR w="15875" cap="flat" cmpd="sng" algn="ctr">
                      <a:solidFill>
                        <a:srgbClr val="1F3864"/>
                      </a:solidFill>
                      <a:prstDash val="solid"/>
                    </a:lnR>
                    <a:solidFill>
                      <a:srgbClr val="F4F7FB"/>
                    </a:solidFill>
                  </a:tcPr>
                </a:tc>
              </a:tr>
              <a:tr h="548640">
                <a:tc>
                  <a:txBody>
                    <a:bodyPr wrap="square"/>
                    <a:lstStyle/>
                    <a:p>
                      <a:pPr algn="l"/>
                      <a:r>
                        <a:rPr sz="1300" b="1" i="0">
                          <a:solidFill>
                            <a:srgbClr val="262626"/>
                          </a:solidFill>
                          <a:latin typeface="Times New Roman"/>
                          <a:cs typeface="Times New Roman"/>
                          <a:ea typeface="Times New Roman"/>
                        </a:rPr>
                        <a:t>Described</a:t>
                      </a:r>
                    </a:p>
                  </a:txBody>
                  <a:tcPr marL="54864" marR="54864" marT="18288" marB="18288" anchor="ctr">
                    <a:lnL w="15875" cap="flat" cmpd="sng" algn="ctr">
                      <a:solidFill>
                        <a:srgbClr val="1F3864"/>
                      </a:solidFill>
                      <a:prstDash val="solid"/>
                    </a:lnL>
                    <a:lnB w="15875" cap="flat" cmpd="sng" algn="ctr">
                      <a:solidFill>
                        <a:srgbClr val="1F3864"/>
                      </a:solidFill>
                      <a:prstDash val="solid"/>
                    </a:lnB>
                    <a:solidFill>
                      <a:srgbClr val="FFFFFF"/>
                    </a:solidFill>
                  </a:tcPr>
                </a:tc>
                <a:tc>
                  <a:txBody>
                    <a:bodyPr wrap="square"/>
                    <a:lstStyle/>
                    <a:p>
                      <a:pPr algn="l"/>
                      <a:r>
                        <a:rPr sz="1300" b="0" i="0">
                          <a:solidFill>
                            <a:srgbClr val="262626"/>
                          </a:solidFill>
                          <a:latin typeface="Times New Roman"/>
                          <a:cs typeface="Times New Roman"/>
                          <a:ea typeface="Times New Roman"/>
                        </a:rPr>
                        <a:t>op meaning only</a:t>
                      </a:r>
                    </a:p>
                  </a:txBody>
                  <a:tcPr marL="54864" marR="54864" marT="18288" marB="18288" anchor="ctr">
                    <a:lnB w="15875" cap="flat" cmpd="sng" algn="ctr">
                      <a:solidFill>
                        <a:srgbClr val="1F3864"/>
                      </a:solidFill>
                      <a:prstDash val="solid"/>
                    </a:lnB>
                    <a:solidFill>
                      <a:srgbClr val="FFFFFF"/>
                    </a:solidFill>
                  </a:tcPr>
                </a:tc>
                <a:tc>
                  <a:txBody>
                    <a:bodyPr wrap="square"/>
                    <a:lstStyle/>
                    <a:p>
                      <a:pPr algn="ctr"/>
                      <a:r>
                        <a:rPr sz="1300" b="1" i="0">
                          <a:solidFill>
                            <a:srgbClr val="2E7D32"/>
                          </a:solidFill>
                          <a:latin typeface="Times New Roman"/>
                          <a:cs typeface="Times New Roman"/>
                          <a:ea typeface="Times New Roman"/>
                        </a:rPr>
                        <a:t>0.70</a:t>
                      </a:r>
                    </a:p>
                  </a:txBody>
                  <a:tcPr marL="54864" marR="54864" marT="18288" marB="18288" anchor="ctr">
                    <a:lnB w="15875" cap="flat" cmpd="sng" algn="ctr">
                      <a:solidFill>
                        <a:srgbClr val="1F3864"/>
                      </a:solidFill>
                      <a:prstDash val="solid"/>
                    </a:lnB>
                    <a:solidFill>
                      <a:srgbClr val="FFFFFF"/>
                    </a:solidFill>
                  </a:tcPr>
                </a:tc>
                <a:tc>
                  <a:txBody>
                    <a:bodyPr wrap="square"/>
                    <a:lstStyle/>
                    <a:p>
                      <a:pPr algn="l"/>
                      <a:r>
                        <a:rPr sz="1300" b="0" i="0">
                          <a:solidFill>
                            <a:srgbClr val="262626"/>
                          </a:solidFill>
                          <a:latin typeface="Times New Roman"/>
                          <a:cs typeface="Times New Roman"/>
                          <a:ea typeface="Times New Roman"/>
                        </a:rPr>
                        <a:t>best: real knowledge</a:t>
                      </a:r>
                    </a:p>
                  </a:txBody>
                  <a:tcPr marL="54864" marR="54864" marT="18288" marB="18288" anchor="ctr">
                    <a:lnR w="15875" cap="flat" cmpd="sng" algn="ctr">
                      <a:solidFill>
                        <a:srgbClr val="1F3864"/>
                      </a:solidFill>
                      <a:prstDash val="solid"/>
                    </a:lnR>
                    <a:lnB w="15875" cap="flat" cmpd="sng" algn="ctr">
                      <a:solidFill>
                        <a:srgbClr val="1F3864"/>
                      </a:solidFill>
                      <a:prstDash val="solid"/>
                    </a:lnB>
                    <a:solidFill>
                      <a:srgbClr val="FFFFFF"/>
                    </a:solidFill>
                  </a:tcPr>
                </a:tc>
              </a:tr>
            </a:tbl>
          </a:graphicData>
        </a:graphic>
      </p:graphicFrame>
      <p:sp>
        <p:nvSpPr>
          <p:cNvPr id="9" name="TextBox 8"/>
          <p:cNvSpPr txBox="1"/>
          <p:nvPr/>
        </p:nvSpPr>
        <p:spPr>
          <a:xfrm>
            <a:off x="6172200" y="4279392"/>
            <a:ext cx="5440680" cy="640080"/>
          </a:xfrm>
          <a:prstGeom prst="rect">
            <a:avLst/>
          </a:prstGeom>
          <a:noFill/>
        </p:spPr>
        <p:txBody>
          <a:bodyPr wrap="square" anchor="t" lIns="45720" rIns="45720" tIns="27432" bIns="27432"/>
          <a:lstStyle/>
          <a:p>
            <a:pPr algn="l">
              <a:spcAft>
                <a:spcPts val="400"/>
              </a:spcAft>
            </a:pPr>
            <a:r>
              <a:rPr sz="1100" b="1" i="1">
                <a:solidFill>
                  <a:srgbClr val="595959"/>
                </a:solidFill>
                <a:latin typeface="Times New Roman"/>
                <a:cs typeface="Times New Roman"/>
                <a:ea typeface="Times New Roman"/>
              </a:rPr>
              <a:t>ρ </a:t>
            </a:r>
            <a:r>
              <a:rPr sz="1100" b="0" i="1">
                <a:solidFill>
                  <a:srgbClr val="595959"/>
                </a:solidFill>
                <a:latin typeface="Times New Roman"/>
                <a:cs typeface="Times New Roman"/>
                <a:ea typeface="Times New Roman"/>
              </a:rPr>
              <a:t>= LLM op ranking vs true ranking (0 = random, 1 = perfect).</a:t>
            </a:r>
          </a:p>
        </p:txBody>
      </p:sp>
      <p:sp>
        <p:nvSpPr>
          <p:cNvPr id="10" name="Rounded Rectangle 9"/>
          <p:cNvSpPr/>
          <p:nvPr/>
        </p:nvSpPr>
        <p:spPr>
          <a:xfrm>
            <a:off x="548640" y="5029200"/>
            <a:ext cx="11064240" cy="1325880"/>
          </a:xfrm>
          <a:prstGeom prst="roundRect">
            <a:avLst>
              <a:gd name="adj" fmla="val 6000"/>
            </a:avLst>
          </a:prstGeom>
          <a:solidFill>
            <a:srgbClr val="F4F7FB"/>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731520" y="5193792"/>
            <a:ext cx="1325880"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300" b="1" i="0">
                <a:solidFill>
                  <a:srgbClr val="FFFFFF"/>
                </a:solidFill>
                <a:latin typeface="Times New Roman"/>
                <a:cs typeface="Times New Roman"/>
                <a:ea typeface="Times New Roman"/>
              </a:rPr>
              <a:t>Inference</a:t>
            </a:r>
          </a:p>
        </p:txBody>
      </p:sp>
      <p:sp>
        <p:nvSpPr>
          <p:cNvPr id="12" name="TextBox 11"/>
          <p:cNvSpPr txBox="1"/>
          <p:nvPr/>
        </p:nvSpPr>
        <p:spPr>
          <a:xfrm>
            <a:off x="2240280" y="5102352"/>
            <a:ext cx="9235440" cy="1179576"/>
          </a:xfrm>
          <a:prstGeom prst="rect">
            <a:avLst/>
          </a:prstGeom>
          <a:noFill/>
        </p:spPr>
        <p:txBody>
          <a:bodyPr wrap="square" anchor="ctr" lIns="45720" rIns="45720" tIns="27432" bIns="27432"/>
          <a:lstStyle/>
          <a:p>
            <a:pPr algn="l" marL="228600" indent="-201168">
              <a:spcAft>
                <a:spcPts val="300"/>
              </a:spcAft>
              <a:buFont typeface="Arial"/>
              <a:buChar char="•"/>
            </a:pPr>
            <a:r>
              <a:rPr sz="1500" b="0" i="0">
                <a:solidFill>
                  <a:srgbClr val="262626"/>
                </a:solidFill>
                <a:latin typeface="Times New Roman"/>
                <a:cs typeface="Times New Roman"/>
                <a:ea typeface="Times New Roman"/>
              </a:rPr>
              <a:t>3× faster on CIFAR-10, 2× on CIFAR-100 (p = 0.047).</a:t>
            </a:r>
          </a:p>
          <a:p>
            <a:pPr algn="l" marL="228600" indent="-201168">
              <a:spcAft>
                <a:spcPts val="300"/>
              </a:spcAft>
              <a:buFont typeface="Arial"/>
              <a:buChar char="•"/>
            </a:pPr>
            <a:r>
              <a:rPr sz="1500" b="0" i="0">
                <a:solidFill>
                  <a:srgbClr val="262626"/>
                </a:solidFill>
                <a:latin typeface="Times New Roman"/>
                <a:cs typeface="Times New Roman"/>
                <a:ea typeface="Times New Roman"/>
              </a:rPr>
              <a:t>No gain on ImageNet16-120 or in final accuracy: a warm-start only.</a:t>
            </a:r>
          </a:p>
          <a:p>
            <a:pPr algn="l" marL="228600" indent="-201168">
              <a:spcAft>
                <a:spcPts val="300"/>
              </a:spcAft>
              <a:buFont typeface="Arial"/>
              <a:buChar char="•"/>
            </a:pPr>
            <a:r>
              <a:rPr sz="1500" b="0" i="0">
                <a:solidFill>
                  <a:srgbClr val="262626"/>
                </a:solidFill>
                <a:latin typeface="Times New Roman"/>
                <a:cs typeface="Times New Roman"/>
                <a:ea typeface="Times New Roman"/>
              </a:rPr>
              <a:t>Descriptions beat names → general knowledge, not memorisation.</a:t>
            </a:r>
          </a:p>
        </p:txBody>
      </p:sp>
      <p:sp>
        <p:nvSpPr>
          <p:cNvPr id="13" name="Figure 12 caption"/>
          <p:cNvSpPr txBox="1"/>
          <p:nvPr/>
        </p:nvSpPr>
        <p:spPr>
          <a:xfrm>
            <a:off x="457200" y="4709160"/>
            <a:ext cx="5486400"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12. </a:t>
            </a:r>
            <a:r>
              <a:rPr sz="1100" b="0" i="1">
                <a:solidFill>
                  <a:srgbClr val="262626"/>
                </a:solidFill>
                <a:latin typeface="Times New Roman"/>
                <a:cs typeface="Times New Roman"/>
                <a:ea typeface="Times New Roman"/>
              </a:rPr>
              <a:t>Evaluations needed to reach within 1 pt of the final result, per prior.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RESULTS · HW-NAS-BENCH</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Result 8: Hardware-Aware Search</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18</a:t>
            </a:r>
          </a:p>
        </p:txBody>
      </p:sp>
      <p:pic>
        <p:nvPicPr>
          <p:cNvPr id="23" name="Chart image 5" descr="chart_18_8.png"/>
          <p:cNvPicPr>
            <a:picLocks noChangeAspect="1"/>
          </p:cNvPicPr>
          <p:nvPr/>
        </p:nvPicPr>
        <p:blipFill>
          <a:blip r:embed="rId4"/>
          <a:stretch>
            <a:fillRect/>
          </a:stretch>
        </p:blipFill>
        <p:spPr>
          <a:xfrm>
            <a:off x="457200" y="1444752"/>
            <a:ext cx="6583680" cy="3246120"/>
          </a:xfrm>
          <a:prstGeom prst="rect">
            <a:avLst/>
          </a:prstGeom>
          <a:ln w="12700">
            <a:solidFill>
              <a:srgbClr val="B8C2D0"/>
            </a:solidFill>
          </a:ln>
        </p:spPr>
      </p:pic>
      <p:sp>
        <p:nvSpPr>
          <p:cNvPr id="7" name="Rounded Rectangle 6"/>
          <p:cNvSpPr/>
          <p:nvPr/>
        </p:nvSpPr>
        <p:spPr>
          <a:xfrm>
            <a:off x="7269480" y="1536192"/>
            <a:ext cx="2103120" cy="16002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79208" y="1627632"/>
            <a:ext cx="1883664" cy="502920"/>
          </a:xfrm>
          <a:prstGeom prst="rect">
            <a:avLst/>
          </a:prstGeom>
          <a:noFill/>
        </p:spPr>
        <p:txBody>
          <a:bodyPr wrap="square" anchor="t" lIns="45720" rIns="45720" tIns="27432" bIns="27432"/>
          <a:lstStyle/>
          <a:p>
            <a:pPr algn="l">
              <a:spcAft>
                <a:spcPts val="400"/>
              </a:spcAft>
            </a:pPr>
            <a:r>
              <a:rPr sz="2200" b="1" i="0">
                <a:solidFill>
                  <a:srgbClr val="002060"/>
                </a:solidFill>
                <a:latin typeface="Times New Roman"/>
                <a:cs typeface="Times New Roman"/>
                <a:ea typeface="Times New Roman"/>
              </a:rPr>
              <a:t>96 / 96</a:t>
            </a:r>
          </a:p>
        </p:txBody>
      </p:sp>
      <p:sp>
        <p:nvSpPr>
          <p:cNvPr id="9" name="TextBox 8"/>
          <p:cNvSpPr txBox="1"/>
          <p:nvPr/>
        </p:nvSpPr>
        <p:spPr>
          <a:xfrm>
            <a:off x="7379208" y="2176272"/>
            <a:ext cx="1883664" cy="914400"/>
          </a:xfrm>
          <a:prstGeom prst="rect">
            <a:avLst/>
          </a:prstGeom>
          <a:noFill/>
        </p:spPr>
        <p:txBody>
          <a:bodyPr wrap="square" anchor="t" lIns="45720" rIns="45720" tIns="27432" bIns="27432"/>
          <a:lstStyle/>
          <a:p>
            <a:pPr algn="l">
              <a:spcAft>
                <a:spcPts val="400"/>
              </a:spcAft>
            </a:pPr>
            <a:r>
              <a:rPr sz="1200" b="0" i="0">
                <a:solidFill>
                  <a:srgbClr val="262626"/>
                </a:solidFill>
                <a:latin typeface="Times New Roman"/>
                <a:cs typeface="Times New Roman"/>
                <a:ea typeface="Times New Roman"/>
              </a:rPr>
              <a:t>ties vs random and NSGA-II</a:t>
            </a:r>
          </a:p>
        </p:txBody>
      </p:sp>
      <p:sp>
        <p:nvSpPr>
          <p:cNvPr id="10" name="Rounded Rectangle 9"/>
          <p:cNvSpPr/>
          <p:nvPr/>
        </p:nvSpPr>
        <p:spPr>
          <a:xfrm>
            <a:off x="9491472" y="1536192"/>
            <a:ext cx="2103120" cy="16002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601200" y="1627632"/>
            <a:ext cx="1883664" cy="502920"/>
          </a:xfrm>
          <a:prstGeom prst="rect">
            <a:avLst/>
          </a:prstGeom>
          <a:noFill/>
        </p:spPr>
        <p:txBody>
          <a:bodyPr wrap="square" anchor="t" lIns="45720" rIns="45720" tIns="27432" bIns="27432"/>
          <a:lstStyle/>
          <a:p>
            <a:pPr algn="l">
              <a:spcAft>
                <a:spcPts val="400"/>
              </a:spcAft>
            </a:pPr>
            <a:r>
              <a:rPr sz="2200" b="1" i="0">
                <a:solidFill>
                  <a:srgbClr val="002060"/>
                </a:solidFill>
                <a:latin typeface="Times New Roman"/>
                <a:cs typeface="Times New Roman"/>
                <a:ea typeface="Times New Roman"/>
              </a:rPr>
              <a:t>~0.13</a:t>
            </a:r>
          </a:p>
        </p:txBody>
      </p:sp>
      <p:sp>
        <p:nvSpPr>
          <p:cNvPr id="12" name="TextBox 11"/>
          <p:cNvSpPr txBox="1"/>
          <p:nvPr/>
        </p:nvSpPr>
        <p:spPr>
          <a:xfrm>
            <a:off x="9601200" y="2176272"/>
            <a:ext cx="1883664" cy="914400"/>
          </a:xfrm>
          <a:prstGeom prst="rect">
            <a:avLst/>
          </a:prstGeom>
          <a:noFill/>
        </p:spPr>
        <p:txBody>
          <a:bodyPr wrap="square" anchor="t" lIns="45720" rIns="45720" tIns="27432" bIns="27432"/>
          <a:lstStyle/>
          <a:p>
            <a:pPr algn="l">
              <a:spcAft>
                <a:spcPts val="400"/>
              </a:spcAft>
            </a:pPr>
            <a:r>
              <a:rPr sz="1200" b="0" i="0">
                <a:solidFill>
                  <a:srgbClr val="262626"/>
                </a:solidFill>
                <a:latin typeface="Times New Roman"/>
                <a:cs typeface="Times New Roman"/>
                <a:ea typeface="Times New Roman"/>
              </a:rPr>
              <a:t>overlap of device fronts</a:t>
            </a:r>
          </a:p>
        </p:txBody>
      </p:sp>
      <p:sp>
        <p:nvSpPr>
          <p:cNvPr id="13" name="Rounded Rectangle 12"/>
          <p:cNvSpPr/>
          <p:nvPr/>
        </p:nvSpPr>
        <p:spPr>
          <a:xfrm>
            <a:off x="7269480" y="3273552"/>
            <a:ext cx="2103120" cy="16002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79208" y="3364992"/>
            <a:ext cx="1883664" cy="502920"/>
          </a:xfrm>
          <a:prstGeom prst="rect">
            <a:avLst/>
          </a:prstGeom>
          <a:noFill/>
        </p:spPr>
        <p:txBody>
          <a:bodyPr wrap="square" anchor="t" lIns="45720" rIns="45720" tIns="27432" bIns="27432"/>
          <a:lstStyle/>
          <a:p>
            <a:pPr algn="l">
              <a:spcAft>
                <a:spcPts val="400"/>
              </a:spcAft>
            </a:pPr>
            <a:r>
              <a:rPr sz="2200" b="1" i="0">
                <a:solidFill>
                  <a:srgbClr val="002060"/>
                </a:solidFill>
                <a:latin typeface="Times New Roman"/>
                <a:cs typeface="Times New Roman"/>
                <a:ea typeface="Times New Roman"/>
              </a:rPr>
              <a:t>1 of 15,625</a:t>
            </a:r>
          </a:p>
        </p:txBody>
      </p:sp>
      <p:sp>
        <p:nvSpPr>
          <p:cNvPr id="15" name="TextBox 14"/>
          <p:cNvSpPr txBox="1"/>
          <p:nvPr/>
        </p:nvSpPr>
        <p:spPr>
          <a:xfrm>
            <a:off x="7379208" y="3913632"/>
            <a:ext cx="1883664" cy="914400"/>
          </a:xfrm>
          <a:prstGeom prst="rect">
            <a:avLst/>
          </a:prstGeom>
          <a:noFill/>
        </p:spPr>
        <p:txBody>
          <a:bodyPr wrap="square" anchor="t" lIns="45720" rIns="45720" tIns="27432" bIns="27432"/>
          <a:lstStyle/>
          <a:p>
            <a:pPr algn="l">
              <a:spcAft>
                <a:spcPts val="400"/>
              </a:spcAft>
            </a:pPr>
            <a:r>
              <a:rPr sz="1200" b="0" i="0">
                <a:solidFill>
                  <a:srgbClr val="262626"/>
                </a:solidFill>
                <a:latin typeface="Times New Roman"/>
                <a:cs typeface="Times New Roman"/>
                <a:ea typeface="Times New Roman"/>
              </a:rPr>
              <a:t>designs optimal on all devices</a:t>
            </a:r>
          </a:p>
        </p:txBody>
      </p:sp>
      <p:sp>
        <p:nvSpPr>
          <p:cNvPr id="16" name="Rounded Rectangle 15"/>
          <p:cNvSpPr/>
          <p:nvPr/>
        </p:nvSpPr>
        <p:spPr>
          <a:xfrm>
            <a:off x="9491472" y="3273552"/>
            <a:ext cx="2103120" cy="16002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601200" y="3364992"/>
            <a:ext cx="1883664" cy="502920"/>
          </a:xfrm>
          <a:prstGeom prst="rect">
            <a:avLst/>
          </a:prstGeom>
          <a:noFill/>
        </p:spPr>
        <p:txBody>
          <a:bodyPr wrap="square" anchor="t" lIns="45720" rIns="45720" tIns="27432" bIns="27432"/>
          <a:lstStyle/>
          <a:p>
            <a:pPr algn="l">
              <a:spcAft>
                <a:spcPts val="400"/>
              </a:spcAft>
            </a:pPr>
            <a:r>
              <a:rPr sz="2200" b="1" i="0">
                <a:solidFill>
                  <a:srgbClr val="002060"/>
                </a:solidFill>
                <a:latin typeface="Times New Roman"/>
                <a:cs typeface="Times New Roman"/>
                <a:ea typeface="Times New Roman"/>
              </a:rPr>
              <a:t>~98%</a:t>
            </a:r>
          </a:p>
        </p:txBody>
      </p:sp>
      <p:sp>
        <p:nvSpPr>
          <p:cNvPr id="18" name="TextBox 17"/>
          <p:cNvSpPr txBox="1"/>
          <p:nvPr/>
        </p:nvSpPr>
        <p:spPr>
          <a:xfrm>
            <a:off x="9601200" y="3913632"/>
            <a:ext cx="1883664" cy="914400"/>
          </a:xfrm>
          <a:prstGeom prst="rect">
            <a:avLst/>
          </a:prstGeom>
          <a:noFill/>
        </p:spPr>
        <p:txBody>
          <a:bodyPr wrap="square" anchor="t" lIns="45720" rIns="45720" tIns="27432" bIns="27432"/>
          <a:lstStyle/>
          <a:p>
            <a:pPr algn="l">
              <a:spcAft>
                <a:spcPts val="400"/>
              </a:spcAft>
            </a:pPr>
            <a:r>
              <a:rPr sz="1200" b="0" i="0">
                <a:solidFill>
                  <a:srgbClr val="262626"/>
                </a:solidFill>
                <a:latin typeface="Times New Roman"/>
                <a:cs typeface="Times New Roman"/>
                <a:ea typeface="Times New Roman"/>
              </a:rPr>
              <a:t>HV kept when a front is reused</a:t>
            </a:r>
          </a:p>
        </p:txBody>
      </p:sp>
      <p:sp>
        <p:nvSpPr>
          <p:cNvPr id="19" name="Rounded Rectangle 18"/>
          <p:cNvSpPr/>
          <p:nvPr/>
        </p:nvSpPr>
        <p:spPr>
          <a:xfrm>
            <a:off x="548640" y="5029200"/>
            <a:ext cx="11064240" cy="1325880"/>
          </a:xfrm>
          <a:prstGeom prst="roundRect">
            <a:avLst>
              <a:gd name="adj" fmla="val 6000"/>
            </a:avLst>
          </a:prstGeom>
          <a:solidFill>
            <a:srgbClr val="F4F7FB"/>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731520" y="5193792"/>
            <a:ext cx="1325880" cy="384048"/>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300" b="1" i="0">
                <a:solidFill>
                  <a:srgbClr val="FFFFFF"/>
                </a:solidFill>
                <a:latin typeface="Times New Roman"/>
                <a:cs typeface="Times New Roman"/>
                <a:ea typeface="Times New Roman"/>
              </a:rPr>
              <a:t>Inference</a:t>
            </a:r>
          </a:p>
        </p:txBody>
      </p:sp>
      <p:sp>
        <p:nvSpPr>
          <p:cNvPr id="21" name="TextBox 20"/>
          <p:cNvSpPr txBox="1"/>
          <p:nvPr/>
        </p:nvSpPr>
        <p:spPr>
          <a:xfrm>
            <a:off x="2240280" y="5102352"/>
            <a:ext cx="9235440" cy="1179576"/>
          </a:xfrm>
          <a:prstGeom prst="rect">
            <a:avLst/>
          </a:prstGeom>
          <a:noFill/>
        </p:spPr>
        <p:txBody>
          <a:bodyPr wrap="square" anchor="ctr" lIns="45720" rIns="45720" tIns="27432" bIns="27432"/>
          <a:lstStyle/>
          <a:p>
            <a:pPr algn="l" marL="228600" indent="-201168">
              <a:spcAft>
                <a:spcPts val="300"/>
              </a:spcAft>
              <a:buFont typeface="Arial"/>
              <a:buChar char="•"/>
            </a:pPr>
            <a:r>
              <a:rPr sz="1500" b="0" i="0">
                <a:solidFill>
                  <a:srgbClr val="262626"/>
                </a:solidFill>
                <a:latin typeface="Times New Roman"/>
                <a:cs typeface="Times New Roman"/>
                <a:ea typeface="Times New Roman"/>
              </a:rPr>
              <a:t>HV rises with budget on all 6 devices (best FPGA, lowest Raspberry Pi 4).</a:t>
            </a:r>
          </a:p>
          <a:p>
            <a:pPr algn="l" marL="228600" indent="-201168">
              <a:spcAft>
                <a:spcPts val="300"/>
              </a:spcAft>
              <a:buFont typeface="Arial"/>
              <a:buChar char="•"/>
            </a:pPr>
            <a:r>
              <a:rPr sz="1500" b="0" i="0">
                <a:solidFill>
                  <a:srgbClr val="262626"/>
                </a:solidFill>
                <a:latin typeface="Times New Roman"/>
                <a:cs typeface="Times New Roman"/>
                <a:ea typeface="Times New Roman"/>
              </a:rPr>
              <a:t>Ties random and NSGA-II [32]: no hardware search advantage.</a:t>
            </a:r>
          </a:p>
          <a:p>
            <a:pPr algn="l" marL="228600" indent="-201168">
              <a:spcAft>
                <a:spcPts val="300"/>
              </a:spcAft>
              <a:buFont typeface="Arial"/>
              <a:buChar char="•"/>
            </a:pPr>
            <a:r>
              <a:rPr sz="1500" b="0" i="0">
                <a:solidFill>
                  <a:srgbClr val="262626"/>
                </a:solidFill>
                <a:latin typeface="Times New Roman"/>
                <a:cs typeface="Times New Roman"/>
                <a:ea typeface="Times New Roman"/>
              </a:rPr>
              <a:t>Each device needs its own front; reuse keeps ~98% HV.</a:t>
            </a:r>
          </a:p>
        </p:txBody>
      </p:sp>
      <p:sp>
        <p:nvSpPr>
          <p:cNvPr id="22" name="Figure 13 caption"/>
          <p:cNvSpPr txBox="1"/>
          <p:nvPr/>
        </p:nvSpPr>
        <p:spPr>
          <a:xfrm>
            <a:off x="457200" y="4709160"/>
            <a:ext cx="6583680" cy="237744"/>
          </a:xfrm>
          <a:prstGeom prst="rect">
            <a:avLst/>
          </a:prstGeom>
          <a:noFill/>
        </p:spPr>
        <p:txBody>
          <a:bodyPr wrap="square" anchor="t" lIns="0" rIns="0" tIns="27432" bIns="27432"/>
          <a:lstStyle/>
          <a:p>
            <a:pPr algn="ctr">
              <a:spcAft>
                <a:spcPts val="400"/>
              </a:spcAft>
            </a:pPr>
            <a:r>
              <a:rPr sz="1100" b="1" i="0">
                <a:solidFill>
                  <a:srgbClr val="262626"/>
                </a:solidFill>
                <a:latin typeface="Times New Roman"/>
                <a:cs typeface="Times New Roman"/>
                <a:ea typeface="Times New Roman"/>
              </a:rPr>
              <a:t>Fig. 13. </a:t>
            </a:r>
            <a:r>
              <a:rPr sz="1100" b="0" i="1">
                <a:solidFill>
                  <a:srgbClr val="262626"/>
                </a:solidFill>
                <a:latin typeface="Times New Roman"/>
                <a:cs typeface="Times New Roman"/>
                <a:ea typeface="Times New Roman"/>
              </a:rPr>
              <a:t>Hypervolume of the accuracy–latency front per device and budget (HW-NAS-Bench [13]).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COMPARISON</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Existing vs Proposed</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19</a:t>
            </a:r>
          </a:p>
        </p:txBody>
      </p:sp>
      <p:sp>
        <p:nvSpPr>
          <p:cNvPr id="6" name="Table 7 caption"/>
          <p:cNvSpPr txBox="1"/>
          <p:nvPr/>
        </p:nvSpPr>
        <p:spPr>
          <a:xfrm>
            <a:off x="548640" y="1463040"/>
            <a:ext cx="11064240" cy="256032"/>
          </a:xfrm>
          <a:prstGeom prst="rect">
            <a:avLst/>
          </a:prstGeom>
          <a:noFill/>
        </p:spPr>
        <p:txBody>
          <a:bodyPr wrap="square" anchor="t" lIns="0" rIns="0" tIns="27432" bIns="27432"/>
          <a:lstStyle/>
          <a:p>
            <a:pPr algn="ctr">
              <a:spcAft>
                <a:spcPts val="400"/>
              </a:spcAft>
            </a:pPr>
            <a:r>
              <a:rPr sz="1150" b="1" i="0">
                <a:solidFill>
                  <a:srgbClr val="002060"/>
                </a:solidFill>
                <a:latin typeface="Times New Roman"/>
                <a:cs typeface="Times New Roman"/>
                <a:ea typeface="Times New Roman"/>
              </a:rPr>
              <a:t>Table 7. </a:t>
            </a:r>
            <a:r>
              <a:rPr sz="1150" b="0" i="0">
                <a:solidFill>
                  <a:srgbClr val="002060"/>
                </a:solidFill>
                <a:latin typeface="Times New Roman"/>
                <a:cs typeface="Times New Roman"/>
                <a:ea typeface="Times New Roman"/>
              </a:rPr>
              <a:t>Comparison of existing NAS methods [1], [28], [34], [35], [36], [31] with the proposed approach</a:t>
            </a:r>
          </a:p>
        </p:txBody>
      </p:sp>
      <p:graphicFrame>
        <p:nvGraphicFramePr>
          <p:cNvPr id="7" name="Table 6"/>
          <p:cNvGraphicFramePr>
            <a:graphicFrameLocks noGrp="1"/>
          </p:cNvGraphicFramePr>
          <p:nvPr/>
        </p:nvGraphicFramePr>
        <p:xfrm>
          <a:off x="548640" y="1755648"/>
          <a:ext cx="11064240" cy="4443984"/>
        </p:xfrm>
        <a:graphic>
          <a:graphicData uri="http://schemas.openxmlformats.org/drawingml/2006/table">
            <a:tbl>
              <a:tblPr firstRow="1" bandRow="0">
                <a:tableStyleId>{5C22544A-7EE6-4342-B048-85BDC9FD1C3A}</a:tableStyleId>
              </a:tblPr>
              <a:tblGrid>
                <a:gridCol w="3017520"/>
                <a:gridCol w="3657600"/>
                <a:gridCol w="4389120"/>
              </a:tblGrid>
              <a:tr h="493776">
                <a:tc>
                  <a:txBody>
                    <a:bodyPr wrap="square"/>
                    <a:lstStyle/>
                    <a:p>
                      <a:pPr algn="l"/>
                      <a:r>
                        <a:rPr sz="1600" b="1" i="0">
                          <a:solidFill>
                            <a:srgbClr val="FFFFFF"/>
                          </a:solidFill>
                          <a:latin typeface="Times New Roman"/>
                          <a:cs typeface="Times New Roman"/>
                          <a:ea typeface="Times New Roman"/>
                        </a:rPr>
                        <a:t>Aspect</a:t>
                      </a:r>
                    </a:p>
                  </a:txBody>
                  <a:tcPr marL="54864" marR="54864" marT="18288" marB="18288" anchor="ctr">
                    <a:lnL w="15875" cap="flat" cmpd="sng" algn="ctr">
                      <a:solidFill>
                        <a:srgbClr val="1F3864"/>
                      </a:solidFill>
                      <a:prstDash val="solid"/>
                    </a:lnL>
                    <a:lnT w="15875" cap="flat" cmpd="sng" algn="ctr">
                      <a:solidFill>
                        <a:srgbClr val="1F3864"/>
                      </a:solidFill>
                      <a:prstDash val="solid"/>
                    </a:lnT>
                    <a:solidFill>
                      <a:srgbClr val="1F3864"/>
                    </a:solidFill>
                  </a:tcPr>
                </a:tc>
                <a:tc>
                  <a:txBody>
                    <a:bodyPr wrap="square"/>
                    <a:lstStyle/>
                    <a:p>
                      <a:pPr algn="l"/>
                      <a:r>
                        <a:rPr sz="1600" b="1" i="0">
                          <a:solidFill>
                            <a:srgbClr val="FFFFFF"/>
                          </a:solidFill>
                          <a:latin typeface="Times New Roman"/>
                          <a:cs typeface="Times New Roman"/>
                          <a:ea typeface="Times New Roman"/>
                        </a:rPr>
                        <a:t>Existing NAS methods</a:t>
                      </a:r>
                    </a:p>
                  </a:txBody>
                  <a:tcPr marL="54864" marR="54864" marT="18288" marB="18288" anchor="ctr">
                    <a:lnT w="15875" cap="flat" cmpd="sng" algn="ctr">
                      <a:solidFill>
                        <a:srgbClr val="1F3864"/>
                      </a:solidFill>
                      <a:prstDash val="solid"/>
                    </a:lnT>
                    <a:solidFill>
                      <a:srgbClr val="1F3864"/>
                    </a:solidFill>
                  </a:tcPr>
                </a:tc>
                <a:tc>
                  <a:txBody>
                    <a:bodyPr wrap="square"/>
                    <a:lstStyle/>
                    <a:p>
                      <a:pPr algn="l"/>
                      <a:r>
                        <a:rPr sz="1600" b="1" i="0">
                          <a:solidFill>
                            <a:srgbClr val="FFFFFF"/>
                          </a:solidFill>
                          <a:latin typeface="Times New Roman"/>
                          <a:cs typeface="Times New Roman"/>
                          <a:ea typeface="Times New Roman"/>
                        </a:rPr>
                        <a:t>ArchTree-LLM (proposed)</a:t>
                      </a:r>
                    </a:p>
                  </a:txBody>
                  <a:tcPr marL="54864" marR="54864" marT="18288" marB="18288" anchor="ctr">
                    <a:lnR w="15875" cap="flat" cmpd="sng" algn="ctr">
                      <a:solidFill>
                        <a:srgbClr val="1F3864"/>
                      </a:solidFill>
                      <a:prstDash val="solid"/>
                    </a:lnR>
                    <a:lnT w="15875" cap="flat" cmpd="sng" algn="ctr">
                      <a:solidFill>
                        <a:srgbClr val="1F3864"/>
                      </a:solidFill>
                      <a:prstDash val="solid"/>
                    </a:lnT>
                    <a:solidFill>
                      <a:srgbClr val="1F3864"/>
                    </a:solidFill>
                  </a:tcPr>
                </a:tc>
              </a:tr>
              <a:tr h="493776">
                <a:tc>
                  <a:txBody>
                    <a:bodyPr wrap="square"/>
                    <a:lstStyle/>
                    <a:p>
                      <a:pPr algn="l"/>
                      <a:r>
                        <a:rPr sz="1600" b="1" i="0">
                          <a:solidFill>
                            <a:srgbClr val="262626"/>
                          </a:solidFill>
                          <a:latin typeface="Times New Roman"/>
                          <a:cs typeface="Times New Roman"/>
                          <a:ea typeface="Times New Roman"/>
                        </a:rPr>
                        <a:t>Duplicate evaluations</a:t>
                      </a:r>
                    </a:p>
                  </a:txBody>
                  <a:tcPr marL="54864" marR="54864" marT="18288" marB="18288" anchor="ctr">
                    <a:lnL w="15875" cap="flat" cmpd="sng" algn="ctr">
                      <a:solidFill>
                        <a:srgbClr val="1F3864"/>
                      </a:solidFill>
                      <a:prstDash val="solid"/>
                    </a:lnL>
                    <a:solidFill>
                      <a:srgbClr val="FFFFFF"/>
                    </a:solidFill>
                  </a:tcPr>
                </a:tc>
                <a:tc>
                  <a:txBody>
                    <a:bodyPr wrap="square"/>
                    <a:lstStyle/>
                    <a:p>
                      <a:pPr algn="l"/>
                      <a:r>
                        <a:rPr sz="1600" b="0" i="0">
                          <a:solidFill>
                            <a:srgbClr val="262626"/>
                          </a:solidFill>
                          <a:latin typeface="Times New Roman"/>
                          <a:cs typeface="Times New Roman"/>
                          <a:ea typeface="Times New Roman"/>
                        </a:rPr>
                        <a:t>30–67% repeats</a:t>
                      </a:r>
                    </a:p>
                  </a:txBody>
                  <a:tcPr marL="54864" marR="54864" marT="18288" marB="18288" anchor="ctr">
                    <a:solidFill>
                      <a:srgbClr val="FFFFFF"/>
                    </a:solidFill>
                  </a:tcPr>
                </a:tc>
                <a:tc>
                  <a:txBody>
                    <a:bodyPr wrap="square"/>
                    <a:lstStyle/>
                    <a:p>
                      <a:pPr algn="l"/>
                      <a:r>
                        <a:rPr sz="1600" b="0" i="0">
                          <a:solidFill>
                            <a:srgbClr val="262626"/>
                          </a:solidFill>
                          <a:latin typeface="Times New Roman"/>
                          <a:cs typeface="Times New Roman"/>
                          <a:ea typeface="Times New Roman"/>
                        </a:rPr>
                        <a:t>0 (trie)</a:t>
                      </a:r>
                    </a:p>
                  </a:txBody>
                  <a:tcPr marL="54864" marR="54864" marT="18288" marB="18288" anchor="ctr">
                    <a:lnR w="15875" cap="flat" cmpd="sng" algn="ctr">
                      <a:solidFill>
                        <a:srgbClr val="1F3864"/>
                      </a:solidFill>
                      <a:prstDash val="solid"/>
                    </a:lnR>
                    <a:solidFill>
                      <a:srgbClr val="FFFFFF"/>
                    </a:solidFill>
                  </a:tcPr>
                </a:tc>
              </a:tr>
              <a:tr h="493776">
                <a:tc>
                  <a:txBody>
                    <a:bodyPr wrap="square"/>
                    <a:lstStyle/>
                    <a:p>
                      <a:pPr algn="l"/>
                      <a:r>
                        <a:rPr sz="1600" b="1" i="0">
                          <a:solidFill>
                            <a:srgbClr val="262626"/>
                          </a:solidFill>
                          <a:latin typeface="Times New Roman"/>
                          <a:cs typeface="Times New Roman"/>
                          <a:ea typeface="Times New Roman"/>
                        </a:rPr>
                        <a:t>Filtering</a:t>
                      </a:r>
                    </a:p>
                  </a:txBody>
                  <a:tcPr marL="54864" marR="54864" marT="18288" marB="18288" anchor="ctr">
                    <a:lnL w="15875" cap="flat" cmpd="sng" algn="ctr">
                      <a:solidFill>
                        <a:srgbClr val="1F3864"/>
                      </a:solidFill>
                      <a:prstDash val="solid"/>
                    </a:lnL>
                    <a:solidFill>
                      <a:srgbClr val="F4F7FB"/>
                    </a:solidFill>
                  </a:tcPr>
                </a:tc>
                <a:tc>
                  <a:txBody>
                    <a:bodyPr wrap="square"/>
                    <a:lstStyle/>
                    <a:p>
                      <a:pPr algn="l"/>
                      <a:r>
                        <a:rPr sz="1600" b="0" i="0">
                          <a:solidFill>
                            <a:srgbClr val="262626"/>
                          </a:solidFill>
                          <a:latin typeface="Times New Roman"/>
                          <a:cs typeface="Times New Roman"/>
                          <a:ea typeface="Times New Roman"/>
                        </a:rPr>
                        <a:t>Train all, or rank by proxy</a:t>
                      </a:r>
                    </a:p>
                  </a:txBody>
                  <a:tcPr marL="54864" marR="54864" marT="18288" marB="18288" anchor="ctr">
                    <a:solidFill>
                      <a:srgbClr val="F4F7FB"/>
                    </a:solidFill>
                  </a:tcPr>
                </a:tc>
                <a:tc>
                  <a:txBody>
                    <a:bodyPr wrap="square"/>
                    <a:lstStyle/>
                    <a:p>
                      <a:pPr algn="l"/>
                      <a:r>
                        <a:rPr sz="1600" b="0" i="0">
                          <a:solidFill>
                            <a:srgbClr val="262626"/>
                          </a:solidFill>
                          <a:latin typeface="Times New Roman"/>
                          <a:cs typeface="Times New Roman"/>
                          <a:ea typeface="Times New Roman"/>
                        </a:rPr>
                        <a:t>Label-free gate (top 35%)</a:t>
                      </a:r>
                    </a:p>
                  </a:txBody>
                  <a:tcPr marL="54864" marR="54864" marT="18288" marB="18288" anchor="ctr">
                    <a:lnR w="15875" cap="flat" cmpd="sng" algn="ctr">
                      <a:solidFill>
                        <a:srgbClr val="1F3864"/>
                      </a:solidFill>
                      <a:prstDash val="solid"/>
                    </a:lnR>
                    <a:solidFill>
                      <a:srgbClr val="F4F7FB"/>
                    </a:solidFill>
                  </a:tcPr>
                </a:tc>
              </a:tr>
              <a:tr h="493776">
                <a:tc>
                  <a:txBody>
                    <a:bodyPr wrap="square"/>
                    <a:lstStyle/>
                    <a:p>
                      <a:pPr algn="l"/>
                      <a:r>
                        <a:rPr sz="1600" b="1" i="0">
                          <a:solidFill>
                            <a:srgbClr val="262626"/>
                          </a:solidFill>
                          <a:latin typeface="Times New Roman"/>
                          <a:cs typeface="Times New Roman"/>
                          <a:ea typeface="Times New Roman"/>
                        </a:rPr>
                        <a:t>Labels for filter</a:t>
                      </a:r>
                    </a:p>
                  </a:txBody>
                  <a:tcPr marL="54864" marR="54864" marT="18288" marB="18288" anchor="ctr">
                    <a:lnL w="15875" cap="flat" cmpd="sng" algn="ctr">
                      <a:solidFill>
                        <a:srgbClr val="1F3864"/>
                      </a:solidFill>
                      <a:prstDash val="solid"/>
                    </a:lnL>
                    <a:solidFill>
                      <a:srgbClr val="FFFFFF"/>
                    </a:solidFill>
                  </a:tcPr>
                </a:tc>
                <a:tc>
                  <a:txBody>
                    <a:bodyPr wrap="square"/>
                    <a:lstStyle/>
                    <a:p>
                      <a:pPr algn="l"/>
                      <a:r>
                        <a:rPr sz="1600" b="0" i="0">
                          <a:solidFill>
                            <a:srgbClr val="262626"/>
                          </a:solidFill>
                          <a:latin typeface="Times New Roman"/>
                          <a:cs typeface="Times New Roman"/>
                          <a:ea typeface="Times New Roman"/>
                        </a:rPr>
                        <a:t>~1,500</a:t>
                      </a:r>
                    </a:p>
                  </a:txBody>
                  <a:tcPr marL="54864" marR="54864" marT="18288" marB="18288" anchor="ctr">
                    <a:solidFill>
                      <a:srgbClr val="FFFFFF"/>
                    </a:solidFill>
                  </a:tcPr>
                </a:tc>
                <a:tc>
                  <a:txBody>
                    <a:bodyPr wrap="square"/>
                    <a:lstStyle/>
                    <a:p>
                      <a:pPr algn="l"/>
                      <a:r>
                        <a:rPr sz="1600" b="0" i="0">
                          <a:solidFill>
                            <a:srgbClr val="262626"/>
                          </a:solidFill>
                          <a:latin typeface="Times New Roman"/>
                          <a:cs typeface="Times New Roman"/>
                          <a:ea typeface="Times New Roman"/>
                        </a:rPr>
                        <a:t>0</a:t>
                      </a:r>
                    </a:p>
                  </a:txBody>
                  <a:tcPr marL="54864" marR="54864" marT="18288" marB="18288" anchor="ctr">
                    <a:lnR w="15875" cap="flat" cmpd="sng" algn="ctr">
                      <a:solidFill>
                        <a:srgbClr val="1F3864"/>
                      </a:solidFill>
                      <a:prstDash val="solid"/>
                    </a:lnR>
                    <a:solidFill>
                      <a:srgbClr val="FFFFFF"/>
                    </a:solidFill>
                  </a:tcPr>
                </a:tc>
              </a:tr>
              <a:tr h="493776">
                <a:tc>
                  <a:txBody>
                    <a:bodyPr wrap="square"/>
                    <a:lstStyle/>
                    <a:p>
                      <a:pPr algn="l"/>
                      <a:r>
                        <a:rPr sz="1600" b="1" i="0">
                          <a:solidFill>
                            <a:srgbClr val="262626"/>
                          </a:solidFill>
                          <a:latin typeface="Times New Roman"/>
                          <a:cs typeface="Times New Roman"/>
                          <a:ea typeface="Times New Roman"/>
                        </a:rPr>
                        <a:t>Cost measure</a:t>
                      </a:r>
                    </a:p>
                  </a:txBody>
                  <a:tcPr marL="54864" marR="54864" marT="18288" marB="18288" anchor="ctr">
                    <a:lnL w="15875" cap="flat" cmpd="sng" algn="ctr">
                      <a:solidFill>
                        <a:srgbClr val="1F3864"/>
                      </a:solidFill>
                      <a:prstDash val="solid"/>
                    </a:lnL>
                    <a:solidFill>
                      <a:srgbClr val="F4F7FB"/>
                    </a:solidFill>
                  </a:tcPr>
                </a:tc>
                <a:tc>
                  <a:txBody>
                    <a:bodyPr wrap="square"/>
                    <a:lstStyle/>
                    <a:p>
                      <a:pPr algn="l"/>
                      <a:r>
                        <a:rPr sz="1600" b="0" i="0">
                          <a:solidFill>
                            <a:srgbClr val="262626"/>
                          </a:solidFill>
                          <a:latin typeface="Times New Roman"/>
                          <a:cs typeface="Times New Roman"/>
                          <a:ea typeface="Times New Roman"/>
                        </a:rPr>
                        <a:t>Evaluations</a:t>
                      </a:r>
                    </a:p>
                  </a:txBody>
                  <a:tcPr marL="54864" marR="54864" marT="18288" marB="18288" anchor="ctr">
                    <a:solidFill>
                      <a:srgbClr val="F4F7FB"/>
                    </a:solidFill>
                  </a:tcPr>
                </a:tc>
                <a:tc>
                  <a:txBody>
                    <a:bodyPr wrap="square"/>
                    <a:lstStyle/>
                    <a:p>
                      <a:pPr algn="l"/>
                      <a:r>
                        <a:rPr sz="1600" b="0" i="0">
                          <a:solidFill>
                            <a:srgbClr val="262626"/>
                          </a:solidFill>
                          <a:latin typeface="Times New Roman"/>
                          <a:cs typeface="Times New Roman"/>
                          <a:ea typeface="Times New Roman"/>
                        </a:rPr>
                        <a:t>Equal GPU-hours</a:t>
                      </a:r>
                    </a:p>
                  </a:txBody>
                  <a:tcPr marL="54864" marR="54864" marT="18288" marB="18288" anchor="ctr">
                    <a:lnR w="15875" cap="flat" cmpd="sng" algn="ctr">
                      <a:solidFill>
                        <a:srgbClr val="1F3864"/>
                      </a:solidFill>
                      <a:prstDash val="solid"/>
                    </a:lnR>
                    <a:solidFill>
                      <a:srgbClr val="F4F7FB"/>
                    </a:solidFill>
                  </a:tcPr>
                </a:tc>
              </a:tr>
              <a:tr h="493776">
                <a:tc>
                  <a:txBody>
                    <a:bodyPr wrap="square"/>
                    <a:lstStyle/>
                    <a:p>
                      <a:pPr algn="l"/>
                      <a:r>
                        <a:rPr sz="1600" b="1" i="0">
                          <a:solidFill>
                            <a:srgbClr val="262626"/>
                          </a:solidFill>
                          <a:latin typeface="Times New Roman"/>
                          <a:cs typeface="Times New Roman"/>
                          <a:ea typeface="Times New Roman"/>
                        </a:rPr>
                        <a:t>LLM use</a:t>
                      </a:r>
                    </a:p>
                  </a:txBody>
                  <a:tcPr marL="54864" marR="54864" marT="18288" marB="18288" anchor="ctr">
                    <a:lnL w="15875" cap="flat" cmpd="sng" algn="ctr">
                      <a:solidFill>
                        <a:srgbClr val="1F3864"/>
                      </a:solidFill>
                      <a:prstDash val="solid"/>
                    </a:lnL>
                    <a:solidFill>
                      <a:srgbClr val="FFFFFF"/>
                    </a:solidFill>
                  </a:tcPr>
                </a:tc>
                <a:tc>
                  <a:txBody>
                    <a:bodyPr wrap="square"/>
                    <a:lstStyle/>
                    <a:p>
                      <a:pPr algn="l"/>
                      <a:r>
                        <a:rPr sz="1600" b="0" i="0">
                          <a:solidFill>
                            <a:srgbClr val="262626"/>
                          </a:solidFill>
                          <a:latin typeface="Times New Roman"/>
                          <a:cs typeface="Times New Roman"/>
                          <a:ea typeface="Times New Roman"/>
                        </a:rPr>
                        <a:t>Proposes designs, untested</a:t>
                      </a:r>
                    </a:p>
                  </a:txBody>
                  <a:tcPr marL="54864" marR="54864" marT="18288" marB="18288" anchor="ctr">
                    <a:solidFill>
                      <a:srgbClr val="FFFFFF"/>
                    </a:solidFill>
                  </a:tcPr>
                </a:tc>
                <a:tc>
                  <a:txBody>
                    <a:bodyPr wrap="square"/>
                    <a:lstStyle/>
                    <a:p>
                      <a:pPr algn="l"/>
                      <a:r>
                        <a:rPr sz="1600" b="0" i="0">
                          <a:solidFill>
                            <a:srgbClr val="262626"/>
                          </a:solidFill>
                          <a:latin typeface="Times New Roman"/>
                          <a:cs typeface="Times New Roman"/>
                          <a:ea typeface="Times New Roman"/>
                        </a:rPr>
                        <a:t>UCB prior, tested for memorisation</a:t>
                      </a:r>
                    </a:p>
                  </a:txBody>
                  <a:tcPr marL="54864" marR="54864" marT="18288" marB="18288" anchor="ctr">
                    <a:lnR w="15875" cap="flat" cmpd="sng" algn="ctr">
                      <a:solidFill>
                        <a:srgbClr val="1F3864"/>
                      </a:solidFill>
                      <a:prstDash val="solid"/>
                    </a:lnR>
                    <a:solidFill>
                      <a:srgbClr val="FFFFFF"/>
                    </a:solidFill>
                  </a:tcPr>
                </a:tc>
              </a:tr>
              <a:tr h="493776">
                <a:tc>
                  <a:txBody>
                    <a:bodyPr wrap="square"/>
                    <a:lstStyle/>
                    <a:p>
                      <a:pPr algn="l"/>
                      <a:r>
                        <a:rPr sz="1600" b="1" i="0">
                          <a:solidFill>
                            <a:srgbClr val="262626"/>
                          </a:solidFill>
                          <a:latin typeface="Times New Roman"/>
                          <a:cs typeface="Times New Roman"/>
                          <a:ea typeface="Times New Roman"/>
                        </a:rPr>
                        <a:t>Cost bias</a:t>
                      </a:r>
                    </a:p>
                  </a:txBody>
                  <a:tcPr marL="54864" marR="54864" marT="18288" marB="18288" anchor="ctr">
                    <a:lnL w="15875" cap="flat" cmpd="sng" algn="ctr">
                      <a:solidFill>
                        <a:srgbClr val="1F3864"/>
                      </a:solidFill>
                      <a:prstDash val="solid"/>
                    </a:lnL>
                    <a:solidFill>
                      <a:srgbClr val="F4F7FB"/>
                    </a:solidFill>
                  </a:tcPr>
                </a:tc>
                <a:tc>
                  <a:txBody>
                    <a:bodyPr wrap="square"/>
                    <a:lstStyle/>
                    <a:p>
                      <a:pPr algn="l"/>
                      <a:r>
                        <a:rPr sz="1600" b="0" i="0">
                          <a:solidFill>
                            <a:srgbClr val="262626"/>
                          </a:solidFill>
                          <a:latin typeface="Times New Roman"/>
                          <a:cs typeface="Times New Roman"/>
                          <a:ea typeface="Times New Roman"/>
                        </a:rPr>
                        <a:t>Not studied</a:t>
                      </a:r>
                    </a:p>
                  </a:txBody>
                  <a:tcPr marL="54864" marR="54864" marT="18288" marB="18288" anchor="ctr">
                    <a:solidFill>
                      <a:srgbClr val="F4F7FB"/>
                    </a:solidFill>
                  </a:tcPr>
                </a:tc>
                <a:tc>
                  <a:txBody>
                    <a:bodyPr wrap="square"/>
                    <a:lstStyle/>
                    <a:p>
                      <a:pPr algn="l"/>
                      <a:r>
                        <a:rPr sz="1600" b="0" i="0">
                          <a:solidFill>
                            <a:srgbClr val="262626"/>
                          </a:solidFill>
                          <a:latin typeface="Times New Roman"/>
                          <a:cs typeface="Times New Roman"/>
                          <a:ea typeface="Times New Roman"/>
                        </a:rPr>
                        <a:t>Sign predicted and confirmed</a:t>
                      </a:r>
                    </a:p>
                  </a:txBody>
                  <a:tcPr marL="54864" marR="54864" marT="18288" marB="18288" anchor="ctr">
                    <a:lnR w="15875" cap="flat" cmpd="sng" algn="ctr">
                      <a:solidFill>
                        <a:srgbClr val="1F3864"/>
                      </a:solidFill>
                      <a:prstDash val="solid"/>
                    </a:lnR>
                    <a:solidFill>
                      <a:srgbClr val="F4F7FB"/>
                    </a:solidFill>
                  </a:tcPr>
                </a:tc>
              </a:tr>
              <a:tr h="493776">
                <a:tc>
                  <a:txBody>
                    <a:bodyPr wrap="square"/>
                    <a:lstStyle/>
                    <a:p>
                      <a:pPr algn="l"/>
                      <a:r>
                        <a:rPr sz="1600" b="1" i="0">
                          <a:solidFill>
                            <a:srgbClr val="262626"/>
                          </a:solidFill>
                          <a:latin typeface="Times New Roman"/>
                          <a:cs typeface="Times New Roman"/>
                          <a:ea typeface="Times New Roman"/>
                        </a:rPr>
                        <a:t>Hardware</a:t>
                      </a:r>
                    </a:p>
                  </a:txBody>
                  <a:tcPr marL="54864" marR="54864" marT="18288" marB="18288" anchor="ctr">
                    <a:lnL w="15875" cap="flat" cmpd="sng" algn="ctr">
                      <a:solidFill>
                        <a:srgbClr val="1F3864"/>
                      </a:solidFill>
                      <a:prstDash val="solid"/>
                    </a:lnL>
                    <a:solidFill>
                      <a:srgbClr val="FFFFFF"/>
                    </a:solidFill>
                  </a:tcPr>
                </a:tc>
                <a:tc>
                  <a:txBody>
                    <a:bodyPr wrap="square"/>
                    <a:lstStyle/>
                    <a:p>
                      <a:pPr algn="l"/>
                      <a:r>
                        <a:rPr sz="1600" b="0" i="0">
                          <a:solidFill>
                            <a:srgbClr val="262626"/>
                          </a:solidFill>
                          <a:latin typeface="Times New Roman"/>
                          <a:cs typeface="Times New Roman"/>
                          <a:ea typeface="Times New Roman"/>
                        </a:rPr>
                        <a:t>Single device</a:t>
                      </a:r>
                    </a:p>
                  </a:txBody>
                  <a:tcPr marL="54864" marR="54864" marT="18288" marB="18288" anchor="ctr">
                    <a:solidFill>
                      <a:srgbClr val="FFFFFF"/>
                    </a:solidFill>
                  </a:tcPr>
                </a:tc>
                <a:tc>
                  <a:txBody>
                    <a:bodyPr wrap="square"/>
                    <a:lstStyle/>
                    <a:p>
                      <a:pPr algn="l"/>
                      <a:r>
                        <a:rPr sz="1600" b="0" i="0">
                          <a:solidFill>
                            <a:srgbClr val="262626"/>
                          </a:solidFill>
                          <a:latin typeface="Times New Roman"/>
                          <a:cs typeface="Times New Roman"/>
                          <a:ea typeface="Times New Roman"/>
                        </a:rPr>
                        <a:t>6 devices</a:t>
                      </a:r>
                    </a:p>
                  </a:txBody>
                  <a:tcPr marL="54864" marR="54864" marT="18288" marB="18288" anchor="ctr">
                    <a:lnR w="15875" cap="flat" cmpd="sng" algn="ctr">
                      <a:solidFill>
                        <a:srgbClr val="1F3864"/>
                      </a:solidFill>
                      <a:prstDash val="solid"/>
                    </a:lnR>
                    <a:solidFill>
                      <a:srgbClr val="FFFFFF"/>
                    </a:solidFill>
                  </a:tcPr>
                </a:tc>
              </a:tr>
              <a:tr h="493776">
                <a:tc>
                  <a:txBody>
                    <a:bodyPr wrap="square"/>
                    <a:lstStyle/>
                    <a:p>
                      <a:pPr algn="l"/>
                      <a:r>
                        <a:rPr sz="1600" b="1" i="0">
                          <a:solidFill>
                            <a:srgbClr val="262626"/>
                          </a:solidFill>
                          <a:latin typeface="Times New Roman"/>
                          <a:cs typeface="Times New Roman"/>
                          <a:ea typeface="Times New Roman"/>
                        </a:rPr>
                        <a:t>Validation</a:t>
                      </a:r>
                    </a:p>
                  </a:txBody>
                  <a:tcPr marL="54864" marR="54864" marT="18288" marB="18288" anchor="ctr">
                    <a:lnL w="15875" cap="flat" cmpd="sng" algn="ctr">
                      <a:solidFill>
                        <a:srgbClr val="1F3864"/>
                      </a:solidFill>
                      <a:prstDash val="solid"/>
                    </a:lnL>
                    <a:lnB w="15875" cap="flat" cmpd="sng" algn="ctr">
                      <a:solidFill>
                        <a:srgbClr val="1F3864"/>
                      </a:solidFill>
                      <a:prstDash val="solid"/>
                    </a:lnB>
                    <a:solidFill>
                      <a:srgbClr val="F4F7FB"/>
                    </a:solidFill>
                  </a:tcPr>
                </a:tc>
                <a:tc>
                  <a:txBody>
                    <a:bodyPr wrap="square"/>
                    <a:lstStyle/>
                    <a:p>
                      <a:pPr algn="l"/>
                      <a:r>
                        <a:rPr sz="1600" b="0" i="0">
                          <a:solidFill>
                            <a:srgbClr val="262626"/>
                          </a:solidFill>
                          <a:latin typeface="Times New Roman"/>
                          <a:cs typeface="Times New Roman"/>
                          <a:ea typeface="Times New Roman"/>
                        </a:rPr>
                        <a:t>1 benchmark, few seeds</a:t>
                      </a:r>
                    </a:p>
                  </a:txBody>
                  <a:tcPr marL="54864" marR="54864" marT="18288" marB="18288" anchor="ctr">
                    <a:lnB w="15875" cap="flat" cmpd="sng" algn="ctr">
                      <a:solidFill>
                        <a:srgbClr val="1F3864"/>
                      </a:solidFill>
                      <a:prstDash val="solid"/>
                    </a:lnB>
                    <a:solidFill>
                      <a:srgbClr val="F4F7FB"/>
                    </a:solidFill>
                  </a:tcPr>
                </a:tc>
                <a:tc>
                  <a:txBody>
                    <a:bodyPr wrap="square"/>
                    <a:lstStyle/>
                    <a:p>
                      <a:pPr algn="l"/>
                      <a:r>
                        <a:rPr sz="1600" b="0" i="0">
                          <a:solidFill>
                            <a:srgbClr val="262626"/>
                          </a:solidFill>
                          <a:latin typeface="Times New Roman"/>
                          <a:cs typeface="Times New Roman"/>
                          <a:ea typeface="Times New Roman"/>
                        </a:rPr>
                        <a:t>3 benchmarks, 24 seeds, Holm</a:t>
                      </a:r>
                    </a:p>
                  </a:txBody>
                  <a:tcPr marL="54864" marR="54864" marT="18288" marB="18288" anchor="ctr">
                    <a:lnR w="15875" cap="flat" cmpd="sng" algn="ctr">
                      <a:solidFill>
                        <a:srgbClr val="1F3864"/>
                      </a:solidFill>
                      <a:prstDash val="solid"/>
                    </a:lnR>
                    <a:lnB w="15875" cap="flat" cmpd="sng" algn="ctr">
                      <a:solidFill>
                        <a:srgbClr val="1F3864"/>
                      </a:solidFill>
                      <a:prstDash val="solid"/>
                    </a:lnB>
                    <a:solidFill>
                      <a:srgbClr val="F4F7FB"/>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SIGNIFICANCE</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Research Significance &amp; Contribution</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20</a:t>
            </a:r>
          </a:p>
        </p:txBody>
      </p:sp>
      <p:sp>
        <p:nvSpPr>
          <p:cNvPr id="6" name="Table 8 caption"/>
          <p:cNvSpPr txBox="1"/>
          <p:nvPr/>
        </p:nvSpPr>
        <p:spPr>
          <a:xfrm>
            <a:off x="548640" y="1444752"/>
            <a:ext cx="11064240" cy="256032"/>
          </a:xfrm>
          <a:prstGeom prst="rect">
            <a:avLst/>
          </a:prstGeom>
          <a:noFill/>
        </p:spPr>
        <p:txBody>
          <a:bodyPr wrap="square" anchor="t" lIns="0" rIns="0" tIns="27432" bIns="27432"/>
          <a:lstStyle/>
          <a:p>
            <a:pPr algn="ctr">
              <a:spcAft>
                <a:spcPts val="400"/>
              </a:spcAft>
            </a:pPr>
            <a:r>
              <a:rPr sz="1150" b="1" i="0">
                <a:solidFill>
                  <a:srgbClr val="002060"/>
                </a:solidFill>
                <a:latin typeface="Times New Roman"/>
                <a:cs typeface="Times New Roman"/>
                <a:ea typeface="Times New Roman"/>
              </a:rPr>
              <a:t>Table 8. </a:t>
            </a:r>
            <a:r>
              <a:rPr sz="1150" b="0" i="0">
                <a:solidFill>
                  <a:srgbClr val="002060"/>
                </a:solidFill>
                <a:latin typeface="Times New Roman"/>
                <a:cs typeface="Times New Roman"/>
                <a:ea typeface="Times New Roman"/>
              </a:rPr>
              <a:t>Contribution and evidence for each objective</a:t>
            </a:r>
          </a:p>
        </p:txBody>
      </p:sp>
      <p:graphicFrame>
        <p:nvGraphicFramePr>
          <p:cNvPr id="7" name="Table 6"/>
          <p:cNvGraphicFramePr>
            <a:graphicFrameLocks noGrp="1"/>
          </p:cNvGraphicFramePr>
          <p:nvPr/>
        </p:nvGraphicFramePr>
        <p:xfrm>
          <a:off x="548640" y="1737360"/>
          <a:ext cx="11064240" cy="3401568"/>
        </p:xfrm>
        <a:graphic>
          <a:graphicData uri="http://schemas.openxmlformats.org/drawingml/2006/table">
            <a:tbl>
              <a:tblPr firstRow="1" bandRow="0">
                <a:tableStyleId>{5C22544A-7EE6-4342-B048-85BDC9FD1C3A}</a:tableStyleId>
              </a:tblPr>
              <a:tblGrid>
                <a:gridCol w="2331720"/>
                <a:gridCol w="3246120"/>
                <a:gridCol w="4206240"/>
                <a:gridCol w="1280160"/>
              </a:tblGrid>
              <a:tr h="566928">
                <a:tc>
                  <a:txBody>
                    <a:bodyPr wrap="square"/>
                    <a:lstStyle/>
                    <a:p>
                      <a:pPr algn="l"/>
                      <a:r>
                        <a:rPr sz="1300" b="1" i="0">
                          <a:solidFill>
                            <a:srgbClr val="FFFFFF"/>
                          </a:solidFill>
                          <a:latin typeface="Times New Roman"/>
                          <a:cs typeface="Times New Roman"/>
                          <a:ea typeface="Times New Roman"/>
                        </a:rPr>
                        <a:t>Objective</a:t>
                      </a:r>
                    </a:p>
                  </a:txBody>
                  <a:tcPr marL="54864" marR="54864" marT="18288" marB="18288" anchor="ctr">
                    <a:lnL w="15875" cap="flat" cmpd="sng" algn="ctr">
                      <a:solidFill>
                        <a:srgbClr val="1F3864"/>
                      </a:solidFill>
                      <a:prstDash val="solid"/>
                    </a:lnL>
                    <a:lnT w="15875" cap="flat" cmpd="sng" algn="ctr">
                      <a:solidFill>
                        <a:srgbClr val="1F3864"/>
                      </a:solidFill>
                      <a:prstDash val="solid"/>
                    </a:lnT>
                    <a:solidFill>
                      <a:srgbClr val="1F3864"/>
                    </a:solidFill>
                  </a:tcPr>
                </a:tc>
                <a:tc>
                  <a:txBody>
                    <a:bodyPr wrap="square"/>
                    <a:lstStyle/>
                    <a:p>
                      <a:pPr algn="l"/>
                      <a:r>
                        <a:rPr sz="1300" b="1" i="0">
                          <a:solidFill>
                            <a:srgbClr val="FFFFFF"/>
                          </a:solidFill>
                          <a:latin typeface="Times New Roman"/>
                          <a:cs typeface="Times New Roman"/>
                          <a:ea typeface="Times New Roman"/>
                        </a:rPr>
                        <a:t>Contribution</a:t>
                      </a:r>
                    </a:p>
                  </a:txBody>
                  <a:tcPr marL="54864" marR="54864" marT="18288" marB="18288" anchor="ctr">
                    <a:lnT w="15875" cap="flat" cmpd="sng" algn="ctr">
                      <a:solidFill>
                        <a:srgbClr val="1F3864"/>
                      </a:solidFill>
                      <a:prstDash val="solid"/>
                    </a:lnT>
                    <a:solidFill>
                      <a:srgbClr val="1F3864"/>
                    </a:solidFill>
                  </a:tcPr>
                </a:tc>
                <a:tc>
                  <a:txBody>
                    <a:bodyPr wrap="square"/>
                    <a:lstStyle/>
                    <a:p>
                      <a:pPr algn="l"/>
                      <a:r>
                        <a:rPr sz="1300" b="1" i="0">
                          <a:solidFill>
                            <a:srgbClr val="FFFFFF"/>
                          </a:solidFill>
                          <a:latin typeface="Times New Roman"/>
                          <a:cs typeface="Times New Roman"/>
                          <a:ea typeface="Times New Roman"/>
                        </a:rPr>
                        <a:t>Evidence (results)</a:t>
                      </a:r>
                    </a:p>
                  </a:txBody>
                  <a:tcPr marL="54864" marR="54864" marT="18288" marB="18288" anchor="ctr">
                    <a:lnT w="15875" cap="flat" cmpd="sng" algn="ctr">
                      <a:solidFill>
                        <a:srgbClr val="1F3864"/>
                      </a:solidFill>
                      <a:prstDash val="solid"/>
                    </a:lnT>
                    <a:solidFill>
                      <a:srgbClr val="1F3864"/>
                    </a:solidFill>
                  </a:tcPr>
                </a:tc>
                <a:tc>
                  <a:txBody>
                    <a:bodyPr wrap="square"/>
                    <a:lstStyle/>
                    <a:p>
                      <a:pPr algn="ctr"/>
                      <a:r>
                        <a:rPr sz="1300" b="1" i="0">
                          <a:solidFill>
                            <a:srgbClr val="FFFFFF"/>
                          </a:solidFill>
                          <a:latin typeface="Times New Roman"/>
                          <a:cs typeface="Times New Roman"/>
                          <a:ea typeface="Times New Roman"/>
                        </a:rPr>
                        <a:t>Status</a:t>
                      </a:r>
                    </a:p>
                  </a:txBody>
                  <a:tcPr marL="54864" marR="54864" marT="18288" marB="18288" anchor="ctr">
                    <a:lnR w="15875" cap="flat" cmpd="sng" algn="ctr">
                      <a:solidFill>
                        <a:srgbClr val="1F3864"/>
                      </a:solidFill>
                      <a:prstDash val="solid"/>
                    </a:lnR>
                    <a:lnT w="15875" cap="flat" cmpd="sng" algn="ctr">
                      <a:solidFill>
                        <a:srgbClr val="1F3864"/>
                      </a:solidFill>
                      <a:prstDash val="solid"/>
                    </a:lnT>
                    <a:solidFill>
                      <a:srgbClr val="1F3864"/>
                    </a:solidFill>
                  </a:tcPr>
                </a:tc>
              </a:tr>
              <a:tr h="566928">
                <a:tc>
                  <a:txBody>
                    <a:bodyPr wrap="square"/>
                    <a:lstStyle/>
                    <a:p>
                      <a:pPr algn="l"/>
                      <a:r>
                        <a:rPr sz="1300" b="1" i="0">
                          <a:solidFill>
                            <a:srgbClr val="262626"/>
                          </a:solidFill>
                          <a:latin typeface="Times New Roman"/>
                          <a:cs typeface="Times New Roman"/>
                          <a:ea typeface="Times New Roman"/>
                        </a:rPr>
                        <a:t>1. Trie + UCB1 search</a:t>
                      </a:r>
                    </a:p>
                  </a:txBody>
                  <a:tcPr marL="54864" marR="54864" marT="18288" marB="18288" anchor="ctr">
                    <a:lnL w="15875" cap="flat" cmpd="sng" algn="ctr">
                      <a:solidFill>
                        <a:srgbClr val="1F3864"/>
                      </a:solidFill>
                      <a:prstDash val="solid"/>
                    </a:lnL>
                    <a:solidFill>
                      <a:srgbClr val="FFFFFF"/>
                    </a:solidFill>
                  </a:tcPr>
                </a:tc>
                <a:tc>
                  <a:txBody>
                    <a:bodyPr wrap="square"/>
                    <a:lstStyle/>
                    <a:p>
                      <a:pPr algn="l"/>
                      <a:r>
                        <a:rPr sz="1300" b="0" i="0">
                          <a:solidFill>
                            <a:srgbClr val="262626"/>
                          </a:solidFill>
                          <a:latin typeface="Times New Roman"/>
                          <a:cs typeface="Times New Roman"/>
                          <a:ea typeface="Times New Roman"/>
                        </a:rPr>
                        <a:t>Deduplicating search with a rank-normalised UCB reward</a:t>
                      </a:r>
                    </a:p>
                  </a:txBody>
                  <a:tcPr marL="54864" marR="54864" marT="18288" marB="18288" anchor="ctr">
                    <a:solidFill>
                      <a:srgbClr val="FFFFFF"/>
                    </a:solidFill>
                  </a:tcPr>
                </a:tc>
                <a:tc>
                  <a:txBody>
                    <a:bodyPr wrap="square"/>
                    <a:lstStyle/>
                    <a:p>
                      <a:pPr algn="l"/>
                      <a:r>
                        <a:rPr sz="1300" b="0" i="0">
                          <a:solidFill>
                            <a:srgbClr val="262626"/>
                          </a:solidFill>
                          <a:latin typeface="Times New Roman"/>
                          <a:cs typeface="Times New Roman"/>
                          <a:ea typeface="Times New Roman"/>
                        </a:rPr>
                        <a:t>0 duplicate evaluations (vs 30–67%); robust to C (0 / 78 tests)</a:t>
                      </a:r>
                    </a:p>
                  </a:txBody>
                  <a:tcPr marL="54864" marR="54864" marT="18288" marB="18288" anchor="ctr">
                    <a:solidFill>
                      <a:srgbClr val="FFFFFF"/>
                    </a:solidFill>
                  </a:tcPr>
                </a:tc>
                <a:tc>
                  <a:txBody>
                    <a:bodyPr wrap="square"/>
                    <a:lstStyle/>
                    <a:p>
                      <a:pPr algn="ctr"/>
                      <a:r>
                        <a:rPr sz="1300" b="1" i="0">
                          <a:solidFill>
                            <a:srgbClr val="2E7D32"/>
                          </a:solidFill>
                          <a:latin typeface="Times New Roman"/>
                          <a:cs typeface="Times New Roman"/>
                          <a:ea typeface="Times New Roman"/>
                        </a:rPr>
                        <a:t>Met</a:t>
                      </a:r>
                    </a:p>
                  </a:txBody>
                  <a:tcPr marL="54864" marR="54864" marT="18288" marB="18288" anchor="ctr">
                    <a:lnR w="15875" cap="flat" cmpd="sng" algn="ctr">
                      <a:solidFill>
                        <a:srgbClr val="1F3864"/>
                      </a:solidFill>
                      <a:prstDash val="solid"/>
                    </a:lnR>
                    <a:solidFill>
                      <a:srgbClr val="FFFFFF"/>
                    </a:solidFill>
                  </a:tcPr>
                </a:tc>
              </a:tr>
              <a:tr h="566928">
                <a:tc>
                  <a:txBody>
                    <a:bodyPr wrap="square"/>
                    <a:lstStyle/>
                    <a:p>
                      <a:pPr algn="l"/>
                      <a:r>
                        <a:rPr sz="1300" b="1" i="0">
                          <a:solidFill>
                            <a:srgbClr val="262626"/>
                          </a:solidFill>
                          <a:latin typeface="Times New Roman"/>
                          <a:cs typeface="Times New Roman"/>
                          <a:ea typeface="Times New Roman"/>
                        </a:rPr>
                        <a:t>2. Label-free proxy gate</a:t>
                      </a:r>
                    </a:p>
                  </a:txBody>
                  <a:tcPr marL="54864" marR="54864" marT="18288" marB="18288" anchor="ctr">
                    <a:lnL w="15875" cap="flat" cmpd="sng" algn="ctr">
                      <a:solidFill>
                        <a:srgbClr val="1F3864"/>
                      </a:solidFill>
                      <a:prstDash val="solid"/>
                    </a:lnL>
                    <a:solidFill>
                      <a:srgbClr val="F4F7FB"/>
                    </a:solidFill>
                  </a:tcPr>
                </a:tc>
                <a:tc>
                  <a:txBody>
                    <a:bodyPr wrap="square"/>
                    <a:lstStyle/>
                    <a:p>
                      <a:pPr algn="l"/>
                      <a:r>
                        <a:rPr sz="1300" b="0" i="0">
                          <a:solidFill>
                            <a:srgbClr val="262626"/>
                          </a:solidFill>
                          <a:latin typeface="Times New Roman"/>
                          <a:cs typeface="Times New Roman"/>
                          <a:ea typeface="Times New Roman"/>
                        </a:rPr>
                        <a:t>Zero-label gate inside the search (main contribution)</a:t>
                      </a:r>
                    </a:p>
                  </a:txBody>
                  <a:tcPr marL="54864" marR="54864" marT="18288" marB="18288" anchor="ctr">
                    <a:solidFill>
                      <a:srgbClr val="F4F7FB"/>
                    </a:solidFill>
                  </a:tcPr>
                </a:tc>
                <a:tc>
                  <a:txBody>
                    <a:bodyPr wrap="square"/>
                    <a:lstStyle/>
                    <a:p>
                      <a:pPr algn="l"/>
                      <a:r>
                        <a:rPr sz="1300" b="0" i="0">
                          <a:solidFill>
                            <a:srgbClr val="262626"/>
                          </a:solidFill>
                          <a:latin typeface="Times New Roman"/>
                          <a:cs typeface="Times New Roman"/>
                          <a:ea typeface="Times New Roman"/>
                        </a:rPr>
                        <a:t>τ 0.63–0.68 with 0 labels; 53% fewer GPU-hours at equal accuracy</a:t>
                      </a:r>
                    </a:p>
                  </a:txBody>
                  <a:tcPr marL="54864" marR="54864" marT="18288" marB="18288" anchor="ctr">
                    <a:solidFill>
                      <a:srgbClr val="F4F7FB"/>
                    </a:solidFill>
                  </a:tcPr>
                </a:tc>
                <a:tc>
                  <a:txBody>
                    <a:bodyPr wrap="square"/>
                    <a:lstStyle/>
                    <a:p>
                      <a:pPr algn="ctr"/>
                      <a:r>
                        <a:rPr sz="1300" b="1" i="0">
                          <a:solidFill>
                            <a:srgbClr val="2E7D32"/>
                          </a:solidFill>
                          <a:latin typeface="Times New Roman"/>
                          <a:cs typeface="Times New Roman"/>
                          <a:ea typeface="Times New Roman"/>
                        </a:rPr>
                        <a:t>Met</a:t>
                      </a:r>
                    </a:p>
                  </a:txBody>
                  <a:tcPr marL="54864" marR="54864" marT="18288" marB="18288" anchor="ctr">
                    <a:lnR w="15875" cap="flat" cmpd="sng" algn="ctr">
                      <a:solidFill>
                        <a:srgbClr val="1F3864"/>
                      </a:solidFill>
                      <a:prstDash val="solid"/>
                    </a:lnR>
                    <a:solidFill>
                      <a:srgbClr val="F4F7FB"/>
                    </a:solidFill>
                  </a:tcPr>
                </a:tc>
              </a:tr>
              <a:tr h="566928">
                <a:tc>
                  <a:txBody>
                    <a:bodyPr wrap="square"/>
                    <a:lstStyle/>
                    <a:p>
                      <a:pPr algn="l"/>
                      <a:r>
                        <a:rPr sz="1300" b="1" i="0">
                          <a:solidFill>
                            <a:srgbClr val="262626"/>
                          </a:solidFill>
                          <a:latin typeface="Times New Roman"/>
                          <a:cs typeface="Times New Roman"/>
                          <a:ea typeface="Times New Roman"/>
                        </a:rPr>
                        <a:t>3. LLM warm-start prior</a:t>
                      </a:r>
                    </a:p>
                  </a:txBody>
                  <a:tcPr marL="54864" marR="54864" marT="18288" marB="18288" anchor="ctr">
                    <a:lnL w="15875" cap="flat" cmpd="sng" algn="ctr">
                      <a:solidFill>
                        <a:srgbClr val="1F3864"/>
                      </a:solidFill>
                      <a:prstDash val="solid"/>
                    </a:lnL>
                    <a:solidFill>
                      <a:srgbClr val="FFFFFF"/>
                    </a:solidFill>
                  </a:tcPr>
                </a:tc>
                <a:tc>
                  <a:txBody>
                    <a:bodyPr wrap="square"/>
                    <a:lstStyle/>
                    <a:p>
                      <a:pPr algn="l"/>
                      <a:r>
                        <a:rPr sz="1300" b="0" i="0">
                          <a:solidFill>
                            <a:srgbClr val="262626"/>
                          </a:solidFill>
                          <a:latin typeface="Times New Roman"/>
                          <a:cs typeface="Times New Roman"/>
                          <a:ea typeface="Times New Roman"/>
                        </a:rPr>
                        <a:t>LLM prior tested against memorisation and size bias</a:t>
                      </a:r>
                    </a:p>
                  </a:txBody>
                  <a:tcPr marL="54864" marR="54864" marT="18288" marB="18288" anchor="ctr">
                    <a:solidFill>
                      <a:srgbClr val="FFFFFF"/>
                    </a:solidFill>
                  </a:tcPr>
                </a:tc>
                <a:tc>
                  <a:txBody>
                    <a:bodyPr wrap="square"/>
                    <a:lstStyle/>
                    <a:p>
                      <a:pPr algn="l"/>
                      <a:r>
                        <a:rPr sz="1300" b="0" i="0">
                          <a:solidFill>
                            <a:srgbClr val="262626"/>
                          </a:solidFill>
                          <a:latin typeface="Times New Roman"/>
                          <a:cs typeface="Times New Roman"/>
                          <a:ea typeface="Times New Roman"/>
                        </a:rPr>
                        <a:t>2–3× faster early search (CIFAR-10/100); ρ 0.70 described vs 0.14 anonymous</a:t>
                      </a:r>
                    </a:p>
                  </a:txBody>
                  <a:tcPr marL="54864" marR="54864" marT="18288" marB="18288" anchor="ctr">
                    <a:solidFill>
                      <a:srgbClr val="FFFFFF"/>
                    </a:solidFill>
                  </a:tcPr>
                </a:tc>
                <a:tc>
                  <a:txBody>
                    <a:bodyPr wrap="square"/>
                    <a:lstStyle/>
                    <a:p>
                      <a:pPr algn="ctr"/>
                      <a:r>
                        <a:rPr sz="1300" b="1" i="0">
                          <a:solidFill>
                            <a:srgbClr val="BF8F00"/>
                          </a:solidFill>
                          <a:latin typeface="Times New Roman"/>
                          <a:cs typeface="Times New Roman"/>
                          <a:ea typeface="Times New Roman"/>
                        </a:rPr>
                        <a:t>Partly met</a:t>
                      </a:r>
                    </a:p>
                  </a:txBody>
                  <a:tcPr marL="54864" marR="54864" marT="18288" marB="18288" anchor="ctr">
                    <a:lnR w="15875" cap="flat" cmpd="sng" algn="ctr">
                      <a:solidFill>
                        <a:srgbClr val="1F3864"/>
                      </a:solidFill>
                      <a:prstDash val="solid"/>
                    </a:lnR>
                    <a:solidFill>
                      <a:srgbClr val="FFFFFF"/>
                    </a:solidFill>
                  </a:tcPr>
                </a:tc>
              </a:tr>
              <a:tr h="566928">
                <a:tc>
                  <a:txBody>
                    <a:bodyPr wrap="square"/>
                    <a:lstStyle/>
                    <a:p>
                      <a:pPr algn="l"/>
                      <a:r>
                        <a:rPr sz="1300" b="1" i="0">
                          <a:solidFill>
                            <a:srgbClr val="262626"/>
                          </a:solidFill>
                          <a:latin typeface="Times New Roman"/>
                          <a:cs typeface="Times New Roman"/>
                          <a:ea typeface="Times New Roman"/>
                        </a:rPr>
                        <a:t>4. Hardware-aware search</a:t>
                      </a:r>
                    </a:p>
                  </a:txBody>
                  <a:tcPr marL="54864" marR="54864" marT="18288" marB="18288" anchor="ctr">
                    <a:lnL w="15875" cap="flat" cmpd="sng" algn="ctr">
                      <a:solidFill>
                        <a:srgbClr val="1F3864"/>
                      </a:solidFill>
                      <a:prstDash val="solid"/>
                    </a:lnL>
                    <a:solidFill>
                      <a:srgbClr val="F4F7FB"/>
                    </a:solidFill>
                  </a:tcPr>
                </a:tc>
                <a:tc>
                  <a:txBody>
                    <a:bodyPr wrap="square"/>
                    <a:lstStyle/>
                    <a:p>
                      <a:pPr algn="l"/>
                      <a:r>
                        <a:rPr sz="1300" b="0" i="0">
                          <a:solidFill>
                            <a:srgbClr val="262626"/>
                          </a:solidFill>
                          <a:latin typeface="Times New Roman"/>
                          <a:cs typeface="Times New Roman"/>
                          <a:ea typeface="Times New Roman"/>
                        </a:rPr>
                        <a:t>Accuracy–latency analysis on 6 edge devices</a:t>
                      </a:r>
                    </a:p>
                  </a:txBody>
                  <a:tcPr marL="54864" marR="54864" marT="18288" marB="18288" anchor="ctr">
                    <a:solidFill>
                      <a:srgbClr val="F4F7FB"/>
                    </a:solidFill>
                  </a:tcPr>
                </a:tc>
                <a:tc>
                  <a:txBody>
                    <a:bodyPr wrap="square"/>
                    <a:lstStyle/>
                    <a:p>
                      <a:pPr algn="l"/>
                      <a:r>
                        <a:rPr sz="1300" b="0" i="0">
                          <a:solidFill>
                            <a:srgbClr val="262626"/>
                          </a:solidFill>
                          <a:latin typeface="Times New Roman"/>
                          <a:cs typeface="Times New Roman"/>
                          <a:ea typeface="Times New Roman"/>
                        </a:rPr>
                        <a:t>Front overlap ~0.13; ~98% HV kept on transfer; ties NSGA-II (96 / 96)</a:t>
                      </a:r>
                    </a:p>
                  </a:txBody>
                  <a:tcPr marL="54864" marR="54864" marT="18288" marB="18288" anchor="ctr">
                    <a:solidFill>
                      <a:srgbClr val="F4F7FB"/>
                    </a:solidFill>
                  </a:tcPr>
                </a:tc>
                <a:tc>
                  <a:txBody>
                    <a:bodyPr wrap="square"/>
                    <a:lstStyle/>
                    <a:p>
                      <a:pPr algn="ctr"/>
                      <a:r>
                        <a:rPr sz="1300" b="1" i="0">
                          <a:solidFill>
                            <a:srgbClr val="2E7D32"/>
                          </a:solidFill>
                          <a:latin typeface="Times New Roman"/>
                          <a:cs typeface="Times New Roman"/>
                          <a:ea typeface="Times New Roman"/>
                        </a:rPr>
                        <a:t>Met (analysis)</a:t>
                      </a:r>
                    </a:p>
                  </a:txBody>
                  <a:tcPr marL="54864" marR="54864" marT="18288" marB="18288" anchor="ctr">
                    <a:lnR w="15875" cap="flat" cmpd="sng" algn="ctr">
                      <a:solidFill>
                        <a:srgbClr val="1F3864"/>
                      </a:solidFill>
                      <a:prstDash val="solid"/>
                    </a:lnR>
                    <a:solidFill>
                      <a:srgbClr val="F4F7FB"/>
                    </a:solidFill>
                  </a:tcPr>
                </a:tc>
              </a:tr>
              <a:tr h="566928">
                <a:tc>
                  <a:txBody>
                    <a:bodyPr wrap="square"/>
                    <a:lstStyle/>
                    <a:p>
                      <a:pPr algn="l"/>
                      <a:r>
                        <a:rPr sz="1300" b="1" i="0">
                          <a:solidFill>
                            <a:srgbClr val="262626"/>
                          </a:solidFill>
                          <a:latin typeface="Times New Roman"/>
                          <a:cs typeface="Times New Roman"/>
                          <a:ea typeface="Times New Roman"/>
                        </a:rPr>
                        <a:t>5. Fair validation</a:t>
                      </a:r>
                    </a:p>
                  </a:txBody>
                  <a:tcPr marL="54864" marR="54864" marT="18288" marB="18288" anchor="ctr">
                    <a:lnL w="15875" cap="flat" cmpd="sng" algn="ctr">
                      <a:solidFill>
                        <a:srgbClr val="1F3864"/>
                      </a:solidFill>
                      <a:prstDash val="solid"/>
                    </a:lnL>
                    <a:lnB w="15875" cap="flat" cmpd="sng" algn="ctr">
                      <a:solidFill>
                        <a:srgbClr val="1F3864"/>
                      </a:solidFill>
                      <a:prstDash val="solid"/>
                    </a:lnB>
                    <a:solidFill>
                      <a:srgbClr val="FFFFFF"/>
                    </a:solidFill>
                  </a:tcPr>
                </a:tc>
                <a:tc>
                  <a:txBody>
                    <a:bodyPr wrap="square"/>
                    <a:lstStyle/>
                    <a:p>
                      <a:pPr algn="l"/>
                      <a:r>
                        <a:rPr sz="1300" b="0" i="0">
                          <a:solidFill>
                            <a:srgbClr val="262626"/>
                          </a:solidFill>
                          <a:latin typeface="Times New Roman"/>
                          <a:cs typeface="Times New Roman"/>
                          <a:ea typeface="Times New Roman"/>
                        </a:rPr>
                        <a:t>Equal-GPU-hour protocol and gate-cost criterion</a:t>
                      </a:r>
                    </a:p>
                  </a:txBody>
                  <a:tcPr marL="54864" marR="54864" marT="18288" marB="18288" anchor="ctr">
                    <a:lnB w="15875" cap="flat" cmpd="sng" algn="ctr">
                      <a:solidFill>
                        <a:srgbClr val="1F3864"/>
                      </a:solidFill>
                      <a:prstDash val="solid"/>
                    </a:lnB>
                    <a:solidFill>
                      <a:srgbClr val="FFFFFF"/>
                    </a:solidFill>
                  </a:tcPr>
                </a:tc>
                <a:tc>
                  <a:txBody>
                    <a:bodyPr wrap="square"/>
                    <a:lstStyle/>
                    <a:p>
                      <a:pPr algn="l"/>
                      <a:r>
                        <a:rPr sz="1300" b="0" i="0">
                          <a:solidFill>
                            <a:srgbClr val="262626"/>
                          </a:solidFill>
                          <a:latin typeface="Times New Roman"/>
                          <a:cs typeface="Times New Roman"/>
                          <a:ea typeface="Times New Roman"/>
                        </a:rPr>
                        <a:t>0 losses vs 13 methods on 3 benchmarks; criterion correct on 7 / 7 pairs</a:t>
                      </a:r>
                    </a:p>
                  </a:txBody>
                  <a:tcPr marL="54864" marR="54864" marT="18288" marB="18288" anchor="ctr">
                    <a:lnB w="15875" cap="flat" cmpd="sng" algn="ctr">
                      <a:solidFill>
                        <a:srgbClr val="1F3864"/>
                      </a:solidFill>
                      <a:prstDash val="solid"/>
                    </a:lnB>
                    <a:solidFill>
                      <a:srgbClr val="FFFFFF"/>
                    </a:solidFill>
                  </a:tcPr>
                </a:tc>
                <a:tc>
                  <a:txBody>
                    <a:bodyPr wrap="square"/>
                    <a:lstStyle/>
                    <a:p>
                      <a:pPr algn="ctr"/>
                      <a:r>
                        <a:rPr sz="1300" b="1" i="0">
                          <a:solidFill>
                            <a:srgbClr val="2E7D32"/>
                          </a:solidFill>
                          <a:latin typeface="Times New Roman"/>
                          <a:cs typeface="Times New Roman"/>
                          <a:ea typeface="Times New Roman"/>
                        </a:rPr>
                        <a:t>Met</a:t>
                      </a:r>
                    </a:p>
                  </a:txBody>
                  <a:tcPr marL="54864" marR="54864" marT="18288" marB="18288" anchor="ctr">
                    <a:lnR w="15875" cap="flat" cmpd="sng" algn="ctr">
                      <a:solidFill>
                        <a:srgbClr val="1F3864"/>
                      </a:solidFill>
                      <a:prstDash val="solid"/>
                    </a:lnR>
                    <a:lnB w="15875" cap="flat" cmpd="sng" algn="ctr">
                      <a:solidFill>
                        <a:srgbClr val="1F3864"/>
                      </a:solidFill>
                      <a:prstDash val="solid"/>
                    </a:lnB>
                    <a:solidFill>
                      <a:srgbClr val="FFFFFF"/>
                    </a:solidFill>
                  </a:tcPr>
                </a:tc>
              </a:tr>
            </a:tbl>
          </a:graphicData>
        </a:graphic>
      </p:graphicFrame>
      <p:sp>
        <p:nvSpPr>
          <p:cNvPr id="8" name="Rounded Rectangle 7"/>
          <p:cNvSpPr/>
          <p:nvPr/>
        </p:nvSpPr>
        <p:spPr>
          <a:xfrm>
            <a:off x="548640" y="5349240"/>
            <a:ext cx="11064240" cy="100584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7432" bIns="27432"/>
          <a:lstStyle/>
          <a:p>
            <a:pPr algn="l">
              <a:spcAft>
                <a:spcPts val="200"/>
              </a:spcAft>
            </a:pPr>
            <a:r>
              <a:rPr sz="1500" b="1" i="0">
                <a:solidFill>
                  <a:srgbClr val="002060"/>
                </a:solidFill>
                <a:latin typeface="Times New Roman"/>
                <a:cs typeface="Times New Roman"/>
                <a:ea typeface="Times New Roman"/>
              </a:rPr>
              <a:t>Research significance: </a:t>
            </a:r>
            <a:r>
              <a:rPr sz="1500" b="0" i="0">
                <a:solidFill>
                  <a:srgbClr val="262626"/>
                </a:solidFill>
                <a:latin typeface="Times New Roman"/>
                <a:cs typeface="Times New Roman"/>
                <a:ea typeface="Times New Roman"/>
              </a:rPr>
              <a:t>a practical, label-free way to roughly halve NAS cost without losing accuracy, a fair equal-GPU-hour evaluation protocol, and a criterion that predicts when cost-aware filtering helps or hurts.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SUMMARY</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Outcomes, Conclusion &amp; Future Scope</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21</a:t>
            </a:r>
          </a:p>
        </p:txBody>
      </p:sp>
      <p:sp>
        <p:nvSpPr>
          <p:cNvPr id="6" name="Rounded Rectangle 5"/>
          <p:cNvSpPr/>
          <p:nvPr/>
        </p:nvSpPr>
        <p:spPr>
          <a:xfrm>
            <a:off x="548640" y="1508760"/>
            <a:ext cx="172974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1554480"/>
            <a:ext cx="1546860" cy="256032"/>
          </a:xfrm>
          <a:prstGeom prst="rect">
            <a:avLst/>
          </a:prstGeom>
          <a:noFill/>
        </p:spPr>
        <p:txBody>
          <a:bodyPr wrap="square" anchor="t" lIns="45720" rIns="45720" tIns="27432" bIns="27432"/>
          <a:lstStyle/>
          <a:p>
            <a:pPr algn="ctr">
              <a:spcAft>
                <a:spcPts val="400"/>
              </a:spcAft>
            </a:pPr>
            <a:r>
              <a:rPr sz="1000" b="1" i="0">
                <a:solidFill>
                  <a:srgbClr val="595959"/>
                </a:solidFill>
                <a:latin typeface="Times New Roman"/>
                <a:cs typeface="Times New Roman"/>
                <a:ea typeface="Times New Roman"/>
              </a:rPr>
              <a:t>ROBUSTNESS</a:t>
            </a:r>
          </a:p>
        </p:txBody>
      </p:sp>
      <p:sp>
        <p:nvSpPr>
          <p:cNvPr id="8" name="TextBox 7"/>
          <p:cNvSpPr txBox="1"/>
          <p:nvPr/>
        </p:nvSpPr>
        <p:spPr>
          <a:xfrm>
            <a:off x="640080" y="1783080"/>
            <a:ext cx="1546860" cy="502920"/>
          </a:xfrm>
          <a:prstGeom prst="rect">
            <a:avLst/>
          </a:prstGeom>
          <a:noFill/>
        </p:spPr>
        <p:txBody>
          <a:bodyPr wrap="square" anchor="t" lIns="45720" rIns="45720" tIns="27432" bIns="27432"/>
          <a:lstStyle/>
          <a:p>
            <a:pPr algn="ctr">
              <a:spcAft>
                <a:spcPts val="400"/>
              </a:spcAft>
            </a:pPr>
            <a:r>
              <a:rPr sz="2400" b="1" i="0">
                <a:solidFill>
                  <a:srgbClr val="002060"/>
                </a:solidFill>
                <a:latin typeface="Times New Roman"/>
                <a:cs typeface="Times New Roman"/>
                <a:ea typeface="Times New Roman"/>
              </a:rPr>
              <a:t>0 losses</a:t>
            </a:r>
          </a:p>
        </p:txBody>
      </p:sp>
      <p:sp>
        <p:nvSpPr>
          <p:cNvPr id="9" name="TextBox 8"/>
          <p:cNvSpPr txBox="1"/>
          <p:nvPr/>
        </p:nvSpPr>
        <p:spPr>
          <a:xfrm>
            <a:off x="640080" y="2304288"/>
            <a:ext cx="1546860" cy="548640"/>
          </a:xfrm>
          <a:prstGeom prst="rect">
            <a:avLst/>
          </a:prstGeom>
          <a:noFill/>
        </p:spPr>
        <p:txBody>
          <a:bodyPr wrap="square" anchor="t" lIns="45720" rIns="45720" tIns="27432" bIns="27432"/>
          <a:lstStyle/>
          <a:p>
            <a:pPr algn="ctr">
              <a:spcAft>
                <a:spcPts val="400"/>
              </a:spcAft>
            </a:pPr>
            <a:r>
              <a:rPr sz="1150" b="0" i="0">
                <a:solidFill>
                  <a:srgbClr val="262626"/>
                </a:solidFill>
                <a:latin typeface="Times New Roman"/>
                <a:cs typeface="Times New Roman"/>
                <a:ea typeface="Times New Roman"/>
              </a:rPr>
              <a:t>against 13 methods at equal GPU-hours</a:t>
            </a:r>
          </a:p>
        </p:txBody>
      </p:sp>
      <p:sp>
        <p:nvSpPr>
          <p:cNvPr id="10" name="Rounded Rectangle 9"/>
          <p:cNvSpPr/>
          <p:nvPr/>
        </p:nvSpPr>
        <p:spPr>
          <a:xfrm>
            <a:off x="2415540" y="1508760"/>
            <a:ext cx="172974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06980" y="1554480"/>
            <a:ext cx="1546860" cy="256032"/>
          </a:xfrm>
          <a:prstGeom prst="rect">
            <a:avLst/>
          </a:prstGeom>
          <a:noFill/>
        </p:spPr>
        <p:txBody>
          <a:bodyPr wrap="square" anchor="t" lIns="45720" rIns="45720" tIns="27432" bIns="27432"/>
          <a:lstStyle/>
          <a:p>
            <a:pPr algn="ctr">
              <a:spcAft>
                <a:spcPts val="400"/>
              </a:spcAft>
            </a:pPr>
            <a:r>
              <a:rPr sz="1000" b="1" i="0">
                <a:solidFill>
                  <a:srgbClr val="595959"/>
                </a:solidFill>
                <a:latin typeface="Times New Roman"/>
                <a:cs typeface="Times New Roman"/>
                <a:ea typeface="Times New Roman"/>
              </a:rPr>
              <a:t>COST</a:t>
            </a:r>
          </a:p>
        </p:txBody>
      </p:sp>
      <p:sp>
        <p:nvSpPr>
          <p:cNvPr id="12" name="TextBox 11"/>
          <p:cNvSpPr txBox="1"/>
          <p:nvPr/>
        </p:nvSpPr>
        <p:spPr>
          <a:xfrm>
            <a:off x="2506980" y="1783080"/>
            <a:ext cx="1546860" cy="502920"/>
          </a:xfrm>
          <a:prstGeom prst="rect">
            <a:avLst/>
          </a:prstGeom>
          <a:noFill/>
        </p:spPr>
        <p:txBody>
          <a:bodyPr wrap="square" anchor="t" lIns="45720" rIns="45720" tIns="27432" bIns="27432"/>
          <a:lstStyle/>
          <a:p>
            <a:pPr algn="ctr">
              <a:spcAft>
                <a:spcPts val="400"/>
              </a:spcAft>
            </a:pPr>
            <a:r>
              <a:rPr sz="2400" b="1" i="0">
                <a:solidFill>
                  <a:srgbClr val="002060"/>
                </a:solidFill>
                <a:latin typeface="Times New Roman"/>
                <a:cs typeface="Times New Roman"/>
                <a:ea typeface="Times New Roman"/>
              </a:rPr>
              <a:t>53%</a:t>
            </a:r>
          </a:p>
        </p:txBody>
      </p:sp>
      <p:sp>
        <p:nvSpPr>
          <p:cNvPr id="13" name="TextBox 12"/>
          <p:cNvSpPr txBox="1"/>
          <p:nvPr/>
        </p:nvSpPr>
        <p:spPr>
          <a:xfrm>
            <a:off x="2506980" y="2304288"/>
            <a:ext cx="1546860" cy="548640"/>
          </a:xfrm>
          <a:prstGeom prst="rect">
            <a:avLst/>
          </a:prstGeom>
          <a:noFill/>
        </p:spPr>
        <p:txBody>
          <a:bodyPr wrap="square" anchor="t" lIns="45720" rIns="45720" tIns="27432" bIns="27432"/>
          <a:lstStyle/>
          <a:p>
            <a:pPr algn="ctr">
              <a:spcAft>
                <a:spcPts val="400"/>
              </a:spcAft>
            </a:pPr>
            <a:r>
              <a:rPr sz="1150" b="0" i="0">
                <a:solidFill>
                  <a:srgbClr val="262626"/>
                </a:solidFill>
                <a:latin typeface="Times New Roman"/>
                <a:cs typeface="Times New Roman"/>
                <a:ea typeface="Times New Roman"/>
              </a:rPr>
              <a:t>fewer GPU-hours with the proxy gate</a:t>
            </a:r>
          </a:p>
        </p:txBody>
      </p:sp>
      <p:sp>
        <p:nvSpPr>
          <p:cNvPr id="14" name="Rounded Rectangle 13"/>
          <p:cNvSpPr/>
          <p:nvPr/>
        </p:nvSpPr>
        <p:spPr>
          <a:xfrm>
            <a:off x="4282439" y="1508760"/>
            <a:ext cx="172974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73879" y="1554480"/>
            <a:ext cx="1546860" cy="256032"/>
          </a:xfrm>
          <a:prstGeom prst="rect">
            <a:avLst/>
          </a:prstGeom>
          <a:noFill/>
        </p:spPr>
        <p:txBody>
          <a:bodyPr wrap="square" anchor="t" lIns="45720" rIns="45720" tIns="27432" bIns="27432"/>
          <a:lstStyle/>
          <a:p>
            <a:pPr algn="ctr">
              <a:spcAft>
                <a:spcPts val="400"/>
              </a:spcAft>
            </a:pPr>
            <a:r>
              <a:rPr sz="1000" b="1" i="0">
                <a:solidFill>
                  <a:srgbClr val="595959"/>
                </a:solidFill>
                <a:latin typeface="Times New Roman"/>
                <a:cs typeface="Times New Roman"/>
                <a:ea typeface="Times New Roman"/>
              </a:rPr>
              <a:t>SUPERVISION</a:t>
            </a:r>
          </a:p>
        </p:txBody>
      </p:sp>
      <p:sp>
        <p:nvSpPr>
          <p:cNvPr id="16" name="TextBox 15"/>
          <p:cNvSpPr txBox="1"/>
          <p:nvPr/>
        </p:nvSpPr>
        <p:spPr>
          <a:xfrm>
            <a:off x="4373879" y="1783080"/>
            <a:ext cx="1546860" cy="502920"/>
          </a:xfrm>
          <a:prstGeom prst="rect">
            <a:avLst/>
          </a:prstGeom>
          <a:noFill/>
        </p:spPr>
        <p:txBody>
          <a:bodyPr wrap="square" anchor="t" lIns="45720" rIns="45720" tIns="27432" bIns="27432"/>
          <a:lstStyle/>
          <a:p>
            <a:pPr algn="ctr">
              <a:spcAft>
                <a:spcPts val="400"/>
              </a:spcAft>
            </a:pPr>
            <a:r>
              <a:rPr sz="2400" b="1" i="0">
                <a:solidFill>
                  <a:srgbClr val="002060"/>
                </a:solidFill>
                <a:latin typeface="Times New Roman"/>
                <a:cs typeface="Times New Roman"/>
                <a:ea typeface="Times New Roman"/>
              </a:rPr>
              <a:t>0 labels</a:t>
            </a:r>
          </a:p>
        </p:txBody>
      </p:sp>
      <p:sp>
        <p:nvSpPr>
          <p:cNvPr id="17" name="TextBox 16"/>
          <p:cNvSpPr txBox="1"/>
          <p:nvPr/>
        </p:nvSpPr>
        <p:spPr>
          <a:xfrm>
            <a:off x="4373879" y="2304288"/>
            <a:ext cx="1546860" cy="548640"/>
          </a:xfrm>
          <a:prstGeom prst="rect">
            <a:avLst/>
          </a:prstGeom>
          <a:noFill/>
        </p:spPr>
        <p:txBody>
          <a:bodyPr wrap="square" anchor="t" lIns="45720" rIns="45720" tIns="27432" bIns="27432"/>
          <a:lstStyle/>
          <a:p>
            <a:pPr algn="ctr">
              <a:spcAft>
                <a:spcPts val="400"/>
              </a:spcAft>
            </a:pPr>
            <a:r>
              <a:rPr sz="1150" b="0" i="0">
                <a:solidFill>
                  <a:srgbClr val="262626"/>
                </a:solidFill>
                <a:latin typeface="Times New Roman"/>
                <a:cs typeface="Times New Roman"/>
                <a:ea typeface="Times New Roman"/>
              </a:rPr>
              <a:t>needed to build the proxy gate</a:t>
            </a:r>
          </a:p>
        </p:txBody>
      </p:sp>
      <p:sp>
        <p:nvSpPr>
          <p:cNvPr id="18" name="Rounded Rectangle 17"/>
          <p:cNvSpPr/>
          <p:nvPr/>
        </p:nvSpPr>
        <p:spPr>
          <a:xfrm>
            <a:off x="6149340" y="1508760"/>
            <a:ext cx="172974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240779" y="1554480"/>
            <a:ext cx="1546860" cy="256032"/>
          </a:xfrm>
          <a:prstGeom prst="rect">
            <a:avLst/>
          </a:prstGeom>
          <a:noFill/>
        </p:spPr>
        <p:txBody>
          <a:bodyPr wrap="square" anchor="t" lIns="45720" rIns="45720" tIns="27432" bIns="27432"/>
          <a:lstStyle/>
          <a:p>
            <a:pPr algn="ctr">
              <a:spcAft>
                <a:spcPts val="400"/>
              </a:spcAft>
            </a:pPr>
            <a:r>
              <a:rPr sz="1000" b="1" i="0">
                <a:solidFill>
                  <a:srgbClr val="595959"/>
                </a:solidFill>
                <a:latin typeface="Times New Roman"/>
                <a:cs typeface="Times New Roman"/>
                <a:ea typeface="Times New Roman"/>
              </a:rPr>
              <a:t>EFFICIENCY</a:t>
            </a:r>
          </a:p>
        </p:txBody>
      </p:sp>
      <p:sp>
        <p:nvSpPr>
          <p:cNvPr id="20" name="TextBox 19"/>
          <p:cNvSpPr txBox="1"/>
          <p:nvPr/>
        </p:nvSpPr>
        <p:spPr>
          <a:xfrm>
            <a:off x="6240779" y="1783080"/>
            <a:ext cx="1546860" cy="502920"/>
          </a:xfrm>
          <a:prstGeom prst="rect">
            <a:avLst/>
          </a:prstGeom>
          <a:noFill/>
        </p:spPr>
        <p:txBody>
          <a:bodyPr wrap="square" anchor="t" lIns="45720" rIns="45720" tIns="27432" bIns="27432"/>
          <a:lstStyle/>
          <a:p>
            <a:pPr algn="ctr">
              <a:spcAft>
                <a:spcPts val="400"/>
              </a:spcAft>
            </a:pPr>
            <a:r>
              <a:rPr sz="2400" b="1" i="0">
                <a:solidFill>
                  <a:srgbClr val="002060"/>
                </a:solidFill>
                <a:latin typeface="Times New Roman"/>
                <a:cs typeface="Times New Roman"/>
                <a:ea typeface="Times New Roman"/>
              </a:rPr>
              <a:t>0 repeats</a:t>
            </a:r>
          </a:p>
        </p:txBody>
      </p:sp>
      <p:sp>
        <p:nvSpPr>
          <p:cNvPr id="21" name="TextBox 20"/>
          <p:cNvSpPr txBox="1"/>
          <p:nvPr/>
        </p:nvSpPr>
        <p:spPr>
          <a:xfrm>
            <a:off x="6240779" y="2304288"/>
            <a:ext cx="1546860" cy="548640"/>
          </a:xfrm>
          <a:prstGeom prst="rect">
            <a:avLst/>
          </a:prstGeom>
          <a:noFill/>
        </p:spPr>
        <p:txBody>
          <a:bodyPr wrap="square" anchor="t" lIns="45720" rIns="45720" tIns="27432" bIns="27432"/>
          <a:lstStyle/>
          <a:p>
            <a:pPr algn="ctr">
              <a:spcAft>
                <a:spcPts val="400"/>
              </a:spcAft>
            </a:pPr>
            <a:r>
              <a:rPr sz="1150" b="0" i="0">
                <a:solidFill>
                  <a:srgbClr val="262626"/>
                </a:solidFill>
                <a:latin typeface="Times New Roman"/>
                <a:cs typeface="Times New Roman"/>
                <a:ea typeface="Times New Roman"/>
              </a:rPr>
              <a:t>no architecture is ever evaluated twice</a:t>
            </a:r>
          </a:p>
        </p:txBody>
      </p:sp>
      <p:sp>
        <p:nvSpPr>
          <p:cNvPr id="22" name="Rounded Rectangle 21"/>
          <p:cNvSpPr/>
          <p:nvPr/>
        </p:nvSpPr>
        <p:spPr>
          <a:xfrm>
            <a:off x="8016239" y="1508760"/>
            <a:ext cx="172974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107679" y="1554480"/>
            <a:ext cx="1546860" cy="256032"/>
          </a:xfrm>
          <a:prstGeom prst="rect">
            <a:avLst/>
          </a:prstGeom>
          <a:noFill/>
        </p:spPr>
        <p:txBody>
          <a:bodyPr wrap="square" anchor="t" lIns="45720" rIns="45720" tIns="27432" bIns="27432"/>
          <a:lstStyle/>
          <a:p>
            <a:pPr algn="ctr">
              <a:spcAft>
                <a:spcPts val="400"/>
              </a:spcAft>
            </a:pPr>
            <a:r>
              <a:rPr sz="1000" b="1" i="0">
                <a:solidFill>
                  <a:srgbClr val="595959"/>
                </a:solidFill>
                <a:latin typeface="Times New Roman"/>
                <a:cs typeface="Times New Roman"/>
                <a:ea typeface="Times New Roman"/>
              </a:rPr>
              <a:t>LLM PRIOR</a:t>
            </a:r>
          </a:p>
        </p:txBody>
      </p:sp>
      <p:sp>
        <p:nvSpPr>
          <p:cNvPr id="24" name="TextBox 23"/>
          <p:cNvSpPr txBox="1"/>
          <p:nvPr/>
        </p:nvSpPr>
        <p:spPr>
          <a:xfrm>
            <a:off x="8107679" y="1783080"/>
            <a:ext cx="1546860" cy="502920"/>
          </a:xfrm>
          <a:prstGeom prst="rect">
            <a:avLst/>
          </a:prstGeom>
          <a:noFill/>
        </p:spPr>
        <p:txBody>
          <a:bodyPr wrap="square" anchor="t" lIns="45720" rIns="45720" tIns="27432" bIns="27432"/>
          <a:lstStyle/>
          <a:p>
            <a:pPr algn="ctr">
              <a:spcAft>
                <a:spcPts val="400"/>
              </a:spcAft>
            </a:pPr>
            <a:r>
              <a:rPr sz="2400" b="1" i="0">
                <a:solidFill>
                  <a:srgbClr val="002060"/>
                </a:solidFill>
                <a:latin typeface="Times New Roman"/>
                <a:cs typeface="Times New Roman"/>
                <a:ea typeface="Times New Roman"/>
              </a:rPr>
              <a:t>2–3×</a:t>
            </a:r>
          </a:p>
        </p:txBody>
      </p:sp>
      <p:sp>
        <p:nvSpPr>
          <p:cNvPr id="25" name="TextBox 24"/>
          <p:cNvSpPr txBox="1"/>
          <p:nvPr/>
        </p:nvSpPr>
        <p:spPr>
          <a:xfrm>
            <a:off x="8107679" y="2304288"/>
            <a:ext cx="1546860" cy="548640"/>
          </a:xfrm>
          <a:prstGeom prst="rect">
            <a:avLst/>
          </a:prstGeom>
          <a:noFill/>
        </p:spPr>
        <p:txBody>
          <a:bodyPr wrap="square" anchor="t" lIns="45720" rIns="45720" tIns="27432" bIns="27432"/>
          <a:lstStyle/>
          <a:p>
            <a:pPr algn="ctr">
              <a:spcAft>
                <a:spcPts val="400"/>
              </a:spcAft>
            </a:pPr>
            <a:r>
              <a:rPr sz="1150" b="0" i="0">
                <a:solidFill>
                  <a:srgbClr val="262626"/>
                </a:solidFill>
                <a:latin typeface="Times New Roman"/>
                <a:cs typeface="Times New Roman"/>
                <a:ea typeface="Times New Roman"/>
              </a:rPr>
              <a:t>faster early search on CIFAR-10 / 100</a:t>
            </a:r>
          </a:p>
        </p:txBody>
      </p:sp>
      <p:sp>
        <p:nvSpPr>
          <p:cNvPr id="26" name="Rounded Rectangle 25"/>
          <p:cNvSpPr/>
          <p:nvPr/>
        </p:nvSpPr>
        <p:spPr>
          <a:xfrm>
            <a:off x="9883139" y="1508760"/>
            <a:ext cx="1729740" cy="137160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974579" y="1554480"/>
            <a:ext cx="1546860" cy="256032"/>
          </a:xfrm>
          <a:prstGeom prst="rect">
            <a:avLst/>
          </a:prstGeom>
          <a:noFill/>
        </p:spPr>
        <p:txBody>
          <a:bodyPr wrap="square" anchor="t" lIns="45720" rIns="45720" tIns="27432" bIns="27432"/>
          <a:lstStyle/>
          <a:p>
            <a:pPr algn="ctr">
              <a:spcAft>
                <a:spcPts val="400"/>
              </a:spcAft>
            </a:pPr>
            <a:r>
              <a:rPr sz="1000" b="1" i="0">
                <a:solidFill>
                  <a:srgbClr val="595959"/>
                </a:solidFill>
                <a:latin typeface="Times New Roman"/>
                <a:cs typeface="Times New Roman"/>
                <a:ea typeface="Times New Roman"/>
              </a:rPr>
              <a:t>RANKING</a:t>
            </a:r>
          </a:p>
        </p:txBody>
      </p:sp>
      <p:sp>
        <p:nvSpPr>
          <p:cNvPr id="28" name="TextBox 27"/>
          <p:cNvSpPr txBox="1"/>
          <p:nvPr/>
        </p:nvSpPr>
        <p:spPr>
          <a:xfrm>
            <a:off x="9974579" y="1783080"/>
            <a:ext cx="1546860" cy="502920"/>
          </a:xfrm>
          <a:prstGeom prst="rect">
            <a:avLst/>
          </a:prstGeom>
          <a:noFill/>
        </p:spPr>
        <p:txBody>
          <a:bodyPr wrap="square" anchor="t" lIns="45720" rIns="45720" tIns="27432" bIns="27432"/>
          <a:lstStyle/>
          <a:p>
            <a:pPr algn="ctr">
              <a:spcAft>
                <a:spcPts val="400"/>
              </a:spcAft>
            </a:pPr>
            <a:r>
              <a:rPr sz="2400" b="1" i="0">
                <a:solidFill>
                  <a:srgbClr val="002060"/>
                </a:solidFill>
                <a:latin typeface="Times New Roman"/>
                <a:cs typeface="Times New Roman"/>
                <a:ea typeface="Times New Roman"/>
              </a:rPr>
              <a:t>Tied-best</a:t>
            </a:r>
          </a:p>
        </p:txBody>
      </p:sp>
      <p:sp>
        <p:nvSpPr>
          <p:cNvPr id="29" name="TextBox 28"/>
          <p:cNvSpPr txBox="1"/>
          <p:nvPr/>
        </p:nvSpPr>
        <p:spPr>
          <a:xfrm>
            <a:off x="9974579" y="2304288"/>
            <a:ext cx="1546860" cy="548640"/>
          </a:xfrm>
          <a:prstGeom prst="rect">
            <a:avLst/>
          </a:prstGeom>
          <a:noFill/>
        </p:spPr>
        <p:txBody>
          <a:bodyPr wrap="square" anchor="t" lIns="45720" rIns="45720" tIns="27432" bIns="27432"/>
          <a:lstStyle/>
          <a:p>
            <a:pPr algn="ctr">
              <a:spcAft>
                <a:spcPts val="400"/>
              </a:spcAft>
            </a:pPr>
            <a:r>
              <a:rPr sz="1150" b="0" i="0">
                <a:solidFill>
                  <a:srgbClr val="262626"/>
                </a:solidFill>
                <a:latin typeface="Times New Roman"/>
                <a:cs typeface="Times New Roman"/>
                <a:ea typeface="Times New Roman"/>
              </a:rPr>
              <a:t>of 14 methods on NAS-Bench-201</a:t>
            </a:r>
          </a:p>
        </p:txBody>
      </p:sp>
      <p:sp>
        <p:nvSpPr>
          <p:cNvPr id="30" name="Rounded Rectangle 29"/>
          <p:cNvSpPr/>
          <p:nvPr/>
        </p:nvSpPr>
        <p:spPr>
          <a:xfrm>
            <a:off x="548640" y="3017520"/>
            <a:ext cx="6309360" cy="2286000"/>
          </a:xfrm>
          <a:prstGeom prst="roundRect">
            <a:avLst>
              <a:gd name="adj" fmla="val 4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3072384"/>
            <a:ext cx="5943600" cy="365760"/>
          </a:xfrm>
          <a:prstGeom prst="rect">
            <a:avLst/>
          </a:prstGeom>
          <a:noFill/>
        </p:spPr>
        <p:txBody>
          <a:bodyPr wrap="square" anchor="t" lIns="45720" rIns="45720" tIns="27432" bIns="27432"/>
          <a:lstStyle/>
          <a:p>
            <a:pPr algn="l">
              <a:spcAft>
                <a:spcPts val="400"/>
              </a:spcAft>
            </a:pPr>
            <a:r>
              <a:rPr sz="1800" b="1" i="0">
                <a:solidFill>
                  <a:srgbClr val="002060"/>
                </a:solidFill>
                <a:latin typeface="Times New Roman"/>
                <a:cs typeface="Times New Roman"/>
                <a:ea typeface="Times New Roman"/>
              </a:rPr>
              <a:t>Conclusion</a:t>
            </a:r>
          </a:p>
        </p:txBody>
      </p:sp>
      <p:sp>
        <p:nvSpPr>
          <p:cNvPr id="32" name="TextBox 31"/>
          <p:cNvSpPr txBox="1"/>
          <p:nvPr/>
        </p:nvSpPr>
        <p:spPr>
          <a:xfrm>
            <a:off x="731520" y="3456432"/>
            <a:ext cx="5989320" cy="1828800"/>
          </a:xfrm>
          <a:prstGeom prst="rect">
            <a:avLst/>
          </a:prstGeom>
          <a:noFill/>
        </p:spPr>
        <p:txBody>
          <a:bodyPr wrap="square" anchor="t" lIns="45720" rIns="45720" tIns="27432" bIns="27432"/>
          <a:lstStyle/>
          <a:p>
            <a:pPr algn="l" marL="228600" indent="-201168">
              <a:spcAft>
                <a:spcPts val="800"/>
              </a:spcAft>
              <a:buFont typeface="Arial"/>
              <a:buChar char="•"/>
            </a:pPr>
            <a:r>
              <a:rPr sz="1600" b="0" i="0">
                <a:solidFill>
                  <a:srgbClr val="262626"/>
                </a:solidFill>
                <a:latin typeface="Times New Roman"/>
                <a:cs typeface="Times New Roman"/>
                <a:ea typeface="Times New Roman"/>
              </a:rPr>
              <a:t>Matches the best baselines with ~40% of the evaluations.</a:t>
            </a:r>
          </a:p>
          <a:p>
            <a:pPr algn="l" marL="228600" indent="-201168">
              <a:spcAft>
                <a:spcPts val="800"/>
              </a:spcAft>
              <a:buFont typeface="Arial"/>
              <a:buChar char="•"/>
            </a:pPr>
            <a:r>
              <a:rPr sz="1600" b="0" i="0">
                <a:solidFill>
                  <a:srgbClr val="262626"/>
                </a:solidFill>
                <a:latin typeface="Times New Roman"/>
                <a:cs typeface="Times New Roman"/>
                <a:ea typeface="Times New Roman"/>
              </a:rPr>
              <a:t>Gate-cost criterion predicted the sign correctly (7 / 7 pairs).</a:t>
            </a:r>
          </a:p>
          <a:p>
            <a:pPr algn="l" marL="228600" indent="-201168">
              <a:spcAft>
                <a:spcPts val="800"/>
              </a:spcAft>
              <a:buFont typeface="Arial"/>
              <a:buChar char="•"/>
            </a:pPr>
            <a:r>
              <a:rPr sz="1600" b="1" i="0">
                <a:solidFill>
                  <a:srgbClr val="C00000"/>
                </a:solidFill>
                <a:latin typeface="Times New Roman"/>
                <a:cs typeface="Times New Roman"/>
                <a:ea typeface="Times New Roman"/>
              </a:rPr>
              <a:t>Did not hold: </a:t>
            </a:r>
            <a:r>
              <a:rPr sz="1600" b="0" i="0">
                <a:solidFill>
                  <a:srgbClr val="262626"/>
                </a:solidFill>
                <a:latin typeface="Times New Roman"/>
                <a:cs typeface="Times New Roman"/>
                <a:ea typeface="Times New Roman"/>
              </a:rPr>
              <a:t>tree shape, LLM final gain, hardware advantage.</a:t>
            </a:r>
          </a:p>
        </p:txBody>
      </p:sp>
      <p:sp>
        <p:nvSpPr>
          <p:cNvPr id="33" name="Rounded Rectangle 32"/>
          <p:cNvSpPr/>
          <p:nvPr/>
        </p:nvSpPr>
        <p:spPr>
          <a:xfrm>
            <a:off x="7086600" y="3017520"/>
            <a:ext cx="4526280" cy="2286000"/>
          </a:xfrm>
          <a:prstGeom prst="roundRect">
            <a:avLst>
              <a:gd name="adj" fmla="val 4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269480" y="3072384"/>
            <a:ext cx="4206240" cy="365760"/>
          </a:xfrm>
          <a:prstGeom prst="rect">
            <a:avLst/>
          </a:prstGeom>
          <a:noFill/>
        </p:spPr>
        <p:txBody>
          <a:bodyPr wrap="square" anchor="t" lIns="45720" rIns="45720" tIns="27432" bIns="27432"/>
          <a:lstStyle/>
          <a:p>
            <a:pPr algn="l">
              <a:spcAft>
                <a:spcPts val="400"/>
              </a:spcAft>
            </a:pPr>
            <a:r>
              <a:rPr sz="1800" b="1" i="0">
                <a:solidFill>
                  <a:srgbClr val="002060"/>
                </a:solidFill>
                <a:latin typeface="Times New Roman"/>
                <a:cs typeface="Times New Roman"/>
                <a:ea typeface="Times New Roman"/>
              </a:rPr>
              <a:t>Future scope</a:t>
            </a:r>
          </a:p>
        </p:txBody>
      </p:sp>
      <p:sp>
        <p:nvSpPr>
          <p:cNvPr id="35" name="TextBox 34"/>
          <p:cNvSpPr txBox="1"/>
          <p:nvPr/>
        </p:nvSpPr>
        <p:spPr>
          <a:xfrm>
            <a:off x="7269480" y="3456432"/>
            <a:ext cx="4206240" cy="1828800"/>
          </a:xfrm>
          <a:prstGeom prst="rect">
            <a:avLst/>
          </a:prstGeom>
          <a:noFill/>
        </p:spPr>
        <p:txBody>
          <a:bodyPr wrap="square" anchor="t" lIns="45720" rIns="45720" tIns="27432" bIns="27432"/>
          <a:lstStyle/>
          <a:p>
            <a:pPr algn="l" marL="228600" indent="-201168">
              <a:spcAft>
                <a:spcPts val="800"/>
              </a:spcAft>
              <a:buFont typeface="Arial"/>
              <a:buChar char="•"/>
            </a:pPr>
            <a:r>
              <a:rPr sz="1600" b="0" i="0">
                <a:solidFill>
                  <a:srgbClr val="262626"/>
                </a:solidFill>
                <a:latin typeface="Times New Roman"/>
                <a:cs typeface="Times New Roman"/>
                <a:ea typeface="Times New Roman"/>
              </a:rPr>
              <a:t>Real training on larger spaces [37].</a:t>
            </a:r>
          </a:p>
          <a:p>
            <a:pPr algn="l" marL="228600" indent="-201168">
              <a:spcAft>
                <a:spcPts val="800"/>
              </a:spcAft>
              <a:buFont typeface="Arial"/>
              <a:buChar char="•"/>
            </a:pPr>
            <a:r>
              <a:rPr sz="1600" b="0" i="0">
                <a:solidFill>
                  <a:srgbClr val="262626"/>
                </a:solidFill>
                <a:latin typeface="Times New Roman"/>
                <a:cs typeface="Times New Roman"/>
                <a:ea typeface="Times New Roman"/>
              </a:rPr>
              <a:t>Real weight inheritance [38].</a:t>
            </a:r>
          </a:p>
          <a:p>
            <a:pPr algn="l" marL="228600" indent="-201168">
              <a:spcAft>
                <a:spcPts val="800"/>
              </a:spcAft>
              <a:buFont typeface="Arial"/>
              <a:buChar char="•"/>
            </a:pPr>
            <a:r>
              <a:rPr sz="1600" b="0" i="0">
                <a:solidFill>
                  <a:srgbClr val="262626"/>
                </a:solidFill>
                <a:latin typeface="Times New Roman"/>
                <a:cs typeface="Times New Roman"/>
                <a:ea typeface="Times New Roman"/>
              </a:rPr>
              <a:t>LLM prior for NB101 and hardware.</a:t>
            </a:r>
          </a:p>
          <a:p>
            <a:pPr algn="l" marL="228600" indent="-201168">
              <a:spcAft>
                <a:spcPts val="800"/>
              </a:spcAft>
              <a:buFont typeface="Arial"/>
              <a:buChar char="•"/>
            </a:pPr>
            <a:r>
              <a:rPr sz="1600" b="0" i="0">
                <a:solidFill>
                  <a:srgbClr val="262626"/>
                </a:solidFill>
                <a:latin typeface="Times New Roman"/>
                <a:cs typeface="Times New Roman"/>
                <a:ea typeface="Times New Roman"/>
              </a:rPr>
              <a:t>Paper: TMLR / AutoML-Conf.</a:t>
            </a:r>
          </a:p>
        </p:txBody>
      </p:sp>
      <p:sp>
        <p:nvSpPr>
          <p:cNvPr id="36" name="Rounded Rectangle 35"/>
          <p:cNvSpPr/>
          <p:nvPr/>
        </p:nvSpPr>
        <p:spPr>
          <a:xfrm>
            <a:off x="548640" y="5458968"/>
            <a:ext cx="11064240" cy="868680"/>
          </a:xfrm>
          <a:prstGeom prst="roundRect">
            <a:avLst>
              <a:gd name="adj" fmla="val 8000"/>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7432" bIns="27432"/>
          <a:lstStyle/>
          <a:p>
            <a:pPr algn="l">
              <a:spcAft>
                <a:spcPts val="200"/>
              </a:spcAft>
            </a:pPr>
            <a:r>
              <a:rPr sz="1700" b="1" i="0">
                <a:solidFill>
                  <a:srgbClr val="002060"/>
                </a:solidFill>
                <a:latin typeface="Times New Roman"/>
                <a:cs typeface="Times New Roman"/>
                <a:ea typeface="Times New Roman"/>
              </a:rPr>
              <a:t>Core claim: </a:t>
            </a:r>
            <a:r>
              <a:rPr sz="1700" b="0" i="0">
                <a:solidFill>
                  <a:srgbClr val="262626"/>
                </a:solidFill>
                <a:latin typeface="Times New Roman"/>
                <a:cs typeface="Times New Roman"/>
                <a:ea typeface="Times New Roman"/>
              </a:rPr>
              <a:t>same accuracy at half the GPU cost, never beaten at equal compute.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BIBLIOGRAPHY</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References</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22</a:t>
            </a:r>
          </a:p>
        </p:txBody>
      </p:sp>
      <p:sp>
        <p:nvSpPr>
          <p:cNvPr id="6" name="TextBox 5"/>
          <p:cNvSpPr txBox="1"/>
          <p:nvPr/>
        </p:nvSpPr>
        <p:spPr>
          <a:xfrm>
            <a:off x="548640" y="1481328"/>
            <a:ext cx="5440680" cy="4937760"/>
          </a:xfrm>
          <a:prstGeom prst="rect">
            <a:avLst/>
          </a:prstGeom>
          <a:noFill/>
        </p:spPr>
        <p:txBody>
          <a:bodyPr wrap="square" anchor="t" lIns="45720" rIns="45720" tIns="27432" bIns="27432"/>
          <a:lstStyle/>
          <a:p>
            <a:pPr algn="l">
              <a:spcAft>
                <a:spcPts val="500"/>
              </a:spcAft>
            </a:pPr>
            <a:r>
              <a:rPr sz="1100" b="1" i="0">
                <a:solidFill>
                  <a:srgbClr val="262626"/>
                </a:solidFill>
                <a:latin typeface="Times New Roman"/>
                <a:cs typeface="Times New Roman"/>
                <a:ea typeface="Times New Roman"/>
              </a:rPr>
              <a:t>[1]  </a:t>
            </a:r>
            <a:r>
              <a:rPr sz="1100" b="0" i="0">
                <a:solidFill>
                  <a:srgbClr val="262626"/>
                </a:solidFill>
                <a:latin typeface="Times New Roman"/>
                <a:cs typeface="Times New Roman"/>
                <a:ea typeface="Times New Roman"/>
              </a:rPr>
              <a:t>B. Zoph and Q. V. Le, “Neural architecture search with reinforcement learning,” in Proc. ICLR, 2017.</a:t>
            </a:r>
          </a:p>
          <a:p>
            <a:pPr algn="l">
              <a:spcAft>
                <a:spcPts val="500"/>
              </a:spcAft>
            </a:pPr>
            <a:r>
              <a:rPr sz="1100" b="1" i="0">
                <a:solidFill>
                  <a:srgbClr val="262626"/>
                </a:solidFill>
                <a:latin typeface="Times New Roman"/>
                <a:cs typeface="Times New Roman"/>
                <a:ea typeface="Times New Roman"/>
              </a:rPr>
              <a:t>[2]  </a:t>
            </a:r>
            <a:r>
              <a:rPr sz="1100" b="0" i="0">
                <a:solidFill>
                  <a:srgbClr val="262626"/>
                </a:solidFill>
                <a:latin typeface="Times New Roman"/>
                <a:cs typeface="Times New Roman"/>
                <a:ea typeface="Times New Roman"/>
              </a:rPr>
              <a:t>T. Elsken, J. H. Metzen, and F. Hutter, “Neural architecture search: A survey,” JMLR, vol. 20, 2019.</a:t>
            </a:r>
          </a:p>
          <a:p>
            <a:pPr algn="l">
              <a:spcAft>
                <a:spcPts val="500"/>
              </a:spcAft>
            </a:pPr>
            <a:r>
              <a:rPr sz="1100" b="1" i="0">
                <a:solidFill>
                  <a:srgbClr val="262626"/>
                </a:solidFill>
                <a:latin typeface="Times New Roman"/>
                <a:cs typeface="Times New Roman"/>
                <a:ea typeface="Times New Roman"/>
              </a:rPr>
              <a:t>[3]  </a:t>
            </a:r>
            <a:r>
              <a:rPr sz="1100" b="0" i="0">
                <a:solidFill>
                  <a:srgbClr val="262626"/>
                </a:solidFill>
                <a:latin typeface="Times New Roman"/>
                <a:cs typeface="Times New Roman"/>
                <a:ea typeface="Times New Roman"/>
              </a:rPr>
              <a:t>E. Real, S. Moore, A. Selle, S. Saxena, Y. L. Suematsu, J. Tan, Q. V. Le, and A. Kurakin, “Large-scale evolution of image classifiers,” in Proc. ICML, 2017.</a:t>
            </a:r>
          </a:p>
          <a:p>
            <a:pPr algn="l">
              <a:spcAft>
                <a:spcPts val="500"/>
              </a:spcAft>
            </a:pPr>
            <a:r>
              <a:rPr sz="1100" b="1" i="0">
                <a:solidFill>
                  <a:srgbClr val="262626"/>
                </a:solidFill>
                <a:latin typeface="Times New Roman"/>
                <a:cs typeface="Times New Roman"/>
                <a:ea typeface="Times New Roman"/>
              </a:rPr>
              <a:t>[4]  </a:t>
            </a:r>
            <a:r>
              <a:rPr sz="1100" b="0" i="0">
                <a:solidFill>
                  <a:srgbClr val="262626"/>
                </a:solidFill>
                <a:latin typeface="Times New Roman"/>
                <a:cs typeface="Times New Roman"/>
                <a:ea typeface="Times New Roman"/>
              </a:rPr>
              <a:t>B. Zoph, V. Vasudevan, J. Shlens, and Q. V. Le, “Learning transferable architectures for scalable image recognition,” in Proc. CVPR, 2018.</a:t>
            </a:r>
          </a:p>
          <a:p>
            <a:pPr algn="l">
              <a:spcAft>
                <a:spcPts val="500"/>
              </a:spcAft>
            </a:pPr>
            <a:r>
              <a:rPr sz="1100" b="1" i="0">
                <a:solidFill>
                  <a:srgbClr val="262626"/>
                </a:solidFill>
                <a:latin typeface="Times New Roman"/>
                <a:cs typeface="Times New Roman"/>
                <a:ea typeface="Times New Roman"/>
              </a:rPr>
              <a:t>[5]  </a:t>
            </a:r>
            <a:r>
              <a:rPr sz="1100" b="0" i="0">
                <a:solidFill>
                  <a:srgbClr val="262626"/>
                </a:solidFill>
                <a:latin typeface="Times New Roman"/>
                <a:cs typeface="Times New Roman"/>
                <a:ea typeface="Times New Roman"/>
              </a:rPr>
              <a:t>E. Fredkin, “Trie memory,” Communications of the ACM, vol. 3, no. 9, pp. 490–499, 1960.</a:t>
            </a:r>
          </a:p>
          <a:p>
            <a:pPr algn="l">
              <a:spcAft>
                <a:spcPts val="500"/>
              </a:spcAft>
            </a:pPr>
            <a:r>
              <a:rPr sz="1100" b="1" i="0">
                <a:solidFill>
                  <a:srgbClr val="262626"/>
                </a:solidFill>
                <a:latin typeface="Times New Roman"/>
                <a:cs typeface="Times New Roman"/>
                <a:ea typeface="Times New Roman"/>
              </a:rPr>
              <a:t>[6]  </a:t>
            </a:r>
            <a:r>
              <a:rPr sz="1100" b="0" i="0">
                <a:solidFill>
                  <a:srgbClr val="262626"/>
                </a:solidFill>
                <a:latin typeface="Times New Roman"/>
                <a:cs typeface="Times New Roman"/>
                <a:ea typeface="Times New Roman"/>
              </a:rPr>
              <a:t>M. S. Abdelfattah, A. Mehrotra, Ł. Dudziak, and N. D. Lane, “Zero-cost proxies for lightweight NAS,” in Proc. ICLR, 2021.</a:t>
            </a:r>
          </a:p>
          <a:p>
            <a:pPr algn="l">
              <a:spcAft>
                <a:spcPts val="500"/>
              </a:spcAft>
            </a:pPr>
            <a:r>
              <a:rPr sz="1100" b="1" i="0">
                <a:solidFill>
                  <a:srgbClr val="262626"/>
                </a:solidFill>
                <a:latin typeface="Times New Roman"/>
                <a:cs typeface="Times New Roman"/>
                <a:ea typeface="Times New Roman"/>
              </a:rPr>
              <a:t>[7]  </a:t>
            </a:r>
            <a:r>
              <a:rPr sz="1100" b="0" i="0">
                <a:solidFill>
                  <a:srgbClr val="262626"/>
                </a:solidFill>
                <a:latin typeface="Times New Roman"/>
                <a:cs typeface="Times New Roman"/>
                <a:ea typeface="Times New Roman"/>
              </a:rPr>
              <a:t>A. Chen, D. M. Dohan, and D. R. So, “EvoPrompting: Language models for code-level neural architecture search,” in Proc. NeurIPS, 2023.</a:t>
            </a:r>
          </a:p>
          <a:p>
            <a:pPr algn="l">
              <a:spcAft>
                <a:spcPts val="500"/>
              </a:spcAft>
            </a:pPr>
            <a:r>
              <a:rPr sz="1100" b="1" i="0">
                <a:solidFill>
                  <a:srgbClr val="262626"/>
                </a:solidFill>
                <a:latin typeface="Times New Roman"/>
                <a:cs typeface="Times New Roman"/>
                <a:ea typeface="Times New Roman"/>
              </a:rPr>
              <a:t>[8]  </a:t>
            </a:r>
            <a:r>
              <a:rPr sz="1100" b="0" i="0">
                <a:solidFill>
                  <a:srgbClr val="262626"/>
                </a:solidFill>
                <a:latin typeface="Times New Roman"/>
                <a:cs typeface="Times New Roman"/>
                <a:ea typeface="Times New Roman"/>
              </a:rPr>
              <a:t>L. Li and A. Talwalkar, “Random search and reproducibility for neural architecture search,” in Proc. UAI, 2019.</a:t>
            </a:r>
          </a:p>
          <a:p>
            <a:pPr algn="l">
              <a:spcAft>
                <a:spcPts val="500"/>
              </a:spcAft>
            </a:pPr>
            <a:r>
              <a:rPr sz="1100" b="1" i="0">
                <a:solidFill>
                  <a:srgbClr val="262626"/>
                </a:solidFill>
                <a:latin typeface="Times New Roman"/>
                <a:cs typeface="Times New Roman"/>
                <a:ea typeface="Times New Roman"/>
              </a:rPr>
              <a:t>[9]  </a:t>
            </a:r>
            <a:r>
              <a:rPr sz="1100" b="0" i="0">
                <a:solidFill>
                  <a:srgbClr val="262626"/>
                </a:solidFill>
                <a:latin typeface="Times New Roman"/>
                <a:cs typeface="Times New Roman"/>
                <a:ea typeface="Times New Roman"/>
              </a:rPr>
              <a:t>A. Yang, P. M. Esperança, and F. M. Carlucci, “NAS evaluation is frustratingly hard,” in Proc. ICLR, 2020.</a:t>
            </a:r>
          </a:p>
          <a:p>
            <a:pPr algn="l">
              <a:spcAft>
                <a:spcPts val="500"/>
              </a:spcAft>
            </a:pPr>
            <a:r>
              <a:rPr sz="1100" b="1" i="0">
                <a:solidFill>
                  <a:srgbClr val="262626"/>
                </a:solidFill>
                <a:latin typeface="Times New Roman"/>
                <a:cs typeface="Times New Roman"/>
                <a:ea typeface="Times New Roman"/>
              </a:rPr>
              <a:t>[10]  </a:t>
            </a:r>
            <a:r>
              <a:rPr sz="1100" b="0" i="0">
                <a:solidFill>
                  <a:srgbClr val="262626"/>
                </a:solidFill>
                <a:latin typeface="Times New Roman"/>
                <a:cs typeface="Times New Roman"/>
                <a:ea typeface="Times New Roman"/>
              </a:rPr>
              <a:t>P. Auer, N. Cesa-Bianchi, and P. Fischer, “Finite-time analysis of the multiarmed bandit problem,” Machine Learning, vol. 47, 2002.</a:t>
            </a:r>
          </a:p>
        </p:txBody>
      </p:sp>
      <p:sp>
        <p:nvSpPr>
          <p:cNvPr id="7" name="TextBox 6"/>
          <p:cNvSpPr txBox="1"/>
          <p:nvPr/>
        </p:nvSpPr>
        <p:spPr>
          <a:xfrm>
            <a:off x="6172200" y="1481328"/>
            <a:ext cx="5440680" cy="4937760"/>
          </a:xfrm>
          <a:prstGeom prst="rect">
            <a:avLst/>
          </a:prstGeom>
          <a:noFill/>
        </p:spPr>
        <p:txBody>
          <a:bodyPr wrap="square" anchor="t" lIns="45720" rIns="45720" tIns="27432" bIns="27432"/>
          <a:lstStyle/>
          <a:p>
            <a:pPr algn="l">
              <a:spcAft>
                <a:spcPts val="500"/>
              </a:spcAft>
            </a:pPr>
            <a:r>
              <a:rPr sz="1100" b="1" i="0">
                <a:solidFill>
                  <a:srgbClr val="262626"/>
                </a:solidFill>
                <a:latin typeface="Times New Roman"/>
                <a:cs typeface="Times New Roman"/>
                <a:ea typeface="Times New Roman"/>
              </a:rPr>
              <a:t>[11]  </a:t>
            </a:r>
            <a:r>
              <a:rPr sz="1100" b="0" i="0">
                <a:solidFill>
                  <a:srgbClr val="262626"/>
                </a:solidFill>
                <a:latin typeface="Times New Roman"/>
                <a:cs typeface="Times New Roman"/>
                <a:ea typeface="Times New Roman"/>
              </a:rPr>
              <a:t>A. Krishnakumar, C. White, A. Zela, R. Tu, M. Safari, and F. Hutter, “NAS-Bench-Suite-Zero: Accelerating research on zero cost proxies,” in Proc. NeurIPS Datasets and Benchmarks Track, 2022.</a:t>
            </a:r>
          </a:p>
          <a:p>
            <a:pPr algn="l">
              <a:spcAft>
                <a:spcPts val="500"/>
              </a:spcAft>
            </a:pPr>
            <a:r>
              <a:rPr sz="1100" b="1" i="0">
                <a:solidFill>
                  <a:srgbClr val="262626"/>
                </a:solidFill>
                <a:latin typeface="Times New Roman"/>
                <a:cs typeface="Times New Roman"/>
                <a:ea typeface="Times New Roman"/>
              </a:rPr>
              <a:t>[12]  </a:t>
            </a:r>
            <a:r>
              <a:rPr sz="1100" b="0" i="0">
                <a:solidFill>
                  <a:srgbClr val="262626"/>
                </a:solidFill>
                <a:latin typeface="Times New Roman"/>
                <a:cs typeface="Times New Roman"/>
                <a:ea typeface="Times New Roman"/>
              </a:rPr>
              <a:t>M. Zheng et al., “Can GPT-4 perform neural architecture search?” (GENIUS), arXiv:2304.10970, 2023.</a:t>
            </a:r>
          </a:p>
          <a:p>
            <a:pPr algn="l">
              <a:spcAft>
                <a:spcPts val="500"/>
              </a:spcAft>
            </a:pPr>
            <a:r>
              <a:rPr sz="1100" b="1" i="0">
                <a:solidFill>
                  <a:srgbClr val="262626"/>
                </a:solidFill>
                <a:latin typeface="Times New Roman"/>
                <a:cs typeface="Times New Roman"/>
                <a:ea typeface="Times New Roman"/>
              </a:rPr>
              <a:t>[13]  </a:t>
            </a:r>
            <a:r>
              <a:rPr sz="1100" b="0" i="0">
                <a:solidFill>
                  <a:srgbClr val="262626"/>
                </a:solidFill>
                <a:latin typeface="Times New Roman"/>
                <a:cs typeface="Times New Roman"/>
                <a:ea typeface="Times New Roman"/>
              </a:rPr>
              <a:t>C. Li et al., “HW-NAS-Bench: Hardware-aware neural architecture search benchmark,” in Proc. ICLR, 2021.</a:t>
            </a:r>
          </a:p>
          <a:p>
            <a:pPr algn="l">
              <a:spcAft>
                <a:spcPts val="500"/>
              </a:spcAft>
            </a:pPr>
            <a:r>
              <a:rPr sz="1100" b="1" i="0">
                <a:solidFill>
                  <a:srgbClr val="262626"/>
                </a:solidFill>
                <a:latin typeface="Times New Roman"/>
                <a:cs typeface="Times New Roman"/>
                <a:ea typeface="Times New Roman"/>
              </a:rPr>
              <a:t>[14]  </a:t>
            </a:r>
            <a:r>
              <a:rPr sz="1100" b="0" i="0">
                <a:solidFill>
                  <a:srgbClr val="262626"/>
                </a:solidFill>
                <a:latin typeface="Times New Roman"/>
                <a:cs typeface="Times New Roman"/>
                <a:ea typeface="Times New Roman"/>
              </a:rPr>
              <a:t>F. Wilcoxon, “Individual comparisons by ranking methods,” Biometrics Bulletin, vol. 1, no. 6, pp. 80–83, 1945.</a:t>
            </a:r>
          </a:p>
          <a:p>
            <a:pPr algn="l">
              <a:spcAft>
                <a:spcPts val="500"/>
              </a:spcAft>
            </a:pPr>
            <a:r>
              <a:rPr sz="1100" b="1" i="0">
                <a:solidFill>
                  <a:srgbClr val="262626"/>
                </a:solidFill>
                <a:latin typeface="Times New Roman"/>
                <a:cs typeface="Times New Roman"/>
                <a:ea typeface="Times New Roman"/>
              </a:rPr>
              <a:t>[15]  </a:t>
            </a:r>
            <a:r>
              <a:rPr sz="1100" b="0" i="0">
                <a:solidFill>
                  <a:srgbClr val="262626"/>
                </a:solidFill>
                <a:latin typeface="Times New Roman"/>
                <a:cs typeface="Times New Roman"/>
                <a:ea typeface="Times New Roman"/>
              </a:rPr>
              <a:t>S. Holm, “A simple sequentially rejective multiple test procedure,” Scandinavian Journal of Statistics, vol. 6, no. 2, pp. 65–70, 1979.</a:t>
            </a:r>
          </a:p>
          <a:p>
            <a:pPr algn="l">
              <a:spcAft>
                <a:spcPts val="500"/>
              </a:spcAft>
            </a:pPr>
            <a:r>
              <a:rPr sz="1100" b="1" i="0">
                <a:solidFill>
                  <a:srgbClr val="262626"/>
                </a:solidFill>
                <a:latin typeface="Times New Roman"/>
                <a:cs typeface="Times New Roman"/>
                <a:ea typeface="Times New Roman"/>
              </a:rPr>
              <a:t>[16]  </a:t>
            </a:r>
            <a:r>
              <a:rPr sz="1100" b="0" i="0">
                <a:solidFill>
                  <a:srgbClr val="262626"/>
                </a:solidFill>
                <a:latin typeface="Times New Roman"/>
                <a:cs typeface="Times New Roman"/>
                <a:ea typeface="Times New Roman"/>
              </a:rPr>
              <a:t>J. Demšar, “Statistical comparisons of classifiers over multiple data sets,” JMLR, vol. 7, 2006.</a:t>
            </a:r>
          </a:p>
          <a:p>
            <a:pPr algn="l">
              <a:spcAft>
                <a:spcPts val="500"/>
              </a:spcAft>
            </a:pPr>
            <a:r>
              <a:rPr sz="1100" b="1" i="0">
                <a:solidFill>
                  <a:srgbClr val="262626"/>
                </a:solidFill>
                <a:latin typeface="Times New Roman"/>
                <a:cs typeface="Times New Roman"/>
                <a:ea typeface="Times New Roman"/>
              </a:rPr>
              <a:t>[17]  </a:t>
            </a:r>
            <a:r>
              <a:rPr sz="1100" b="0" i="0">
                <a:solidFill>
                  <a:srgbClr val="262626"/>
                </a:solidFill>
                <a:latin typeface="Times New Roman"/>
                <a:cs typeface="Times New Roman"/>
                <a:ea typeface="Times New Roman"/>
              </a:rPr>
              <a:t>L. Wang, S. Xie, T. Li, R. Fonseca, and Y. Tian, “AlphaX: Exploring neural architectures with deep neural networks and Monte Carlo tree search,” arXiv:1903.11059, 2019.</a:t>
            </a:r>
          </a:p>
          <a:p>
            <a:pPr algn="l">
              <a:spcAft>
                <a:spcPts val="500"/>
              </a:spcAft>
            </a:pPr>
            <a:r>
              <a:rPr sz="1100" b="1" i="0">
                <a:solidFill>
                  <a:srgbClr val="262626"/>
                </a:solidFill>
                <a:latin typeface="Times New Roman"/>
                <a:cs typeface="Times New Roman"/>
                <a:ea typeface="Times New Roman"/>
              </a:rPr>
              <a:t>[18]  </a:t>
            </a:r>
            <a:r>
              <a:rPr sz="1100" b="0" i="0">
                <a:solidFill>
                  <a:srgbClr val="262626"/>
                </a:solidFill>
                <a:latin typeface="Times New Roman"/>
                <a:cs typeface="Times New Roman"/>
                <a:ea typeface="Times New Roman"/>
              </a:rPr>
              <a:t>H. Cai, L. Zhu, and S. Han, “ProxylessNAS: Direct neural architecture search on target task and hardware,” in Proc. ICLR, 2019.</a:t>
            </a:r>
          </a:p>
          <a:p>
            <a:pPr algn="l">
              <a:spcAft>
                <a:spcPts val="500"/>
              </a:spcAft>
            </a:pPr>
            <a:r>
              <a:rPr sz="1100" b="1" i="0">
                <a:solidFill>
                  <a:srgbClr val="262626"/>
                </a:solidFill>
                <a:latin typeface="Times New Roman"/>
                <a:cs typeface="Times New Roman"/>
                <a:ea typeface="Times New Roman"/>
              </a:rPr>
              <a:t>[19]  </a:t>
            </a:r>
            <a:r>
              <a:rPr sz="1100" b="0" i="0">
                <a:solidFill>
                  <a:srgbClr val="262626"/>
                </a:solidFill>
                <a:latin typeface="Times New Roman"/>
                <a:cs typeface="Times New Roman"/>
                <a:ea typeface="Times New Roman"/>
              </a:rPr>
              <a:t>M. Tan, B. Chen, R. Pang, V. Vasudevan, M. Sandler, A. Howard, and Q. V. Le, “MnasNet: Platform-aware neural architecture search for mobile,” in Proc. CVPR, 2019.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Tag"/>
          <p:cNvSpPr txBox="1"/>
          <p:nvPr/>
        </p:nvSpPr>
        <p:spPr>
          <a:xfrm>
            <a:off x="5074920" y="201168"/>
            <a:ext cx="6858000" cy="274320"/>
          </a:xfrm>
          <a:prstGeom prst="rect">
            <a:avLst/>
          </a:prstGeom>
          <a:noFill/>
        </p:spPr>
        <p:txBody>
          <a:bodyPr wrap="square" anchor="t" lIns="45720" rIns="45720" tIns="27432" bIns="27432"/>
          <a:lstStyle/>
          <a:p>
            <a:pPr algn="ctr">
              <a:spcAft>
                <a:spcPts val="400"/>
              </a:spcAft>
            </a:pPr>
            <a:r>
              <a:rPr sz="1100" b="1" i="0">
                <a:solidFill>
                  <a:srgbClr val="C00000"/>
                </a:solidFill>
                <a:latin typeface="Times New Roman"/>
                <a:cs typeface="Times New Roman"/>
                <a:ea typeface="Times New Roman"/>
              </a:rPr>
              <a:t>BIBLIOGRAPHY</a:t>
            </a:r>
          </a:p>
        </p:txBody>
      </p:sp>
      <p:sp>
        <p:nvSpPr>
          <p:cNvPr id="3" name="Slide Title"/>
          <p:cNvSpPr txBox="1"/>
          <p:nvPr/>
        </p:nvSpPr>
        <p:spPr>
          <a:xfrm>
            <a:off x="5074920" y="457200"/>
            <a:ext cx="6858000" cy="640080"/>
          </a:xfrm>
          <a:prstGeom prst="rect">
            <a:avLst/>
          </a:prstGeom>
          <a:noFill/>
        </p:spPr>
        <p:txBody>
          <a:bodyPr wrap="square" anchor="ctr" lIns="45720" rIns="45720" tIns="27432" bIns="27432"/>
          <a:lstStyle/>
          <a:p>
            <a:pPr algn="ctr">
              <a:spcAft>
                <a:spcPts val="400"/>
              </a:spcAft>
            </a:pPr>
            <a:r>
              <a:rPr sz="3000" b="1" i="0">
                <a:solidFill>
                  <a:srgbClr val="000000"/>
                </a:solidFill>
                <a:latin typeface="Times New Roman"/>
                <a:cs typeface="Times New Roman"/>
                <a:ea typeface="Times New Roman"/>
              </a:rPr>
              <a:t>References</a:t>
            </a:r>
          </a:p>
        </p:txBody>
      </p:sp>
      <p:sp>
        <p:nvSpPr>
          <p:cNvPr id="4" name="TextBox 3"/>
          <p:cNvSpPr txBox="1"/>
          <p:nvPr/>
        </p:nvSpPr>
        <p:spPr>
          <a:xfrm>
            <a:off x="457200" y="6473952"/>
            <a:ext cx="9144000" cy="274320"/>
          </a:xfrm>
          <a:prstGeom prst="rect">
            <a:avLst/>
          </a:prstGeom>
          <a:noFill/>
        </p:spPr>
        <p:txBody>
          <a:bodyPr wrap="square" anchor="t" lIns="45720" rIns="45720" tIns="27432" bIns="27432"/>
          <a:lstStyle/>
          <a:p>
            <a:pPr algn="l">
              <a:spcAft>
                <a:spcPts val="400"/>
              </a:spcAft>
            </a:pPr>
            <a:r>
              <a:rPr sz="1000" b="0" i="0">
                <a:solidFill>
                  <a:srgbClr val="595959"/>
                </a:solidFill>
                <a:latin typeface="Times New Roman"/>
                <a:cs typeface="Times New Roman"/>
                <a:ea typeface="Times New Roman"/>
              </a:rPr>
              <a:t>ArchTree-LLM  |  Imaad Hajwane (PRN 1262250486)  |  MIT-WPU  |  LCA-2  |  13 October 2026</a:t>
            </a:r>
          </a:p>
        </p:txBody>
      </p:sp>
      <p:sp>
        <p:nvSpPr>
          <p:cNvPr id="5" name="TextBox 4"/>
          <p:cNvSpPr txBox="1"/>
          <p:nvPr/>
        </p:nvSpPr>
        <p:spPr>
          <a:xfrm>
            <a:off x="11155680" y="6473952"/>
            <a:ext cx="594360" cy="274320"/>
          </a:xfrm>
          <a:prstGeom prst="rect">
            <a:avLst/>
          </a:prstGeom>
          <a:noFill/>
        </p:spPr>
        <p:txBody>
          <a:bodyPr wrap="square" anchor="t" lIns="45720" rIns="45720" tIns="27432" bIns="27432"/>
          <a:lstStyle/>
          <a:p>
            <a:pPr algn="r">
              <a:spcAft>
                <a:spcPts val="400"/>
              </a:spcAft>
            </a:pPr>
            <a:r>
              <a:rPr sz="1000" b="0" i="0">
                <a:solidFill>
                  <a:srgbClr val="595959"/>
                </a:solidFill>
                <a:latin typeface="Times New Roman"/>
                <a:cs typeface="Times New Roman"/>
                <a:ea typeface="Times New Roman"/>
              </a:rPr>
              <a:t>23</a:t>
            </a:r>
          </a:p>
        </p:txBody>
      </p:sp>
      <p:sp>
        <p:nvSpPr>
          <p:cNvPr id="6" name="TextBox 5"/>
          <p:cNvSpPr txBox="1"/>
          <p:nvPr/>
        </p:nvSpPr>
        <p:spPr>
          <a:xfrm>
            <a:off x="548640" y="1481328"/>
            <a:ext cx="5440680" cy="4937760"/>
          </a:xfrm>
          <a:prstGeom prst="rect">
            <a:avLst/>
          </a:prstGeom>
          <a:noFill/>
        </p:spPr>
        <p:txBody>
          <a:bodyPr wrap="square" anchor="t" lIns="45720" rIns="45720" tIns="27432" bIns="27432"/>
          <a:lstStyle/>
          <a:p>
            <a:pPr algn="l">
              <a:spcAft>
                <a:spcPts val="500"/>
              </a:spcAft>
            </a:pPr>
            <a:r>
              <a:rPr sz="1100" b="1" i="0">
                <a:solidFill>
                  <a:srgbClr val="262626"/>
                </a:solidFill>
                <a:latin typeface="Times New Roman"/>
                <a:cs typeface="Times New Roman"/>
                <a:ea typeface="Times New Roman"/>
              </a:rPr>
              <a:t>[20]  </a:t>
            </a:r>
            <a:r>
              <a:rPr sz="1100" b="0" i="0">
                <a:solidFill>
                  <a:srgbClr val="262626"/>
                </a:solidFill>
                <a:latin typeface="Times New Roman"/>
                <a:cs typeface="Times New Roman"/>
                <a:ea typeface="Times New Roman"/>
              </a:rPr>
              <a:t>X. Dong and Y. Yang, “NAS-Bench-201: Extending the scope of reproducible neural architecture search,” in Proc. ICLR, 2020.</a:t>
            </a:r>
          </a:p>
          <a:p>
            <a:pPr algn="l">
              <a:spcAft>
                <a:spcPts val="500"/>
              </a:spcAft>
            </a:pPr>
            <a:r>
              <a:rPr sz="1100" b="1" i="0">
                <a:solidFill>
                  <a:srgbClr val="262626"/>
                </a:solidFill>
                <a:latin typeface="Times New Roman"/>
                <a:cs typeface="Times New Roman"/>
                <a:ea typeface="Times New Roman"/>
              </a:rPr>
              <a:t>[21]  </a:t>
            </a:r>
            <a:r>
              <a:rPr sz="1100" b="0" i="0">
                <a:solidFill>
                  <a:srgbClr val="262626"/>
                </a:solidFill>
                <a:latin typeface="Times New Roman"/>
                <a:cs typeface="Times New Roman"/>
                <a:ea typeface="Times New Roman"/>
              </a:rPr>
              <a:t>C. Ying, A. Klein, E. Christiansen, E. Real, K. Murphy, and F. Hutter, “NAS-Bench-101: Towards reproducible neural architecture search,” in Proc. ICML, 2019.</a:t>
            </a:r>
          </a:p>
          <a:p>
            <a:pPr algn="l">
              <a:spcAft>
                <a:spcPts val="500"/>
              </a:spcAft>
            </a:pPr>
            <a:r>
              <a:rPr sz="1100" b="1" i="0">
                <a:solidFill>
                  <a:srgbClr val="262626"/>
                </a:solidFill>
                <a:latin typeface="Times New Roman"/>
                <a:cs typeface="Times New Roman"/>
                <a:ea typeface="Times New Roman"/>
              </a:rPr>
              <a:t>[22]  </a:t>
            </a:r>
            <a:r>
              <a:rPr sz="1100" b="0" i="0">
                <a:solidFill>
                  <a:srgbClr val="262626"/>
                </a:solidFill>
                <a:latin typeface="Times New Roman"/>
                <a:cs typeface="Times New Roman"/>
                <a:ea typeface="Times New Roman"/>
              </a:rPr>
              <a:t>X. Dong, L. Liu, K. Musial, and B. Gabrys, “NATS-Bench: Benchmarking NAS algorithms for architecture topology and size,” IEEE TPAMI, 2021.</a:t>
            </a:r>
          </a:p>
          <a:p>
            <a:pPr algn="l">
              <a:spcAft>
                <a:spcPts val="500"/>
              </a:spcAft>
            </a:pPr>
            <a:r>
              <a:rPr sz="1100" b="1" i="0">
                <a:solidFill>
                  <a:srgbClr val="262626"/>
                </a:solidFill>
                <a:latin typeface="Times New Roman"/>
                <a:cs typeface="Times New Roman"/>
                <a:ea typeface="Times New Roman"/>
              </a:rPr>
              <a:t>[23]  </a:t>
            </a:r>
            <a:r>
              <a:rPr sz="1100" b="0" i="0">
                <a:solidFill>
                  <a:srgbClr val="262626"/>
                </a:solidFill>
                <a:latin typeface="Times New Roman"/>
                <a:cs typeface="Times New Roman"/>
                <a:ea typeface="Times New Roman"/>
              </a:rPr>
              <a:t>A. Krizhevsky, “Learning multiple layers of features from tiny images,” Tech. Rep., University of Toronto, 2009.</a:t>
            </a:r>
          </a:p>
          <a:p>
            <a:pPr algn="l">
              <a:spcAft>
                <a:spcPts val="500"/>
              </a:spcAft>
            </a:pPr>
            <a:r>
              <a:rPr sz="1100" b="1" i="0">
                <a:solidFill>
                  <a:srgbClr val="262626"/>
                </a:solidFill>
                <a:latin typeface="Times New Roman"/>
                <a:cs typeface="Times New Roman"/>
                <a:ea typeface="Times New Roman"/>
              </a:rPr>
              <a:t>[24]  </a:t>
            </a:r>
            <a:r>
              <a:rPr sz="1100" b="0" i="0">
                <a:solidFill>
                  <a:srgbClr val="262626"/>
                </a:solidFill>
                <a:latin typeface="Times New Roman"/>
                <a:cs typeface="Times New Roman"/>
                <a:ea typeface="Times New Roman"/>
              </a:rPr>
              <a:t>P. Chrabaszcz, I. Loshchilov, and F. Hutter, “A downsampled variant of ImageNet as an alternative to the CIFAR datasets,” arXiv:1707.08819, 2017.</a:t>
            </a:r>
          </a:p>
          <a:p>
            <a:pPr algn="l">
              <a:spcAft>
                <a:spcPts val="500"/>
              </a:spcAft>
            </a:pPr>
            <a:r>
              <a:rPr sz="1100" b="1" i="0">
                <a:solidFill>
                  <a:srgbClr val="262626"/>
                </a:solidFill>
                <a:latin typeface="Times New Roman"/>
                <a:cs typeface="Times New Roman"/>
                <a:ea typeface="Times New Roman"/>
              </a:rPr>
              <a:t>[25]  </a:t>
            </a:r>
            <a:r>
              <a:rPr sz="1100" b="0" i="0">
                <a:solidFill>
                  <a:srgbClr val="262626"/>
                </a:solidFill>
                <a:latin typeface="Times New Roman"/>
                <a:cs typeface="Times New Roman"/>
                <a:ea typeface="Times New Roman"/>
              </a:rPr>
              <a:t>L. Kocsis and C. Szepesvári, “Bandit based Monte-Carlo planning,” in Proc. ECML, 2006.</a:t>
            </a:r>
          </a:p>
          <a:p>
            <a:pPr algn="l">
              <a:spcAft>
                <a:spcPts val="500"/>
              </a:spcAft>
            </a:pPr>
            <a:r>
              <a:rPr sz="1100" b="1" i="0">
                <a:solidFill>
                  <a:srgbClr val="262626"/>
                </a:solidFill>
                <a:latin typeface="Times New Roman"/>
                <a:cs typeface="Times New Roman"/>
                <a:ea typeface="Times New Roman"/>
              </a:rPr>
              <a:t>[26]  </a:t>
            </a:r>
            <a:r>
              <a:rPr sz="1100" b="0" i="0">
                <a:solidFill>
                  <a:srgbClr val="262626"/>
                </a:solidFill>
                <a:latin typeface="Times New Roman"/>
                <a:cs typeface="Times New Roman"/>
                <a:ea typeface="Times New Roman"/>
              </a:rPr>
              <a:t>J. Mellor, J. Turner, A. Storkey, and E. J. Crowley, “Neural architecture search without training,” in Proc. ICML, 2021.</a:t>
            </a:r>
          </a:p>
          <a:p>
            <a:pPr algn="l">
              <a:spcAft>
                <a:spcPts val="500"/>
              </a:spcAft>
            </a:pPr>
            <a:r>
              <a:rPr sz="1100" b="1" i="0">
                <a:solidFill>
                  <a:srgbClr val="262626"/>
                </a:solidFill>
                <a:latin typeface="Times New Roman"/>
                <a:cs typeface="Times New Roman"/>
                <a:ea typeface="Times New Roman"/>
              </a:rPr>
              <a:t>[27]  </a:t>
            </a:r>
            <a:r>
              <a:rPr sz="1100" b="0" i="0">
                <a:solidFill>
                  <a:srgbClr val="262626"/>
                </a:solidFill>
                <a:latin typeface="Times New Roman"/>
                <a:cs typeface="Times New Roman"/>
                <a:ea typeface="Times New Roman"/>
              </a:rPr>
              <a:t>H. Tanaka, D. Kunin, D. L. Yamins, and S. Ganguli, “Pruning neural networks without any data by iteratively conserving synaptic flow,” in Proc. NeurIPS, 2020.</a:t>
            </a:r>
          </a:p>
          <a:p>
            <a:pPr algn="l">
              <a:spcAft>
                <a:spcPts val="500"/>
              </a:spcAft>
            </a:pPr>
            <a:r>
              <a:rPr sz="1100" b="1" i="0">
                <a:solidFill>
                  <a:srgbClr val="262626"/>
                </a:solidFill>
                <a:latin typeface="Times New Roman"/>
                <a:cs typeface="Times New Roman"/>
                <a:ea typeface="Times New Roman"/>
              </a:rPr>
              <a:t>[28]  </a:t>
            </a:r>
            <a:r>
              <a:rPr sz="1100" b="0" i="0">
                <a:solidFill>
                  <a:srgbClr val="262626"/>
                </a:solidFill>
                <a:latin typeface="Times New Roman"/>
                <a:cs typeface="Times New Roman"/>
                <a:ea typeface="Times New Roman"/>
              </a:rPr>
              <a:t>E. Real, A. Aggarwal, Y. Huang, and Q. V. Le, “Regularized evolution for image classifier architecture search,” in Proc. AAAI, 2019.</a:t>
            </a:r>
          </a:p>
          <a:p>
            <a:pPr algn="l">
              <a:spcAft>
                <a:spcPts val="500"/>
              </a:spcAft>
            </a:pPr>
            <a:r>
              <a:rPr sz="1100" b="1" i="0">
                <a:solidFill>
                  <a:srgbClr val="262626"/>
                </a:solidFill>
                <a:latin typeface="Times New Roman"/>
                <a:cs typeface="Times New Roman"/>
                <a:ea typeface="Times New Roman"/>
              </a:rPr>
              <a:t>[29]  </a:t>
            </a:r>
            <a:r>
              <a:rPr sz="1100" b="0" i="0">
                <a:solidFill>
                  <a:srgbClr val="262626"/>
                </a:solidFill>
                <a:latin typeface="Times New Roman"/>
                <a:cs typeface="Times New Roman"/>
                <a:ea typeface="Times New Roman"/>
              </a:rPr>
              <a:t>C. White, S. Nolen, and Y. Savani, “Exploring the loss landscape in neural architecture search,” in Proc. UAI, 2021.</a:t>
            </a:r>
          </a:p>
        </p:txBody>
      </p:sp>
      <p:sp>
        <p:nvSpPr>
          <p:cNvPr id="7" name="TextBox 6"/>
          <p:cNvSpPr txBox="1"/>
          <p:nvPr/>
        </p:nvSpPr>
        <p:spPr>
          <a:xfrm>
            <a:off x="6172200" y="1481328"/>
            <a:ext cx="5440680" cy="4937760"/>
          </a:xfrm>
          <a:prstGeom prst="rect">
            <a:avLst/>
          </a:prstGeom>
          <a:noFill/>
        </p:spPr>
        <p:txBody>
          <a:bodyPr wrap="square" anchor="t" lIns="45720" rIns="45720" tIns="27432" bIns="27432"/>
          <a:lstStyle/>
          <a:p>
            <a:pPr algn="l">
              <a:spcAft>
                <a:spcPts val="500"/>
              </a:spcAft>
            </a:pPr>
            <a:r>
              <a:rPr sz="1100" b="1" i="0">
                <a:solidFill>
                  <a:srgbClr val="262626"/>
                </a:solidFill>
                <a:latin typeface="Times New Roman"/>
                <a:cs typeface="Times New Roman"/>
                <a:ea typeface="Times New Roman"/>
              </a:rPr>
              <a:t>[30]  </a:t>
            </a:r>
            <a:r>
              <a:rPr sz="1100" b="0" i="0">
                <a:solidFill>
                  <a:srgbClr val="262626"/>
                </a:solidFill>
                <a:latin typeface="Times New Roman"/>
                <a:cs typeface="Times New Roman"/>
                <a:ea typeface="Times New Roman"/>
              </a:rPr>
              <a:t>H. Pham, M. Guan, B. Zoph, Q. Le, and J. Dean, “Efficient neural architecture search via parameter sharing,” in Proc. ICML, 2018.</a:t>
            </a:r>
          </a:p>
          <a:p>
            <a:pPr algn="l">
              <a:spcAft>
                <a:spcPts val="500"/>
              </a:spcAft>
            </a:pPr>
            <a:r>
              <a:rPr sz="1100" b="1" i="0">
                <a:solidFill>
                  <a:srgbClr val="262626"/>
                </a:solidFill>
                <a:latin typeface="Times New Roman"/>
                <a:cs typeface="Times New Roman"/>
                <a:ea typeface="Times New Roman"/>
              </a:rPr>
              <a:t>[31]  </a:t>
            </a:r>
            <a:r>
              <a:rPr sz="1100" b="0" i="0">
                <a:solidFill>
                  <a:srgbClr val="262626"/>
                </a:solidFill>
                <a:latin typeface="Times New Roman"/>
                <a:cs typeface="Times New Roman"/>
                <a:ea typeface="Times New Roman"/>
              </a:rPr>
              <a:t>G. Li, Y. Yang, K. Bhardwaj, and R. Marculescu, “ZiCo: Zero-shot NAS via inverse coefficient of variation on gradients,” in Proc. ICLR, 2023.</a:t>
            </a:r>
          </a:p>
          <a:p>
            <a:pPr algn="l">
              <a:spcAft>
                <a:spcPts val="500"/>
              </a:spcAft>
            </a:pPr>
            <a:r>
              <a:rPr sz="1100" b="1" i="0">
                <a:solidFill>
                  <a:srgbClr val="262626"/>
                </a:solidFill>
                <a:latin typeface="Times New Roman"/>
                <a:cs typeface="Times New Roman"/>
                <a:ea typeface="Times New Roman"/>
              </a:rPr>
              <a:t>[32]  </a:t>
            </a:r>
            <a:r>
              <a:rPr sz="1100" b="0" i="0">
                <a:solidFill>
                  <a:srgbClr val="262626"/>
                </a:solidFill>
                <a:latin typeface="Times New Roman"/>
                <a:cs typeface="Times New Roman"/>
                <a:ea typeface="Times New Roman"/>
              </a:rPr>
              <a:t>K. Deb, A. Pratap, S. Agarwal, and T. Meyarivan, “A fast and elitist multiobjective genetic algorithm: NSGA-II,” IEEE Trans. Evol. Comput., vol. 6, no. 2, 2002.</a:t>
            </a:r>
          </a:p>
          <a:p>
            <a:pPr algn="l">
              <a:spcAft>
                <a:spcPts val="500"/>
              </a:spcAft>
            </a:pPr>
            <a:r>
              <a:rPr sz="1100" b="1" i="0">
                <a:solidFill>
                  <a:srgbClr val="262626"/>
                </a:solidFill>
                <a:latin typeface="Times New Roman"/>
                <a:cs typeface="Times New Roman"/>
                <a:ea typeface="Times New Roman"/>
              </a:rPr>
              <a:t>[33]  </a:t>
            </a:r>
            <a:r>
              <a:rPr sz="1100" b="0" i="0">
                <a:solidFill>
                  <a:srgbClr val="262626"/>
                </a:solidFill>
                <a:latin typeface="Times New Roman"/>
                <a:cs typeface="Times New Roman"/>
                <a:ea typeface="Times New Roman"/>
              </a:rPr>
              <a:t>M. G. Kendall, “A new measure of rank correlation,” Biometrika, vol. 30, no. 1–2, pp. 81–93, 1938.</a:t>
            </a:r>
          </a:p>
          <a:p>
            <a:pPr algn="l">
              <a:spcAft>
                <a:spcPts val="500"/>
              </a:spcAft>
            </a:pPr>
            <a:r>
              <a:rPr sz="1100" b="1" i="0">
                <a:solidFill>
                  <a:srgbClr val="262626"/>
                </a:solidFill>
                <a:latin typeface="Times New Roman"/>
                <a:cs typeface="Times New Roman"/>
                <a:ea typeface="Times New Roman"/>
              </a:rPr>
              <a:t>[34]  </a:t>
            </a:r>
            <a:r>
              <a:rPr sz="1100" b="0" i="0">
                <a:solidFill>
                  <a:srgbClr val="262626"/>
                </a:solidFill>
                <a:latin typeface="Times New Roman"/>
                <a:cs typeface="Times New Roman"/>
                <a:ea typeface="Times New Roman"/>
              </a:rPr>
              <a:t>C. Liu et al., “Progressive neural architecture search,” in Proc. ECCV, 2018.</a:t>
            </a:r>
          </a:p>
          <a:p>
            <a:pPr algn="l">
              <a:spcAft>
                <a:spcPts val="500"/>
              </a:spcAft>
            </a:pPr>
            <a:r>
              <a:rPr sz="1100" b="1" i="0">
                <a:solidFill>
                  <a:srgbClr val="262626"/>
                </a:solidFill>
                <a:latin typeface="Times New Roman"/>
                <a:cs typeface="Times New Roman"/>
                <a:ea typeface="Times New Roman"/>
              </a:rPr>
              <a:t>[35]  </a:t>
            </a:r>
            <a:r>
              <a:rPr sz="1100" b="0" i="0">
                <a:solidFill>
                  <a:srgbClr val="262626"/>
                </a:solidFill>
                <a:latin typeface="Times New Roman"/>
                <a:cs typeface="Times New Roman"/>
                <a:ea typeface="Times New Roman"/>
              </a:rPr>
              <a:t>C. White, W. Neiswanger, and Y. Savani, “BANANAS: Bayesian optimization with neural architectures for neural architecture search,” in Proc. AAAI, 2021.</a:t>
            </a:r>
          </a:p>
          <a:p>
            <a:pPr algn="l">
              <a:spcAft>
                <a:spcPts val="500"/>
              </a:spcAft>
            </a:pPr>
            <a:r>
              <a:rPr sz="1100" b="1" i="0">
                <a:solidFill>
                  <a:srgbClr val="262626"/>
                </a:solidFill>
                <a:latin typeface="Times New Roman"/>
                <a:cs typeface="Times New Roman"/>
                <a:ea typeface="Times New Roman"/>
              </a:rPr>
              <a:t>[36]  </a:t>
            </a:r>
            <a:r>
              <a:rPr sz="1100" b="0" i="0">
                <a:solidFill>
                  <a:srgbClr val="262626"/>
                </a:solidFill>
                <a:latin typeface="Times New Roman"/>
                <a:cs typeface="Times New Roman"/>
                <a:ea typeface="Times New Roman"/>
              </a:rPr>
              <a:t>N. Lee, T. Ajanthan, and P. H. S. Torr, “SNIP: Single-shot network pruning based on connection sensitivity,” in Proc. ICLR, 2019.</a:t>
            </a:r>
          </a:p>
          <a:p>
            <a:pPr algn="l">
              <a:spcAft>
                <a:spcPts val="500"/>
              </a:spcAft>
            </a:pPr>
            <a:r>
              <a:rPr sz="1100" b="1" i="0">
                <a:solidFill>
                  <a:srgbClr val="262626"/>
                </a:solidFill>
                <a:latin typeface="Times New Roman"/>
                <a:cs typeface="Times New Roman"/>
                <a:ea typeface="Times New Roman"/>
              </a:rPr>
              <a:t>[37]  </a:t>
            </a:r>
            <a:r>
              <a:rPr sz="1100" b="0" i="0">
                <a:solidFill>
                  <a:srgbClr val="262626"/>
                </a:solidFill>
                <a:latin typeface="Times New Roman"/>
                <a:cs typeface="Times New Roman"/>
                <a:ea typeface="Times New Roman"/>
              </a:rPr>
              <a:t>H. Liu, K. Simonyan, and Y. Yang, “DARTS: Differentiable architecture search,” in Proc. ICLR, 2019.</a:t>
            </a:r>
          </a:p>
          <a:p>
            <a:pPr algn="l">
              <a:spcAft>
                <a:spcPts val="500"/>
              </a:spcAft>
            </a:pPr>
            <a:r>
              <a:rPr sz="1100" b="1" i="0">
                <a:solidFill>
                  <a:srgbClr val="262626"/>
                </a:solidFill>
                <a:latin typeface="Times New Roman"/>
                <a:cs typeface="Times New Roman"/>
                <a:ea typeface="Times New Roman"/>
              </a:rPr>
              <a:t>[38]  </a:t>
            </a:r>
            <a:r>
              <a:rPr sz="1100" b="0" i="0">
                <a:solidFill>
                  <a:srgbClr val="262626"/>
                </a:solidFill>
                <a:latin typeface="Times New Roman"/>
                <a:cs typeface="Times New Roman"/>
                <a:ea typeface="Times New Roman"/>
              </a:rPr>
              <a:t>H. Cai, C. Gan, T. Wang, Z. Zhang, and S. Han, “Once-for-all: Train one network and specialize it for efficient deployment,” in Proc. ICLR, 2020.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468880"/>
            <a:ext cx="8503920" cy="1097280"/>
          </a:xfrm>
          <a:prstGeom prst="rect">
            <a:avLst/>
          </a:prstGeom>
          <a:noFill/>
        </p:spPr>
        <p:txBody>
          <a:bodyPr wrap="square" anchor="ctr" lIns="45720" rIns="45720" tIns="27432" bIns="27432"/>
          <a:lstStyle/>
          <a:p>
            <a:pPr algn="ctr">
              <a:spcAft>
                <a:spcPts val="400"/>
              </a:spcAft>
            </a:pPr>
            <a:r>
              <a:rPr sz="5400" b="1" i="0">
                <a:solidFill>
                  <a:srgbClr val="5B9BD5"/>
                </a:solidFill>
                <a:latin typeface="Times New Roman"/>
                <a:cs typeface="Times New Roman"/>
                <a:ea typeface="Times New Roman"/>
              </a:rPr>
              <a:t>THANK YOU</a:t>
            </a:r>
          </a:p>
        </p:txBody>
      </p:sp>
      <p:sp>
        <p:nvSpPr>
          <p:cNvPr id="3" name="TextBox 2"/>
          <p:cNvSpPr txBox="1"/>
          <p:nvPr/>
        </p:nvSpPr>
        <p:spPr>
          <a:xfrm>
            <a:off x="1828800" y="3611880"/>
            <a:ext cx="8503920" cy="548640"/>
          </a:xfrm>
          <a:prstGeom prst="rect">
            <a:avLst/>
          </a:prstGeom>
          <a:noFill/>
        </p:spPr>
        <p:txBody>
          <a:bodyPr wrap="square" anchor="t" lIns="45720" rIns="45720" tIns="27432" bIns="27432"/>
          <a:lstStyle/>
          <a:p>
            <a:pPr algn="ctr">
              <a:spcAft>
                <a:spcPts val="400"/>
              </a:spcAft>
            </a:pPr>
            <a:r>
              <a:rPr sz="2000" b="0" i="1">
                <a:solidFill>
                  <a:srgbClr val="595959"/>
                </a:solidFill>
                <a:latin typeface="Times New Roman"/>
                <a:cs typeface="Times New Roman"/>
                <a:ea typeface="Times New Roman"/>
              </a:rPr>
              <a:t>Questions and discussion are welcome</a:t>
            </a:r>
          </a:p>
        </p:txBody>
      </p:sp>
      <p:sp>
        <p:nvSpPr>
          <p:cNvPr id="4" name="TextBox 3"/>
          <p:cNvSpPr txBox="1"/>
          <p:nvPr/>
        </p:nvSpPr>
        <p:spPr>
          <a:xfrm>
            <a:off x="1371600" y="4709160"/>
            <a:ext cx="9418320" cy="822960"/>
          </a:xfrm>
          <a:prstGeom prst="rect">
            <a:avLst/>
          </a:prstGeom>
          <a:noFill/>
        </p:spPr>
        <p:txBody>
          <a:bodyPr wrap="square" anchor="t" lIns="45720" rIns="45720" tIns="27432" bIns="27432"/>
          <a:lstStyle/>
          <a:p>
            <a:pPr algn="ctr">
              <a:spcAft>
                <a:spcPts val="400"/>
              </a:spcAft>
            </a:pPr>
            <a:r>
              <a:rPr sz="1600" b="1" i="0">
                <a:solidFill>
                  <a:srgbClr val="002060"/>
                </a:solidFill>
                <a:latin typeface="Times New Roman"/>
                <a:cs typeface="Times New Roman"/>
                <a:ea typeface="Times New Roman"/>
              </a:rPr>
              <a:t>Imaad Hajwane (PRN: 1262250486)</a:t>
            </a:r>
            <a:r>
              <a:rPr sz="1600" b="0" i="0">
                <a:solidFill>
                  <a:srgbClr val="002060"/>
                </a:solidFill>
                <a:latin typeface="Times New Roman"/>
                <a:cs typeface="Times New Roman"/>
                <a:ea typeface="Times New Roman"/>
              </a:rPr>
              <a:t>   ·   Guide: Dr. Jayshree Aher</a:t>
            </a:r>
          </a:p>
          <a:p>
            <a:pPr algn="ctr">
              <a:spcAft>
                <a:spcPts val="400"/>
              </a:spcAft>
            </a:pPr>
            <a:r>
              <a:rPr sz="1600" b="0" i="0">
                <a:solidFill>
                  <a:srgbClr val="002060"/>
                </a:solidFill>
                <a:latin typeface="Times New Roman"/>
                <a:cs typeface="Times New Roman"/>
                <a:ea typeface="Times New Roman"/>
              </a:rPr>
              <a:t>MIT-WPU   ·   13 October 2026</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 LCA</Template>
  <TotalTime>10</TotalTime>
  <Words>1574</Words>
  <Application>Microsoft Office PowerPoint</Application>
  <PresentationFormat>Widescreen</PresentationFormat>
  <Paragraphs>168</Paragraphs>
  <Slides>21</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21</vt:i4>
      </vt:variant>
    </vt:vector>
  </HeadingPairs>
  <TitlesOfParts>
    <vt:vector size="30" baseType="lpstr">
      <vt:lpstr>Arial</vt:lpstr>
      <vt:lpstr>Calibri</vt:lpstr>
      <vt:lpstr>Cambria Math</vt:lpstr>
      <vt:lpstr>Noto Serif</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Mathematical Knowledge</vt:lpstr>
      <vt:lpstr> Mathematical Knowledge</vt:lpstr>
      <vt:lpstr> Mathematical Knowledge</vt:lpstr>
      <vt:lpstr>PowerPoint Presentation</vt:lpstr>
      <vt:lpstr> Datasets </vt:lpstr>
      <vt:lpstr> Datasets </vt:lpstr>
      <vt:lpstr> Datasets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Priyank Bhanushali</dc:creator>
  <cp:lastModifiedBy>Priyank Bhanushali</cp:lastModifiedBy>
  <cp:revision>17</cp:revision>
  <dcterms:created xsi:type="dcterms:W3CDTF">2026-04-09T07:10:00Z</dcterms:created>
  <dcterms:modified xsi:type="dcterms:W3CDTF">2026-08-24T19:41:03Z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8</vt:i4>
  </property>
  <property fmtid="{D5CDD505-2E9C-101B-9397-08002B2CF9AE}" pid="4" name="ICV">
    <vt:lpwstr>9451C70058364F6EAE16AE6A3D2C4D62_12</vt:lpwstr>
  </property>
  <property fmtid="{D5CDD505-2E9C-101B-9397-08002B2CF9AE}" pid="5" name="KSOProductBuildVer">
    <vt:lpwstr>1033-12.1.0.28032</vt:lpwstr>
  </property>
</Properties>
</file>